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notesMasterIdLst>
    <p:notesMasterId r:id="rId4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notesMaster" Target="notesMasters/notesMaster1.xml"/><Relationship Id="rId41" Type="http://schemas.openxmlformats.org/officeDocument/2006/relationships/presProps" Target="presProps.xml"/><Relationship Id="rId42" Type="http://schemas.openxmlformats.org/officeDocument/2006/relationships/viewProps" Target="viewProps.xml"/><Relationship Id="rId43" Type="http://schemas.openxmlformats.org/officeDocument/2006/relationships/theme" Target="theme/theme1.xml"/><Relationship Id="rId4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platform replacing the manual PPE ordering cycle between EGA employees and PROSAFE stores.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orange 'Employee Module' / 'Approver Module' buttons in the sidebar are the switcher.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A43"/>
        </a:solidFill>
      </p:bgPr>
    </p:bg>
    <p:spTree>
      <p:nvGrpSpPr>
        <p:cNvPr id="1" name=""/>
        <p:cNvGrpSpPr/>
        <p:nvPr/>
      </p:nvGrpSpPr>
      <p:grpSpPr>
        <a:xfrm>
          <a:off x="0" y="0"/>
          <a:ext cx="0" cy="0"/>
          <a:chOff x="0" y="0"/>
          <a:chExt cx="0" cy="0"/>
        </a:xfrm>
      </p:grpSpPr>
      <p:sp>
        <p:nvSpPr>
          <p:cNvPr id="2" name="Shape 0"/>
          <p:cNvSpPr/>
          <p:nvPr/>
        </p:nvSpPr>
        <p:spPr>
          <a:xfrm>
            <a:off x="8778240" y="-2011680"/>
            <a:ext cx="6035040" cy="6035040"/>
          </a:xfrm>
          <a:prstGeom prst="ellipse">
            <a:avLst/>
          </a:prstGeom>
          <a:solidFill>
            <a:srgbClr val="16385A"/>
          </a:solidFill>
          <a:ln w="12700">
            <a:solidFill>
              <a:srgbClr val="16385A"/>
            </a:solidFill>
            <a:prstDash val="solid"/>
          </a:ln>
        </p:spPr>
      </p:sp>
      <p:sp>
        <p:nvSpPr>
          <p:cNvPr id="3" name="Shape 1"/>
          <p:cNvSpPr/>
          <p:nvPr/>
        </p:nvSpPr>
        <p:spPr>
          <a:xfrm>
            <a:off x="10424160" y="4206240"/>
            <a:ext cx="3108960" cy="3108960"/>
          </a:xfrm>
          <a:prstGeom prst="ellipse">
            <a:avLst/>
          </a:prstGeom>
          <a:solidFill>
            <a:srgbClr val="16385A"/>
          </a:solidFill>
          <a:ln w="12700">
            <a:solidFill>
              <a:srgbClr val="16385A"/>
            </a:solidFill>
            <a:prstDash val="solid"/>
          </a:ln>
        </p:spPr>
      </p:sp>
      <p:sp>
        <p:nvSpPr>
          <p:cNvPr id="4" name="Shape 2"/>
          <p:cNvSpPr/>
          <p:nvPr/>
        </p:nvSpPr>
        <p:spPr>
          <a:xfrm>
            <a:off x="566928" y="777240"/>
            <a:ext cx="2286000" cy="1691640"/>
          </a:xfrm>
          <a:prstGeom prst="roundRect">
            <a:avLst>
              <a:gd name="adj" fmla="val 5405"/>
            </a:avLst>
          </a:prstGeom>
          <a:solidFill>
            <a:srgbClr val="FFFFFF"/>
          </a:solidFill>
          <a:ln w="12700">
            <a:solidFill>
              <a:srgbClr val="FFFFFF"/>
            </a:solidFill>
            <a:prstDash val="solid"/>
          </a:ln>
        </p:spPr>
      </p:sp>
      <p:pic>
        <p:nvPicPr>
          <p:cNvPr id="5" name="Image 0" descr="/home/claude/prosafe-app/assets/brand/prosafe-logo.png">    </p:cNvPr>
          <p:cNvPicPr>
            <a:picLocks noChangeAspect="1"/>
          </p:cNvPicPr>
          <p:nvPr/>
        </p:nvPicPr>
        <p:blipFill>
          <a:blip r:embed="rId1"/>
          <a:stretch>
            <a:fillRect/>
          </a:stretch>
        </p:blipFill>
        <p:spPr>
          <a:xfrm>
            <a:off x="713232" y="914400"/>
            <a:ext cx="1993392" cy="1417320"/>
          </a:xfrm>
          <a:prstGeom prst="rect">
            <a:avLst/>
          </a:prstGeom>
        </p:spPr>
      </p:pic>
      <p:sp>
        <p:nvSpPr>
          <p:cNvPr id="6" name="Text 3"/>
          <p:cNvSpPr txBox="1"/>
          <p:nvPr/>
        </p:nvSpPr>
        <p:spPr>
          <a:xfrm>
            <a:off x="566928" y="2971800"/>
            <a:ext cx="9692640" cy="86868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PPE Ordering Platform</a:t>
            </a:r>
            <a:endParaRPr lang="en-US" sz="4600" dirty="0"/>
          </a:p>
        </p:txBody>
      </p:sp>
      <p:sp>
        <p:nvSpPr>
          <p:cNvPr id="7" name="Text 4"/>
          <p:cNvSpPr txBox="1"/>
          <p:nvPr/>
        </p:nvSpPr>
        <p:spPr>
          <a:xfrm>
            <a:off x="566928" y="3858768"/>
            <a:ext cx="9692640" cy="411480"/>
          </a:xfrm>
          <a:prstGeom prst="rect">
            <a:avLst/>
          </a:prstGeom>
          <a:noFill/>
          <a:ln/>
        </p:spPr>
        <p:txBody>
          <a:bodyPr wrap="square" lIns="0" tIns="0" rIns="0" bIns="0" rtlCol="0" anchor="ctr"/>
          <a:lstStyle/>
          <a:p>
            <a:pPr indent="0" marL="0">
              <a:buNone/>
            </a:pPr>
            <a:r>
              <a:rPr lang="en-US" sz="1900" dirty="0">
                <a:solidFill>
                  <a:srgbClr val="A9C3DA"/>
                </a:solidFill>
                <a:latin typeface="Calibri" pitchFamily="34" charset="0"/>
                <a:ea typeface="Calibri" pitchFamily="34" charset="-122"/>
                <a:cs typeface="Calibri" pitchFamily="34" charset="-120"/>
              </a:rPr>
              <a:t>End-to-end distribution for Emirates Global Aluminium</a:t>
            </a:r>
            <a:endParaRPr lang="en-US" sz="1900" dirty="0"/>
          </a:p>
        </p:txBody>
      </p:sp>
      <p:sp>
        <p:nvSpPr>
          <p:cNvPr id="8" name="Shape 5"/>
          <p:cNvSpPr/>
          <p:nvPr/>
        </p:nvSpPr>
        <p:spPr>
          <a:xfrm>
            <a:off x="566928" y="4526280"/>
            <a:ext cx="1371600" cy="32004"/>
          </a:xfrm>
          <a:prstGeom prst="rect">
            <a:avLst/>
          </a:prstGeom>
          <a:solidFill>
            <a:srgbClr val="F4791F"/>
          </a:solidFill>
          <a:ln w="12700">
            <a:solidFill>
              <a:srgbClr val="F4791F"/>
            </a:solidFill>
            <a:prstDash val="solid"/>
          </a:ln>
        </p:spPr>
      </p:sp>
      <p:sp>
        <p:nvSpPr>
          <p:cNvPr id="9" name="Text 6"/>
          <p:cNvSpPr txBox="1"/>
          <p:nvPr/>
        </p:nvSpPr>
        <p:spPr>
          <a:xfrm>
            <a:off x="566928" y="4800600"/>
            <a:ext cx="10058400" cy="365760"/>
          </a:xfrm>
          <a:prstGeom prst="rect">
            <a:avLst/>
          </a:prstGeom>
          <a:noFill/>
          <a:ln/>
        </p:spPr>
        <p:txBody>
          <a:bodyPr wrap="square" lIns="0" tIns="0" rIns="0" bIns="0" rtlCol="0" anchor="ctr"/>
          <a:lstStyle/>
          <a:p>
            <a:pPr indent="0" marL="0">
              <a:buNone/>
            </a:pPr>
            <a:r>
              <a:rPr lang="en-US" sz="1400" dirty="0">
                <a:solidFill>
                  <a:srgbClr val="7D99B5"/>
                </a:solidFill>
                <a:latin typeface="Calibri" pitchFamily="34" charset="0"/>
                <a:ea typeface="Calibri" pitchFamily="34" charset="-122"/>
                <a:cs typeface="Calibri" pitchFamily="34" charset="-120"/>
              </a:rPr>
              <a:t>Website · Android · iOS      |      Order → Approval → Fulfilment → Invoice</a:t>
            </a:r>
            <a:endParaRPr lang="en-US" sz="1400" dirty="0"/>
          </a:p>
        </p:txBody>
      </p:sp>
      <p:sp>
        <p:nvSpPr>
          <p:cNvPr id="10" name="Text 7"/>
          <p:cNvSpPr txBox="1"/>
          <p:nvPr/>
        </p:nvSpPr>
        <p:spPr>
          <a:xfrm>
            <a:off x="566928" y="6035040"/>
            <a:ext cx="7315200" cy="274320"/>
          </a:xfrm>
          <a:prstGeom prst="rect">
            <a:avLst/>
          </a:prstGeom>
          <a:noFill/>
          <a:ln/>
        </p:spPr>
        <p:txBody>
          <a:bodyPr wrap="square" lIns="0" tIns="0" rIns="0" bIns="0" rtlCol="0" anchor="ctr"/>
          <a:lstStyle/>
          <a:p>
            <a:pPr indent="0" marL="0">
              <a:buNone/>
            </a:pPr>
            <a:r>
              <a:rPr lang="en-US" sz="1200" dirty="0">
                <a:solidFill>
                  <a:srgbClr val="5B7793"/>
                </a:solidFill>
                <a:latin typeface="Calibri" pitchFamily="34" charset="0"/>
                <a:ea typeface="Calibri" pitchFamily="34" charset="-122"/>
                <a:cs typeface="Calibri" pitchFamily="34" charset="-120"/>
              </a:rPr>
              <a:t>Prepared by Prosafe Systems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5F9"/>
        </a:solidFill>
      </p:bgPr>
    </p:bg>
    <p:spTree>
      <p:nvGrpSpPr>
        <p:cNvPr id="1" name=""/>
        <p:cNvGrpSpPr/>
        <p:nvPr/>
      </p:nvGrpSpPr>
      <p:grpSpPr>
        <a:xfrm>
          <a:off x="0" y="0"/>
          <a:ext cx="0" cy="0"/>
          <a:chOff x="0" y="0"/>
          <a:chExt cx="0" cy="0"/>
        </a:xfrm>
      </p:grpSpPr>
      <p:sp>
        <p:nvSpPr>
          <p:cNvPr id="2" name="Text 0"/>
          <p:cNvSpPr txBox="1"/>
          <p:nvPr/>
        </p:nvSpPr>
        <p:spPr>
          <a:xfrm>
            <a:off x="566928" y="420624"/>
            <a:ext cx="10058400" cy="237744"/>
          </a:xfrm>
          <a:prstGeom prst="rect">
            <a:avLst/>
          </a:prstGeom>
          <a:noFill/>
          <a:ln/>
        </p:spPr>
        <p:txBody>
          <a:bodyPr wrap="square" lIns="0" tIns="0" rIns="0" bIns="0" rtlCol="0" anchor="ctr"/>
          <a:lstStyle/>
          <a:p>
            <a:pPr indent="0" marL="0">
              <a:buNone/>
            </a:pPr>
            <a:r>
              <a:rPr lang="en-US" sz="1100" b="1" spc="160" kern="0" dirty="0">
                <a:solidFill>
                  <a:srgbClr val="F4791F"/>
                </a:solidFill>
                <a:latin typeface="Calibri" pitchFamily="34" charset="0"/>
                <a:ea typeface="Calibri" pitchFamily="34" charset="-122"/>
                <a:cs typeface="Calibri" pitchFamily="34" charset="-120"/>
              </a:rPr>
              <a:t>OVERVIEW</a:t>
            </a:r>
            <a:endParaRPr lang="en-US" sz="1100" dirty="0"/>
          </a:p>
        </p:txBody>
      </p:sp>
      <p:sp>
        <p:nvSpPr>
          <p:cNvPr id="3" name="Text 1"/>
          <p:cNvSpPr txBox="1"/>
          <p:nvPr/>
        </p:nvSpPr>
        <p:spPr>
          <a:xfrm>
            <a:off x="566928" y="676656"/>
            <a:ext cx="11064240" cy="566928"/>
          </a:xfrm>
          <a:prstGeom prst="rect">
            <a:avLst/>
          </a:prstGeom>
          <a:noFill/>
          <a:ln/>
        </p:spPr>
        <p:txBody>
          <a:bodyPr wrap="square" lIns="0" tIns="0" rIns="0" bIns="0" rtlCol="0" anchor="ctr"/>
          <a:lstStyle/>
          <a:p>
            <a:pPr indent="0" marL="0">
              <a:buNone/>
            </a:pPr>
            <a:r>
              <a:rPr lang="en-US" sz="3200" b="1" dirty="0">
                <a:solidFill>
                  <a:srgbClr val="0F2A43"/>
                </a:solidFill>
                <a:latin typeface="Cambria" pitchFamily="34" charset="0"/>
                <a:ea typeface="Cambria" pitchFamily="34" charset="-122"/>
                <a:cs typeface="Cambria" pitchFamily="34" charset="-120"/>
              </a:rPr>
              <a:t>One platform, from the employee's phone to the invoice</a:t>
            </a:r>
            <a:endParaRPr lang="en-US" sz="3200" dirty="0"/>
          </a:p>
        </p:txBody>
      </p:sp>
      <p:sp>
        <p:nvSpPr>
          <p:cNvPr id="4" name="Text 2"/>
          <p:cNvSpPr txBox="1"/>
          <p:nvPr/>
        </p:nvSpPr>
        <p:spPr>
          <a:xfrm>
            <a:off x="566928" y="1481328"/>
            <a:ext cx="11064240" cy="914400"/>
          </a:xfrm>
          <a:prstGeom prst="rect">
            <a:avLst/>
          </a:prstGeom>
          <a:noFill/>
          <a:ln/>
        </p:spPr>
        <p:txBody>
          <a:bodyPr wrap="square" lIns="0" tIns="0" rIns="0" bIns="0" rtlCol="0" anchor="ctr"/>
          <a:lstStyle/>
          <a:p>
            <a:pPr indent="0" marL="0">
              <a:lnSpc>
                <a:spcPct val="125000"/>
              </a:lnSpc>
              <a:buNone/>
            </a:pPr>
            <a:r>
              <a:rPr lang="en-US" sz="1500" dirty="0">
                <a:solidFill>
                  <a:srgbClr val="1C2B3A"/>
                </a:solidFill>
                <a:latin typeface="Calibri" pitchFamily="34" charset="0"/>
                <a:ea typeface="Calibri" pitchFamily="34" charset="-122"/>
                <a:cs typeface="Calibri" pitchFamily="34" charset="-120"/>
              </a:rPr>
              <a:t>EGA employees order their personal protective equipment against an approved price list. The platform holds the allocation for every employee, reserves the stock the moment it is picked, routes anything over the limit to EGA for approval, and carries the order through PROSAFE fulfilment to delivery, acknowledgement and invoicing — with every document mirrored into the ERP.</a:t>
            </a:r>
            <a:endParaRPr lang="en-US" sz="1500" dirty="0"/>
          </a:p>
        </p:txBody>
      </p:sp>
      <p:sp>
        <p:nvSpPr>
          <p:cNvPr id="5" name="Shape 3"/>
          <p:cNvSpPr/>
          <p:nvPr/>
        </p:nvSpPr>
        <p:spPr>
          <a:xfrm>
            <a:off x="566928" y="2743200"/>
            <a:ext cx="2578608" cy="2286000"/>
          </a:xfrm>
          <a:prstGeom prst="roundRect">
            <a:avLst>
              <a:gd name="adj" fmla="val 3600"/>
            </a:avLst>
          </a:prstGeom>
          <a:solidFill>
            <a:srgbClr val="FFFFFF"/>
          </a:solidFill>
          <a:ln w="12700">
            <a:solidFill>
              <a:srgbClr val="FFFFFF"/>
            </a:solidFill>
            <a:prstDash val="solid"/>
          </a:ln>
          <a:effectLst>
            <a:outerShdw sx="100000" sy="100000" kx="0" ky="0" algn="bl" rotWithShape="0" blurRad="177800" dist="38100" dir="5400000">
              <a:srgbClr val="0F2A43">
                <a:alpha val="13000"/>
              </a:srgbClr>
            </a:outerShdw>
          </a:effectLst>
        </p:spPr>
      </p:sp>
      <p:sp>
        <p:nvSpPr>
          <p:cNvPr id="6" name="Text 4"/>
          <p:cNvSpPr txBox="1"/>
          <p:nvPr/>
        </p:nvSpPr>
        <p:spPr>
          <a:xfrm>
            <a:off x="768096" y="2926080"/>
            <a:ext cx="2194560" cy="777240"/>
          </a:xfrm>
          <a:prstGeom prst="rect">
            <a:avLst/>
          </a:prstGeom>
          <a:noFill/>
          <a:ln/>
        </p:spPr>
        <p:txBody>
          <a:bodyPr wrap="square" lIns="0" tIns="0" rIns="0" bIns="0" rtlCol="0" anchor="ctr"/>
          <a:lstStyle/>
          <a:p>
            <a:pPr indent="0" marL="0">
              <a:buNone/>
            </a:pPr>
            <a:r>
              <a:rPr lang="en-US" sz="4400" b="1" dirty="0">
                <a:solidFill>
                  <a:srgbClr val="F4791F"/>
                </a:solidFill>
                <a:latin typeface="Cambria" pitchFamily="34" charset="0"/>
                <a:ea typeface="Cambria" pitchFamily="34" charset="-122"/>
                <a:cs typeface="Cambria" pitchFamily="34" charset="-120"/>
              </a:rPr>
              <a:t>4</a:t>
            </a:r>
            <a:endParaRPr lang="en-US" sz="4400" dirty="0"/>
          </a:p>
        </p:txBody>
      </p:sp>
      <p:sp>
        <p:nvSpPr>
          <p:cNvPr id="7" name="Text 5"/>
          <p:cNvSpPr txBox="1"/>
          <p:nvPr/>
        </p:nvSpPr>
        <p:spPr>
          <a:xfrm>
            <a:off x="768096" y="3675888"/>
            <a:ext cx="2194560" cy="274320"/>
          </a:xfrm>
          <a:prstGeom prst="rect">
            <a:avLst/>
          </a:prstGeom>
          <a:noFill/>
          <a:ln/>
        </p:spPr>
        <p:txBody>
          <a:bodyPr wrap="square" lIns="0" tIns="0" rIns="0" bIns="0" rtlCol="0" anchor="ctr"/>
          <a:lstStyle/>
          <a:p>
            <a:pPr indent="0" marL="0">
              <a:buNone/>
            </a:pPr>
            <a:r>
              <a:rPr lang="en-US" sz="1300" b="1" dirty="0">
                <a:solidFill>
                  <a:srgbClr val="1C2B3A"/>
                </a:solidFill>
                <a:latin typeface="Calibri" pitchFamily="34" charset="0"/>
                <a:ea typeface="Calibri" pitchFamily="34" charset="-122"/>
                <a:cs typeface="Calibri" pitchFamily="34" charset="-120"/>
              </a:rPr>
              <a:t>modules</a:t>
            </a:r>
            <a:endParaRPr lang="en-US" sz="1300" dirty="0"/>
          </a:p>
        </p:txBody>
      </p:sp>
      <p:sp>
        <p:nvSpPr>
          <p:cNvPr id="8" name="Text 6"/>
          <p:cNvSpPr txBox="1"/>
          <p:nvPr/>
        </p:nvSpPr>
        <p:spPr>
          <a:xfrm>
            <a:off x="768096" y="4005072"/>
            <a:ext cx="2240280" cy="777240"/>
          </a:xfrm>
          <a:prstGeom prst="rect">
            <a:avLst/>
          </a:prstGeom>
          <a:noFill/>
          <a:ln/>
        </p:spPr>
        <p:txBody>
          <a:bodyPr wrap="square" lIns="0" tIns="0" rIns="0" bIns="0" rtlCol="0" anchor="ctr"/>
          <a:lstStyle/>
          <a:p>
            <a:pPr indent="0" marL="0">
              <a:lnSpc>
                <a:spcPct val="115000"/>
              </a:lnSpc>
              <a:buNone/>
            </a:pPr>
            <a:r>
              <a:rPr lang="en-US" sz="1150" dirty="0">
                <a:solidFill>
                  <a:srgbClr val="6B7C8D"/>
                </a:solidFill>
                <a:latin typeface="Calibri" pitchFamily="34" charset="0"/>
                <a:ea typeface="Calibri" pitchFamily="34" charset="-122"/>
                <a:cs typeface="Calibri" pitchFamily="34" charset="-120"/>
              </a:rPr>
              <a:t>Employee · Approver</a:t>
            </a:r>
            <a:endParaRPr lang="en-US" sz="1150" dirty="0"/>
          </a:p>
          <a:p>
            <a:pPr indent="0" marL="0">
              <a:lnSpc>
                <a:spcPct val="115000"/>
              </a:lnSpc>
              <a:buNone/>
            </a:pPr>
            <a:r>
              <a:rPr lang="en-US" sz="1150" dirty="0">
                <a:solidFill>
                  <a:srgbClr val="6B7C8D"/>
                </a:solidFill>
                <a:latin typeface="Calibri" pitchFamily="34" charset="0"/>
                <a:ea typeface="Calibri" pitchFamily="34" charset="-122"/>
                <a:cs typeface="Calibri" pitchFamily="34" charset="-120"/>
              </a:rPr>
              <a:t>Store · Admin</a:t>
            </a:r>
            <a:endParaRPr lang="en-US" sz="1150" dirty="0"/>
          </a:p>
        </p:txBody>
      </p:sp>
      <p:sp>
        <p:nvSpPr>
          <p:cNvPr id="9" name="Shape 7"/>
          <p:cNvSpPr/>
          <p:nvPr/>
        </p:nvSpPr>
        <p:spPr>
          <a:xfrm>
            <a:off x="3364992" y="2743200"/>
            <a:ext cx="2578608" cy="2286000"/>
          </a:xfrm>
          <a:prstGeom prst="roundRect">
            <a:avLst>
              <a:gd name="adj" fmla="val 3600"/>
            </a:avLst>
          </a:prstGeom>
          <a:solidFill>
            <a:srgbClr val="FFFFFF"/>
          </a:solidFill>
          <a:ln w="12700">
            <a:solidFill>
              <a:srgbClr val="FFFFFF"/>
            </a:solidFill>
            <a:prstDash val="solid"/>
          </a:ln>
          <a:effectLst>
            <a:outerShdw sx="100000" sy="100000" kx="0" ky="0" algn="bl" rotWithShape="0" blurRad="177800" dist="38100" dir="5400000">
              <a:srgbClr val="0F2A43">
                <a:alpha val="13000"/>
              </a:srgbClr>
            </a:outerShdw>
          </a:effectLst>
        </p:spPr>
      </p:sp>
      <p:sp>
        <p:nvSpPr>
          <p:cNvPr id="10" name="Text 8"/>
          <p:cNvSpPr txBox="1"/>
          <p:nvPr/>
        </p:nvSpPr>
        <p:spPr>
          <a:xfrm>
            <a:off x="3566160" y="2926080"/>
            <a:ext cx="2194560" cy="777240"/>
          </a:xfrm>
          <a:prstGeom prst="rect">
            <a:avLst/>
          </a:prstGeom>
          <a:noFill/>
          <a:ln/>
        </p:spPr>
        <p:txBody>
          <a:bodyPr wrap="square" lIns="0" tIns="0" rIns="0" bIns="0" rtlCol="0" anchor="ctr"/>
          <a:lstStyle/>
          <a:p>
            <a:pPr indent="0" marL="0">
              <a:buNone/>
            </a:pPr>
            <a:r>
              <a:rPr lang="en-US" sz="4400" b="1" dirty="0">
                <a:solidFill>
                  <a:srgbClr val="2F6FB2"/>
                </a:solidFill>
                <a:latin typeface="Cambria" pitchFamily="34" charset="0"/>
                <a:ea typeface="Cambria" pitchFamily="34" charset="-122"/>
                <a:cs typeface="Cambria" pitchFamily="34" charset="-120"/>
              </a:rPr>
              <a:t>10</a:t>
            </a:r>
            <a:endParaRPr lang="en-US" sz="4400" dirty="0"/>
          </a:p>
        </p:txBody>
      </p:sp>
      <p:sp>
        <p:nvSpPr>
          <p:cNvPr id="11" name="Text 9"/>
          <p:cNvSpPr txBox="1"/>
          <p:nvPr/>
        </p:nvSpPr>
        <p:spPr>
          <a:xfrm>
            <a:off x="3566160" y="3675888"/>
            <a:ext cx="2194560" cy="274320"/>
          </a:xfrm>
          <a:prstGeom prst="rect">
            <a:avLst/>
          </a:prstGeom>
          <a:noFill/>
          <a:ln/>
        </p:spPr>
        <p:txBody>
          <a:bodyPr wrap="square" lIns="0" tIns="0" rIns="0" bIns="0" rtlCol="0" anchor="ctr"/>
          <a:lstStyle/>
          <a:p>
            <a:pPr indent="0" marL="0">
              <a:buNone/>
            </a:pPr>
            <a:r>
              <a:rPr lang="en-US" sz="1300" b="1" dirty="0">
                <a:solidFill>
                  <a:srgbClr val="1C2B3A"/>
                </a:solidFill>
                <a:latin typeface="Calibri" pitchFamily="34" charset="0"/>
                <a:ea typeface="Calibri" pitchFamily="34" charset="-122"/>
                <a:cs typeface="Calibri" pitchFamily="34" charset="-120"/>
              </a:rPr>
              <a:t>master files</a:t>
            </a:r>
            <a:endParaRPr lang="en-US" sz="1300" dirty="0"/>
          </a:p>
        </p:txBody>
      </p:sp>
      <p:sp>
        <p:nvSpPr>
          <p:cNvPr id="12" name="Text 10"/>
          <p:cNvSpPr txBox="1"/>
          <p:nvPr/>
        </p:nvSpPr>
        <p:spPr>
          <a:xfrm>
            <a:off x="3566160" y="4005072"/>
            <a:ext cx="2240280" cy="777240"/>
          </a:xfrm>
          <a:prstGeom prst="rect">
            <a:avLst/>
          </a:prstGeom>
          <a:noFill/>
          <a:ln/>
        </p:spPr>
        <p:txBody>
          <a:bodyPr wrap="square" lIns="0" tIns="0" rIns="0" bIns="0" rtlCol="0" anchor="ctr"/>
          <a:lstStyle/>
          <a:p>
            <a:pPr indent="0" marL="0">
              <a:lnSpc>
                <a:spcPct val="115000"/>
              </a:lnSpc>
              <a:buNone/>
            </a:pPr>
            <a:r>
              <a:rPr lang="en-US" sz="1150" dirty="0">
                <a:solidFill>
                  <a:srgbClr val="6B7C8D"/>
                </a:solidFill>
                <a:latin typeface="Calibri" pitchFamily="34" charset="0"/>
                <a:ea typeface="Calibri" pitchFamily="34" charset="-122"/>
                <a:cs typeface="Calibri" pitchFamily="34" charset="-120"/>
              </a:rPr>
              <a:t>Employees, items,</a:t>
            </a:r>
            <a:endParaRPr lang="en-US" sz="1150" dirty="0"/>
          </a:p>
          <a:p>
            <a:pPr indent="0" marL="0">
              <a:lnSpc>
                <a:spcPct val="115000"/>
              </a:lnSpc>
              <a:buNone/>
            </a:pPr>
            <a:r>
              <a:rPr lang="en-US" sz="1150" dirty="0">
                <a:solidFill>
                  <a:srgbClr val="6B7C8D"/>
                </a:solidFill>
                <a:latin typeface="Calibri" pitchFamily="34" charset="0"/>
                <a:ea typeface="Calibri" pitchFamily="34" charset="-122"/>
                <a:cs typeface="Calibri" pitchFamily="34" charset="-120"/>
              </a:rPr>
              <a:t>price lists and more</a:t>
            </a:r>
            <a:endParaRPr lang="en-US" sz="1150" dirty="0"/>
          </a:p>
        </p:txBody>
      </p:sp>
      <p:sp>
        <p:nvSpPr>
          <p:cNvPr id="13" name="Shape 11"/>
          <p:cNvSpPr/>
          <p:nvPr/>
        </p:nvSpPr>
        <p:spPr>
          <a:xfrm>
            <a:off x="6163056" y="2743200"/>
            <a:ext cx="2578608" cy="2286000"/>
          </a:xfrm>
          <a:prstGeom prst="roundRect">
            <a:avLst>
              <a:gd name="adj" fmla="val 3600"/>
            </a:avLst>
          </a:prstGeom>
          <a:solidFill>
            <a:srgbClr val="FFFFFF"/>
          </a:solidFill>
          <a:ln w="12700">
            <a:solidFill>
              <a:srgbClr val="FFFFFF"/>
            </a:solidFill>
            <a:prstDash val="solid"/>
          </a:ln>
          <a:effectLst>
            <a:outerShdw sx="100000" sy="100000" kx="0" ky="0" algn="bl" rotWithShape="0" blurRad="177800" dist="38100" dir="5400000">
              <a:srgbClr val="0F2A43">
                <a:alpha val="13000"/>
              </a:srgbClr>
            </a:outerShdw>
          </a:effectLst>
        </p:spPr>
      </p:sp>
      <p:sp>
        <p:nvSpPr>
          <p:cNvPr id="14" name="Text 12"/>
          <p:cNvSpPr txBox="1"/>
          <p:nvPr/>
        </p:nvSpPr>
        <p:spPr>
          <a:xfrm>
            <a:off x="6364224" y="2926080"/>
            <a:ext cx="2194560" cy="777240"/>
          </a:xfrm>
          <a:prstGeom prst="rect">
            <a:avLst/>
          </a:prstGeom>
          <a:noFill/>
          <a:ln/>
        </p:spPr>
        <p:txBody>
          <a:bodyPr wrap="square" lIns="0" tIns="0" rIns="0" bIns="0" rtlCol="0" anchor="ctr"/>
          <a:lstStyle/>
          <a:p>
            <a:pPr indent="0" marL="0">
              <a:buNone/>
            </a:pPr>
            <a:r>
              <a:rPr lang="en-US" sz="4400" b="1" dirty="0">
                <a:solidFill>
                  <a:srgbClr val="1E9E6A"/>
                </a:solidFill>
                <a:latin typeface="Cambria" pitchFamily="34" charset="0"/>
                <a:ea typeface="Cambria" pitchFamily="34" charset="-122"/>
                <a:cs typeface="Cambria" pitchFamily="34" charset="-120"/>
              </a:rPr>
              <a:t>39</a:t>
            </a:r>
            <a:endParaRPr lang="en-US" sz="4400" dirty="0"/>
          </a:p>
        </p:txBody>
      </p:sp>
      <p:sp>
        <p:nvSpPr>
          <p:cNvPr id="15" name="Text 13"/>
          <p:cNvSpPr txBox="1"/>
          <p:nvPr/>
        </p:nvSpPr>
        <p:spPr>
          <a:xfrm>
            <a:off x="6364224" y="3675888"/>
            <a:ext cx="2194560" cy="274320"/>
          </a:xfrm>
          <a:prstGeom prst="rect">
            <a:avLst/>
          </a:prstGeom>
          <a:noFill/>
          <a:ln/>
        </p:spPr>
        <p:txBody>
          <a:bodyPr wrap="square" lIns="0" tIns="0" rIns="0" bIns="0" rtlCol="0" anchor="ctr"/>
          <a:lstStyle/>
          <a:p>
            <a:pPr indent="0" marL="0">
              <a:buNone/>
            </a:pPr>
            <a:r>
              <a:rPr lang="en-US" sz="1300" b="1" dirty="0">
                <a:solidFill>
                  <a:srgbClr val="1C2B3A"/>
                </a:solidFill>
                <a:latin typeface="Calibri" pitchFamily="34" charset="0"/>
                <a:ea typeface="Calibri" pitchFamily="34" charset="-122"/>
                <a:cs typeface="Calibri" pitchFamily="34" charset="-120"/>
              </a:rPr>
              <a:t>PPE items</a:t>
            </a:r>
            <a:endParaRPr lang="en-US" sz="1300" dirty="0"/>
          </a:p>
        </p:txBody>
      </p:sp>
      <p:sp>
        <p:nvSpPr>
          <p:cNvPr id="16" name="Text 14"/>
          <p:cNvSpPr txBox="1"/>
          <p:nvPr/>
        </p:nvSpPr>
        <p:spPr>
          <a:xfrm>
            <a:off x="6364224" y="4005072"/>
            <a:ext cx="2240280" cy="777240"/>
          </a:xfrm>
          <a:prstGeom prst="rect">
            <a:avLst/>
          </a:prstGeom>
          <a:noFill/>
          <a:ln/>
        </p:spPr>
        <p:txBody>
          <a:bodyPr wrap="square" lIns="0" tIns="0" rIns="0" bIns="0" rtlCol="0" anchor="ctr"/>
          <a:lstStyle/>
          <a:p>
            <a:pPr indent="0" marL="0">
              <a:lnSpc>
                <a:spcPct val="115000"/>
              </a:lnSpc>
              <a:buNone/>
            </a:pPr>
            <a:r>
              <a:rPr lang="en-US" sz="1150" dirty="0">
                <a:solidFill>
                  <a:srgbClr val="6B7C8D"/>
                </a:solidFill>
                <a:latin typeface="Calibri" pitchFamily="34" charset="0"/>
                <a:ea typeface="Calibri" pitchFamily="34" charset="-122"/>
                <a:cs typeface="Calibri" pitchFamily="34" charset="-120"/>
              </a:rPr>
              <a:t>Real EGA catalogue</a:t>
            </a:r>
            <a:endParaRPr lang="en-US" sz="1150" dirty="0"/>
          </a:p>
          <a:p>
            <a:pPr indent="0" marL="0">
              <a:lnSpc>
                <a:spcPct val="115000"/>
              </a:lnSpc>
              <a:buNone/>
            </a:pPr>
            <a:r>
              <a:rPr lang="en-US" sz="1150" dirty="0">
                <a:solidFill>
                  <a:srgbClr val="6B7C8D"/>
                </a:solidFill>
                <a:latin typeface="Calibri" pitchFamily="34" charset="0"/>
                <a:ea typeface="Calibri" pitchFamily="34" charset="-122"/>
                <a:cs typeface="Calibri" pitchFamily="34" charset="-120"/>
              </a:rPr>
              <a:t>with photographs</a:t>
            </a:r>
            <a:endParaRPr lang="en-US" sz="1150" dirty="0"/>
          </a:p>
        </p:txBody>
      </p:sp>
      <p:sp>
        <p:nvSpPr>
          <p:cNvPr id="17" name="Shape 15"/>
          <p:cNvSpPr/>
          <p:nvPr/>
        </p:nvSpPr>
        <p:spPr>
          <a:xfrm>
            <a:off x="8961120" y="2743200"/>
            <a:ext cx="2578608" cy="2286000"/>
          </a:xfrm>
          <a:prstGeom prst="roundRect">
            <a:avLst>
              <a:gd name="adj" fmla="val 3600"/>
            </a:avLst>
          </a:prstGeom>
          <a:solidFill>
            <a:srgbClr val="FFFFFF"/>
          </a:solidFill>
          <a:ln w="12700">
            <a:solidFill>
              <a:srgbClr val="FFFFFF"/>
            </a:solidFill>
            <a:prstDash val="solid"/>
          </a:ln>
          <a:effectLst>
            <a:outerShdw sx="100000" sy="100000" kx="0" ky="0" algn="bl" rotWithShape="0" blurRad="177800" dist="38100" dir="5400000">
              <a:srgbClr val="0F2A43">
                <a:alpha val="13000"/>
              </a:srgbClr>
            </a:outerShdw>
          </a:effectLst>
        </p:spPr>
      </p:sp>
      <p:sp>
        <p:nvSpPr>
          <p:cNvPr id="18" name="Text 16"/>
          <p:cNvSpPr txBox="1"/>
          <p:nvPr/>
        </p:nvSpPr>
        <p:spPr>
          <a:xfrm>
            <a:off x="9162288" y="2926080"/>
            <a:ext cx="2194560" cy="777240"/>
          </a:xfrm>
          <a:prstGeom prst="rect">
            <a:avLst/>
          </a:prstGeom>
          <a:noFill/>
          <a:ln/>
        </p:spPr>
        <p:txBody>
          <a:bodyPr wrap="square" lIns="0" tIns="0" rIns="0" bIns="0" rtlCol="0" anchor="ctr"/>
          <a:lstStyle/>
          <a:p>
            <a:pPr indent="0" marL="0">
              <a:buNone/>
            </a:pPr>
            <a:r>
              <a:rPr lang="en-US" sz="4400" b="1" dirty="0">
                <a:solidFill>
                  <a:srgbClr val="0F2A43"/>
                </a:solidFill>
                <a:latin typeface="Cambria" pitchFamily="34" charset="0"/>
                <a:ea typeface="Cambria" pitchFamily="34" charset="-122"/>
                <a:cs typeface="Cambria" pitchFamily="34" charset="-120"/>
              </a:rPr>
              <a:t>8</a:t>
            </a:r>
            <a:endParaRPr lang="en-US" sz="4400" dirty="0"/>
          </a:p>
        </p:txBody>
      </p:sp>
      <p:sp>
        <p:nvSpPr>
          <p:cNvPr id="19" name="Text 17"/>
          <p:cNvSpPr txBox="1"/>
          <p:nvPr/>
        </p:nvSpPr>
        <p:spPr>
          <a:xfrm>
            <a:off x="9162288" y="3675888"/>
            <a:ext cx="2194560" cy="274320"/>
          </a:xfrm>
          <a:prstGeom prst="rect">
            <a:avLst/>
          </a:prstGeom>
          <a:noFill/>
          <a:ln/>
        </p:spPr>
        <p:txBody>
          <a:bodyPr wrap="square" lIns="0" tIns="0" rIns="0" bIns="0" rtlCol="0" anchor="ctr"/>
          <a:lstStyle/>
          <a:p>
            <a:pPr indent="0" marL="0">
              <a:buNone/>
            </a:pPr>
            <a:r>
              <a:rPr lang="en-US" sz="1300" b="1" dirty="0">
                <a:solidFill>
                  <a:srgbClr val="1C2B3A"/>
                </a:solidFill>
                <a:latin typeface="Calibri" pitchFamily="34" charset="0"/>
                <a:ea typeface="Calibri" pitchFamily="34" charset="-122"/>
                <a:cs typeface="Calibri" pitchFamily="34" charset="-120"/>
              </a:rPr>
              <a:t>order states</a:t>
            </a:r>
            <a:endParaRPr lang="en-US" sz="1300" dirty="0"/>
          </a:p>
        </p:txBody>
      </p:sp>
      <p:sp>
        <p:nvSpPr>
          <p:cNvPr id="20" name="Text 18"/>
          <p:cNvSpPr txBox="1"/>
          <p:nvPr/>
        </p:nvSpPr>
        <p:spPr>
          <a:xfrm>
            <a:off x="9162288" y="4005072"/>
            <a:ext cx="2240280" cy="777240"/>
          </a:xfrm>
          <a:prstGeom prst="rect">
            <a:avLst/>
          </a:prstGeom>
          <a:noFill/>
          <a:ln/>
        </p:spPr>
        <p:txBody>
          <a:bodyPr wrap="square" lIns="0" tIns="0" rIns="0" bIns="0" rtlCol="0" anchor="ctr"/>
          <a:lstStyle/>
          <a:p>
            <a:pPr indent="0" marL="0">
              <a:lnSpc>
                <a:spcPct val="115000"/>
              </a:lnSpc>
              <a:buNone/>
            </a:pPr>
            <a:r>
              <a:rPr lang="en-US" sz="1150" dirty="0">
                <a:solidFill>
                  <a:srgbClr val="6B7C8D"/>
                </a:solidFill>
                <a:latin typeface="Calibri" pitchFamily="34" charset="0"/>
                <a:ea typeface="Calibri" pitchFamily="34" charset="-122"/>
                <a:cs typeface="Calibri" pitchFamily="34" charset="-120"/>
              </a:rPr>
              <a:t>Tracked from placement</a:t>
            </a:r>
            <a:endParaRPr lang="en-US" sz="1150" dirty="0"/>
          </a:p>
          <a:p>
            <a:pPr indent="0" marL="0">
              <a:lnSpc>
                <a:spcPct val="115000"/>
              </a:lnSpc>
              <a:buNone/>
            </a:pPr>
            <a:r>
              <a:rPr lang="en-US" sz="1150" dirty="0">
                <a:solidFill>
                  <a:srgbClr val="6B7C8D"/>
                </a:solidFill>
                <a:latin typeface="Calibri" pitchFamily="34" charset="0"/>
                <a:ea typeface="Calibri" pitchFamily="34" charset="-122"/>
                <a:cs typeface="Calibri" pitchFamily="34" charset="-120"/>
              </a:rPr>
              <a:t>through to complete</a:t>
            </a:r>
            <a:endParaRPr lang="en-US" sz="1150" dirty="0"/>
          </a:p>
        </p:txBody>
      </p:sp>
      <p:sp>
        <p:nvSpPr>
          <p:cNvPr id="21" name="Text 19"/>
          <p:cNvSpPr txBox="1"/>
          <p:nvPr/>
        </p:nvSpPr>
        <p:spPr>
          <a:xfrm>
            <a:off x="566928" y="5349240"/>
            <a:ext cx="11064240" cy="320040"/>
          </a:xfrm>
          <a:prstGeom prst="rect">
            <a:avLst/>
          </a:prstGeom>
          <a:noFill/>
          <a:ln/>
        </p:spPr>
        <p:txBody>
          <a:bodyPr wrap="square" lIns="0" tIns="0" rIns="0" bIns="0" rtlCol="0" anchor="ctr"/>
          <a:lstStyle/>
          <a:p>
            <a:pPr indent="0" marL="0">
              <a:buNone/>
            </a:pPr>
            <a:r>
              <a:rPr lang="en-US" sz="1200" i="1" dirty="0">
                <a:solidFill>
                  <a:srgbClr val="6B7C8D"/>
                </a:solidFill>
                <a:latin typeface="Calibri" pitchFamily="34" charset="0"/>
                <a:ea typeface="Calibri" pitchFamily="34" charset="-122"/>
                <a:cs typeface="Calibri" pitchFamily="34" charset="-120"/>
              </a:rPr>
              <a:t>Built to the Mobile App SRS2 specification and the EGA Data List workbooks.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2A43"/>
        </a:solidFill>
      </p:bgPr>
    </p:bg>
    <p:spTree>
      <p:nvGrpSpPr>
        <p:cNvPr id="1" name=""/>
        <p:cNvGrpSpPr/>
        <p:nvPr/>
      </p:nvGrpSpPr>
      <p:grpSpPr>
        <a:xfrm>
          <a:off x="0" y="0"/>
          <a:ext cx="0" cy="0"/>
          <a:chOff x="0" y="0"/>
          <a:chExt cx="0" cy="0"/>
        </a:xfrm>
      </p:grpSpPr>
      <p:sp>
        <p:nvSpPr>
          <p:cNvPr id="2" name="Shape 0"/>
          <p:cNvSpPr/>
          <p:nvPr/>
        </p:nvSpPr>
        <p:spPr>
          <a:xfrm>
            <a:off x="9418320" y="-1463040"/>
            <a:ext cx="4937760" cy="4937760"/>
          </a:xfrm>
          <a:prstGeom prst="ellipse">
            <a:avLst/>
          </a:prstGeom>
          <a:solidFill>
            <a:srgbClr val="16385A"/>
          </a:solidFill>
          <a:ln w="12700">
            <a:solidFill>
              <a:srgbClr val="16385A"/>
            </a:solidFill>
            <a:prstDash val="solid"/>
          </a:ln>
        </p:spPr>
      </p:sp>
      <p:sp>
        <p:nvSpPr>
          <p:cNvPr id="3" name="Text 1"/>
          <p:cNvSpPr txBox="1"/>
          <p:nvPr/>
        </p:nvSpPr>
        <p:spPr>
          <a:xfrm>
            <a:off x="566928" y="2148840"/>
            <a:ext cx="1828800" cy="1005840"/>
          </a:xfrm>
          <a:prstGeom prst="rect">
            <a:avLst/>
          </a:prstGeom>
          <a:noFill/>
          <a:ln/>
        </p:spPr>
        <p:txBody>
          <a:bodyPr wrap="square" lIns="0" tIns="0" rIns="0" bIns="0" rtlCol="0" anchor="ctr"/>
          <a:lstStyle/>
          <a:p>
            <a:pPr indent="0" marL="0">
              <a:buNone/>
            </a:pPr>
            <a:r>
              <a:rPr lang="en-US" sz="5600" b="1" dirty="0">
                <a:solidFill>
                  <a:srgbClr val="F4791F"/>
                </a:solidFill>
                <a:latin typeface="Cambria" pitchFamily="34" charset="0"/>
                <a:ea typeface="Cambria" pitchFamily="34" charset="-122"/>
                <a:cs typeface="Cambria" pitchFamily="34" charset="-120"/>
              </a:rPr>
              <a:t>01</a:t>
            </a:r>
            <a:endParaRPr lang="en-US" sz="5600" dirty="0"/>
          </a:p>
        </p:txBody>
      </p:sp>
      <p:sp>
        <p:nvSpPr>
          <p:cNvPr id="4" name="Text 2"/>
          <p:cNvSpPr txBox="1"/>
          <p:nvPr/>
        </p:nvSpPr>
        <p:spPr>
          <a:xfrm>
            <a:off x="566928" y="3154680"/>
            <a:ext cx="9144000" cy="73152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The platform</a:t>
            </a:r>
            <a:endParaRPr lang="en-US" sz="3800" dirty="0"/>
          </a:p>
        </p:txBody>
      </p:sp>
      <p:sp>
        <p:nvSpPr>
          <p:cNvPr id="5" name="Text 3"/>
          <p:cNvSpPr txBox="1"/>
          <p:nvPr/>
        </p:nvSpPr>
        <p:spPr>
          <a:xfrm>
            <a:off x="566928" y="3977640"/>
            <a:ext cx="8595360" cy="457200"/>
          </a:xfrm>
          <a:prstGeom prst="rect">
            <a:avLst/>
          </a:prstGeom>
          <a:noFill/>
          <a:ln/>
        </p:spPr>
        <p:txBody>
          <a:bodyPr wrap="square" lIns="0" tIns="0" rIns="0" bIns="0" rtlCol="0" anchor="ctr"/>
          <a:lstStyle/>
          <a:p>
            <a:pPr indent="0" marL="0">
              <a:buNone/>
            </a:pPr>
            <a:r>
              <a:rPr lang="en-US" sz="1500" dirty="0">
                <a:solidFill>
                  <a:srgbClr val="A9C3DA"/>
                </a:solidFill>
                <a:latin typeface="Calibri" pitchFamily="34" charset="0"/>
                <a:ea typeface="Calibri" pitchFamily="34" charset="-122"/>
                <a:cs typeface="Calibri" pitchFamily="34" charset="-120"/>
              </a:rPr>
              <a:t>What it runs on, and who uses which part of it</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F5F9"/>
        </a:solidFill>
      </p:bgPr>
    </p:bg>
    <p:spTree>
      <p:nvGrpSpPr>
        <p:cNvPr id="1" name=""/>
        <p:cNvGrpSpPr/>
        <p:nvPr/>
      </p:nvGrpSpPr>
      <p:grpSpPr>
        <a:xfrm>
          <a:off x="0" y="0"/>
          <a:ext cx="0" cy="0"/>
          <a:chOff x="0" y="0"/>
          <a:chExt cx="0" cy="0"/>
        </a:xfrm>
      </p:grpSpPr>
      <p:sp>
        <p:nvSpPr>
          <p:cNvPr id="2" name="Text 0"/>
          <p:cNvSpPr txBox="1"/>
          <p:nvPr/>
        </p:nvSpPr>
        <p:spPr>
          <a:xfrm>
            <a:off x="566928" y="420624"/>
            <a:ext cx="10058400" cy="237744"/>
          </a:xfrm>
          <a:prstGeom prst="rect">
            <a:avLst/>
          </a:prstGeom>
          <a:noFill/>
          <a:ln/>
        </p:spPr>
        <p:txBody>
          <a:bodyPr wrap="square" lIns="0" tIns="0" rIns="0" bIns="0" rtlCol="0" anchor="ctr"/>
          <a:lstStyle/>
          <a:p>
            <a:pPr indent="0" marL="0">
              <a:buNone/>
            </a:pPr>
            <a:r>
              <a:rPr lang="en-US" sz="1100" b="1" spc="160" kern="0" dirty="0">
                <a:solidFill>
                  <a:srgbClr val="F4791F"/>
                </a:solidFill>
                <a:latin typeface="Calibri" pitchFamily="34" charset="0"/>
                <a:ea typeface="Calibri" pitchFamily="34" charset="-122"/>
                <a:cs typeface="Calibri" pitchFamily="34" charset="-120"/>
              </a:rPr>
              <a:t>ACCESS</a:t>
            </a:r>
            <a:endParaRPr lang="en-US" sz="1100" dirty="0"/>
          </a:p>
        </p:txBody>
      </p:sp>
      <p:sp>
        <p:nvSpPr>
          <p:cNvPr id="3" name="Text 1"/>
          <p:cNvSpPr txBox="1"/>
          <p:nvPr/>
        </p:nvSpPr>
        <p:spPr>
          <a:xfrm>
            <a:off x="566928" y="676656"/>
            <a:ext cx="11064240" cy="566928"/>
          </a:xfrm>
          <a:prstGeom prst="rect">
            <a:avLst/>
          </a:prstGeom>
          <a:noFill/>
          <a:ln/>
        </p:spPr>
        <p:txBody>
          <a:bodyPr wrap="square" lIns="0" tIns="0" rIns="0" bIns="0" rtlCol="0" anchor="ctr"/>
          <a:lstStyle/>
          <a:p>
            <a:pPr indent="0" marL="0">
              <a:buNone/>
            </a:pPr>
            <a:r>
              <a:rPr lang="en-US" sz="3200" b="1" dirty="0">
                <a:solidFill>
                  <a:srgbClr val="0F2A43"/>
                </a:solidFill>
                <a:latin typeface="Cambria" pitchFamily="34" charset="0"/>
                <a:ea typeface="Cambria" pitchFamily="34" charset="-122"/>
                <a:cs typeface="Cambria" pitchFamily="34" charset="-120"/>
              </a:rPr>
              <a:t>Three ways in, one system behind them</a:t>
            </a:r>
            <a:endParaRPr lang="en-US" sz="3200" dirty="0"/>
          </a:p>
        </p:txBody>
      </p:sp>
      <p:sp>
        <p:nvSpPr>
          <p:cNvPr id="4" name="Shape 2"/>
          <p:cNvSpPr/>
          <p:nvPr/>
        </p:nvSpPr>
        <p:spPr>
          <a:xfrm>
            <a:off x="566928" y="1691640"/>
            <a:ext cx="3529584" cy="2834640"/>
          </a:xfrm>
          <a:prstGeom prst="roundRect">
            <a:avLst>
              <a:gd name="adj" fmla="val 2903"/>
            </a:avLst>
          </a:prstGeom>
          <a:solidFill>
            <a:srgbClr val="FFFFFF"/>
          </a:solidFill>
          <a:ln w="12700">
            <a:solidFill>
              <a:srgbClr val="FFFFFF"/>
            </a:solidFill>
            <a:prstDash val="solid"/>
          </a:ln>
          <a:effectLst>
            <a:outerShdw sx="100000" sy="100000" kx="0" ky="0" algn="bl" rotWithShape="0" blurRad="177800" dist="38100" dir="5400000">
              <a:srgbClr val="0F2A43">
                <a:alpha val="13000"/>
              </a:srgbClr>
            </a:outerShdw>
          </a:effectLst>
        </p:spPr>
      </p:sp>
      <p:sp>
        <p:nvSpPr>
          <p:cNvPr id="5" name="Shape 3"/>
          <p:cNvSpPr/>
          <p:nvPr/>
        </p:nvSpPr>
        <p:spPr>
          <a:xfrm>
            <a:off x="822960" y="1938528"/>
            <a:ext cx="457200" cy="457200"/>
          </a:xfrm>
          <a:prstGeom prst="ellipse">
            <a:avLst/>
          </a:prstGeom>
          <a:solidFill>
            <a:srgbClr val="2F6FB2"/>
          </a:solidFill>
          <a:ln w="12700">
            <a:solidFill>
              <a:srgbClr val="2F6FB2"/>
            </a:solidFill>
            <a:prstDash val="solid"/>
          </a:ln>
        </p:spPr>
      </p:sp>
      <p:sp>
        <p:nvSpPr>
          <p:cNvPr id="6" name="Text 4"/>
          <p:cNvSpPr txBox="1"/>
          <p:nvPr/>
        </p:nvSpPr>
        <p:spPr>
          <a:xfrm>
            <a:off x="822960" y="193852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txBox="1"/>
          <p:nvPr/>
        </p:nvSpPr>
        <p:spPr>
          <a:xfrm>
            <a:off x="822960" y="2542032"/>
            <a:ext cx="3017520" cy="329184"/>
          </a:xfrm>
          <a:prstGeom prst="rect">
            <a:avLst/>
          </a:prstGeom>
          <a:noFill/>
          <a:ln/>
        </p:spPr>
        <p:txBody>
          <a:bodyPr wrap="square" lIns="0" tIns="0" rIns="0" bIns="0" rtlCol="0" anchor="ctr"/>
          <a:lstStyle/>
          <a:p>
            <a:pPr indent="0" marL="0">
              <a:buNone/>
            </a:pPr>
            <a:r>
              <a:rPr lang="en-US" sz="1900" b="1" dirty="0">
                <a:solidFill>
                  <a:srgbClr val="0F2A43"/>
                </a:solidFill>
                <a:latin typeface="Cambria" pitchFamily="34" charset="0"/>
                <a:ea typeface="Cambria" pitchFamily="34" charset="-122"/>
                <a:cs typeface="Cambria" pitchFamily="34" charset="-120"/>
              </a:rPr>
              <a:t>Web portal</a:t>
            </a:r>
            <a:endParaRPr lang="en-US" sz="1900" dirty="0"/>
          </a:p>
        </p:txBody>
      </p:sp>
      <p:sp>
        <p:nvSpPr>
          <p:cNvPr id="8" name="Text 6"/>
          <p:cNvSpPr txBox="1"/>
          <p:nvPr/>
        </p:nvSpPr>
        <p:spPr>
          <a:xfrm>
            <a:off x="822960" y="2926080"/>
            <a:ext cx="3063240" cy="914400"/>
          </a:xfrm>
          <a:prstGeom prst="rect">
            <a:avLst/>
          </a:prstGeom>
          <a:noFill/>
          <a:ln/>
        </p:spPr>
        <p:txBody>
          <a:bodyPr wrap="square" lIns="0" tIns="0" rIns="0" bIns="0" rtlCol="0" anchor="t"/>
          <a:lstStyle/>
          <a:p>
            <a:pPr indent="0" marL="0">
              <a:lnSpc>
                <a:spcPct val="115000"/>
              </a:lnSpc>
              <a:buNone/>
            </a:pPr>
            <a:r>
              <a:rPr lang="en-US" sz="1250" dirty="0">
                <a:solidFill>
                  <a:srgbClr val="1C2B3A"/>
                </a:solidFill>
                <a:latin typeface="Calibri" pitchFamily="34" charset="0"/>
                <a:ea typeface="Calibri" pitchFamily="34" charset="-122"/>
                <a:cs typeface="Calibri" pitchFamily="34" charset="-120"/>
              </a:rPr>
              <a:t>Every module runs in the browser — and the only place the Admin Module lives.</a:t>
            </a:r>
            <a:endParaRPr lang="en-US" sz="1250" dirty="0"/>
          </a:p>
        </p:txBody>
      </p:sp>
      <p:sp>
        <p:nvSpPr>
          <p:cNvPr id="9" name="Text 7"/>
          <p:cNvSpPr txBox="1"/>
          <p:nvPr/>
        </p:nvSpPr>
        <p:spPr>
          <a:xfrm>
            <a:off x="822960" y="3895344"/>
            <a:ext cx="3063240" cy="502920"/>
          </a:xfrm>
          <a:prstGeom prst="rect">
            <a:avLst/>
          </a:prstGeom>
          <a:noFill/>
          <a:ln/>
        </p:spPr>
        <p:txBody>
          <a:bodyPr wrap="square" lIns="0" tIns="0" rIns="0" bIns="0" rtlCol="0" anchor="ctr"/>
          <a:lstStyle/>
          <a:p>
            <a:pPr indent="0" marL="0">
              <a:lnSpc>
                <a:spcPct val="110000"/>
              </a:lnSpc>
              <a:buNone/>
            </a:pPr>
            <a:r>
              <a:rPr lang="en-US" sz="1100" i="1" dirty="0">
                <a:solidFill>
                  <a:srgbClr val="6B7C8D"/>
                </a:solidFill>
                <a:latin typeface="Calibri" pitchFamily="34" charset="0"/>
                <a:ea typeface="Calibri" pitchFamily="34" charset="-122"/>
                <a:cs typeface="Calibri" pitchFamily="34" charset="-120"/>
              </a:rPr>
              <a:t>Used by PROSAFE stores, administrators and EGA approvers</a:t>
            </a:r>
            <a:endParaRPr lang="en-US" sz="1100" dirty="0"/>
          </a:p>
        </p:txBody>
      </p:sp>
      <p:sp>
        <p:nvSpPr>
          <p:cNvPr id="10" name="Shape 8"/>
          <p:cNvSpPr/>
          <p:nvPr/>
        </p:nvSpPr>
        <p:spPr>
          <a:xfrm>
            <a:off x="4334256" y="1691640"/>
            <a:ext cx="3529584" cy="2834640"/>
          </a:xfrm>
          <a:prstGeom prst="roundRect">
            <a:avLst>
              <a:gd name="adj" fmla="val 2903"/>
            </a:avLst>
          </a:prstGeom>
          <a:solidFill>
            <a:srgbClr val="FFFFFF"/>
          </a:solidFill>
          <a:ln w="12700">
            <a:solidFill>
              <a:srgbClr val="FFFFFF"/>
            </a:solidFill>
            <a:prstDash val="solid"/>
          </a:ln>
          <a:effectLst>
            <a:outerShdw sx="100000" sy="100000" kx="0" ky="0" algn="bl" rotWithShape="0" blurRad="177800" dist="38100" dir="5400000">
              <a:srgbClr val="0F2A43">
                <a:alpha val="13000"/>
              </a:srgbClr>
            </a:outerShdw>
          </a:effectLst>
        </p:spPr>
      </p:sp>
      <p:sp>
        <p:nvSpPr>
          <p:cNvPr id="11" name="Shape 9"/>
          <p:cNvSpPr/>
          <p:nvPr/>
        </p:nvSpPr>
        <p:spPr>
          <a:xfrm>
            <a:off x="4590288" y="1938528"/>
            <a:ext cx="457200" cy="457200"/>
          </a:xfrm>
          <a:prstGeom prst="ellipse">
            <a:avLst/>
          </a:prstGeom>
          <a:solidFill>
            <a:srgbClr val="1E9E6A"/>
          </a:solidFill>
          <a:ln w="12700">
            <a:solidFill>
              <a:srgbClr val="1E9E6A"/>
            </a:solidFill>
            <a:prstDash val="solid"/>
          </a:ln>
        </p:spPr>
      </p:sp>
      <p:sp>
        <p:nvSpPr>
          <p:cNvPr id="12" name="Text 10"/>
          <p:cNvSpPr txBox="1"/>
          <p:nvPr/>
        </p:nvSpPr>
        <p:spPr>
          <a:xfrm>
            <a:off x="4590288" y="193852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11"/>
          <p:cNvSpPr txBox="1"/>
          <p:nvPr/>
        </p:nvSpPr>
        <p:spPr>
          <a:xfrm>
            <a:off x="4590288" y="2542032"/>
            <a:ext cx="3017520" cy="329184"/>
          </a:xfrm>
          <a:prstGeom prst="rect">
            <a:avLst/>
          </a:prstGeom>
          <a:noFill/>
          <a:ln/>
        </p:spPr>
        <p:txBody>
          <a:bodyPr wrap="square" lIns="0" tIns="0" rIns="0" bIns="0" rtlCol="0" anchor="ctr"/>
          <a:lstStyle/>
          <a:p>
            <a:pPr indent="0" marL="0">
              <a:buNone/>
            </a:pPr>
            <a:r>
              <a:rPr lang="en-US" sz="1900" b="1" dirty="0">
                <a:solidFill>
                  <a:srgbClr val="0F2A43"/>
                </a:solidFill>
                <a:latin typeface="Cambria" pitchFamily="34" charset="0"/>
                <a:ea typeface="Cambria" pitchFamily="34" charset="-122"/>
                <a:cs typeface="Cambria" pitchFamily="34" charset="-120"/>
              </a:rPr>
              <a:t>Android app</a:t>
            </a:r>
            <a:endParaRPr lang="en-US" sz="1900" dirty="0"/>
          </a:p>
        </p:txBody>
      </p:sp>
      <p:sp>
        <p:nvSpPr>
          <p:cNvPr id="14" name="Text 12"/>
          <p:cNvSpPr txBox="1"/>
          <p:nvPr/>
        </p:nvSpPr>
        <p:spPr>
          <a:xfrm>
            <a:off x="4590288" y="2926080"/>
            <a:ext cx="3063240" cy="914400"/>
          </a:xfrm>
          <a:prstGeom prst="rect">
            <a:avLst/>
          </a:prstGeom>
          <a:noFill/>
          <a:ln/>
        </p:spPr>
        <p:txBody>
          <a:bodyPr wrap="square" lIns="0" tIns="0" rIns="0" bIns="0" rtlCol="0" anchor="t"/>
          <a:lstStyle/>
          <a:p>
            <a:pPr indent="0" marL="0">
              <a:lnSpc>
                <a:spcPct val="115000"/>
              </a:lnSpc>
              <a:buNone/>
            </a:pPr>
            <a:r>
              <a:rPr lang="en-US" sz="1250" dirty="0">
                <a:solidFill>
                  <a:srgbClr val="1C2B3A"/>
                </a:solidFill>
                <a:latin typeface="Calibri" pitchFamily="34" charset="0"/>
                <a:ea typeface="Calibri" pitchFamily="34" charset="-122"/>
                <a:cs typeface="Calibri" pitchFamily="34" charset="-120"/>
              </a:rPr>
              <a:t>The employee ordering app, ready for the Google Play Store.</a:t>
            </a:r>
            <a:endParaRPr lang="en-US" sz="1250" dirty="0"/>
          </a:p>
        </p:txBody>
      </p:sp>
      <p:sp>
        <p:nvSpPr>
          <p:cNvPr id="15" name="Text 13"/>
          <p:cNvSpPr txBox="1"/>
          <p:nvPr/>
        </p:nvSpPr>
        <p:spPr>
          <a:xfrm>
            <a:off x="4590288" y="3895344"/>
            <a:ext cx="3063240" cy="502920"/>
          </a:xfrm>
          <a:prstGeom prst="rect">
            <a:avLst/>
          </a:prstGeom>
          <a:noFill/>
          <a:ln/>
        </p:spPr>
        <p:txBody>
          <a:bodyPr wrap="square" lIns="0" tIns="0" rIns="0" bIns="0" rtlCol="0" anchor="ctr"/>
          <a:lstStyle/>
          <a:p>
            <a:pPr indent="0" marL="0">
              <a:lnSpc>
                <a:spcPct val="110000"/>
              </a:lnSpc>
              <a:buNone/>
            </a:pPr>
            <a:r>
              <a:rPr lang="en-US" sz="1100" i="1" dirty="0">
                <a:solidFill>
                  <a:srgbClr val="6B7C8D"/>
                </a:solidFill>
                <a:latin typeface="Calibri" pitchFamily="34" charset="0"/>
                <a:ea typeface="Calibri" pitchFamily="34" charset="-122"/>
                <a:cs typeface="Calibri" pitchFamily="34" charset="-120"/>
              </a:rPr>
              <a:t>Used by EGA employees on the shop floor</a:t>
            </a:r>
            <a:endParaRPr lang="en-US" sz="1100" dirty="0"/>
          </a:p>
        </p:txBody>
      </p:sp>
      <p:sp>
        <p:nvSpPr>
          <p:cNvPr id="16" name="Shape 14"/>
          <p:cNvSpPr/>
          <p:nvPr/>
        </p:nvSpPr>
        <p:spPr>
          <a:xfrm>
            <a:off x="8101584" y="1691640"/>
            <a:ext cx="3529584" cy="2834640"/>
          </a:xfrm>
          <a:prstGeom prst="roundRect">
            <a:avLst>
              <a:gd name="adj" fmla="val 2903"/>
            </a:avLst>
          </a:prstGeom>
          <a:solidFill>
            <a:srgbClr val="FFFFFF"/>
          </a:solidFill>
          <a:ln w="12700">
            <a:solidFill>
              <a:srgbClr val="FFFFFF"/>
            </a:solidFill>
            <a:prstDash val="solid"/>
          </a:ln>
          <a:effectLst>
            <a:outerShdw sx="100000" sy="100000" kx="0" ky="0" algn="bl" rotWithShape="0" blurRad="177800" dist="38100" dir="5400000">
              <a:srgbClr val="0F2A43">
                <a:alpha val="13000"/>
              </a:srgbClr>
            </a:outerShdw>
          </a:effectLst>
        </p:spPr>
      </p:sp>
      <p:sp>
        <p:nvSpPr>
          <p:cNvPr id="17" name="Shape 15"/>
          <p:cNvSpPr/>
          <p:nvPr/>
        </p:nvSpPr>
        <p:spPr>
          <a:xfrm>
            <a:off x="8357616" y="1938528"/>
            <a:ext cx="457200" cy="457200"/>
          </a:xfrm>
          <a:prstGeom prst="ellipse">
            <a:avLst/>
          </a:prstGeom>
          <a:solidFill>
            <a:srgbClr val="0F2A43"/>
          </a:solidFill>
          <a:ln w="12700">
            <a:solidFill>
              <a:srgbClr val="0F2A43"/>
            </a:solidFill>
            <a:prstDash val="solid"/>
          </a:ln>
        </p:spPr>
      </p:sp>
      <p:sp>
        <p:nvSpPr>
          <p:cNvPr id="18" name="Text 16"/>
          <p:cNvSpPr txBox="1"/>
          <p:nvPr/>
        </p:nvSpPr>
        <p:spPr>
          <a:xfrm>
            <a:off x="8357616" y="193852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9" name="Text 17"/>
          <p:cNvSpPr txBox="1"/>
          <p:nvPr/>
        </p:nvSpPr>
        <p:spPr>
          <a:xfrm>
            <a:off x="8357616" y="2542032"/>
            <a:ext cx="3017520" cy="329184"/>
          </a:xfrm>
          <a:prstGeom prst="rect">
            <a:avLst/>
          </a:prstGeom>
          <a:noFill/>
          <a:ln/>
        </p:spPr>
        <p:txBody>
          <a:bodyPr wrap="square" lIns="0" tIns="0" rIns="0" bIns="0" rtlCol="0" anchor="ctr"/>
          <a:lstStyle/>
          <a:p>
            <a:pPr indent="0" marL="0">
              <a:buNone/>
            </a:pPr>
            <a:r>
              <a:rPr lang="en-US" sz="1900" b="1" dirty="0">
                <a:solidFill>
                  <a:srgbClr val="0F2A43"/>
                </a:solidFill>
                <a:latin typeface="Cambria" pitchFamily="34" charset="0"/>
                <a:ea typeface="Cambria" pitchFamily="34" charset="-122"/>
                <a:cs typeface="Cambria" pitchFamily="34" charset="-120"/>
              </a:rPr>
              <a:t>iOS app</a:t>
            </a:r>
            <a:endParaRPr lang="en-US" sz="1900" dirty="0"/>
          </a:p>
        </p:txBody>
      </p:sp>
      <p:sp>
        <p:nvSpPr>
          <p:cNvPr id="20" name="Text 18"/>
          <p:cNvSpPr txBox="1"/>
          <p:nvPr/>
        </p:nvSpPr>
        <p:spPr>
          <a:xfrm>
            <a:off x="8357616" y="2926080"/>
            <a:ext cx="3063240" cy="914400"/>
          </a:xfrm>
          <a:prstGeom prst="rect">
            <a:avLst/>
          </a:prstGeom>
          <a:noFill/>
          <a:ln/>
        </p:spPr>
        <p:txBody>
          <a:bodyPr wrap="square" lIns="0" tIns="0" rIns="0" bIns="0" rtlCol="0" anchor="t"/>
          <a:lstStyle/>
          <a:p>
            <a:pPr indent="0" marL="0">
              <a:lnSpc>
                <a:spcPct val="115000"/>
              </a:lnSpc>
              <a:buNone/>
            </a:pPr>
            <a:r>
              <a:rPr lang="en-US" sz="1250" dirty="0">
                <a:solidFill>
                  <a:srgbClr val="1C2B3A"/>
                </a:solidFill>
                <a:latin typeface="Calibri" pitchFamily="34" charset="0"/>
                <a:ea typeface="Calibri" pitchFamily="34" charset="-122"/>
                <a:cs typeface="Calibri" pitchFamily="34" charset="-120"/>
              </a:rPr>
              <a:t>The same app, built from one shared codebase.</a:t>
            </a:r>
            <a:endParaRPr lang="en-US" sz="1250" dirty="0"/>
          </a:p>
        </p:txBody>
      </p:sp>
      <p:sp>
        <p:nvSpPr>
          <p:cNvPr id="21" name="Text 19"/>
          <p:cNvSpPr txBox="1"/>
          <p:nvPr/>
        </p:nvSpPr>
        <p:spPr>
          <a:xfrm>
            <a:off x="8357616" y="3895344"/>
            <a:ext cx="3063240" cy="502920"/>
          </a:xfrm>
          <a:prstGeom prst="rect">
            <a:avLst/>
          </a:prstGeom>
          <a:noFill/>
          <a:ln/>
        </p:spPr>
        <p:txBody>
          <a:bodyPr wrap="square" lIns="0" tIns="0" rIns="0" bIns="0" rtlCol="0" anchor="ctr"/>
          <a:lstStyle/>
          <a:p>
            <a:pPr indent="0" marL="0">
              <a:lnSpc>
                <a:spcPct val="110000"/>
              </a:lnSpc>
              <a:buNone/>
            </a:pPr>
            <a:r>
              <a:rPr lang="en-US" sz="1100" i="1" dirty="0">
                <a:solidFill>
                  <a:srgbClr val="6B7C8D"/>
                </a:solidFill>
                <a:latin typeface="Calibri" pitchFamily="34" charset="0"/>
                <a:ea typeface="Calibri" pitchFamily="34" charset="-122"/>
                <a:cs typeface="Calibri" pitchFamily="34" charset="-120"/>
              </a:rPr>
              <a:t>Used by EGA employees on the shop floor</a:t>
            </a:r>
            <a:endParaRPr lang="en-US" sz="1100" dirty="0"/>
          </a:p>
        </p:txBody>
      </p:sp>
      <p:sp>
        <p:nvSpPr>
          <p:cNvPr id="22" name="Shape 20"/>
          <p:cNvSpPr/>
          <p:nvPr/>
        </p:nvSpPr>
        <p:spPr>
          <a:xfrm>
            <a:off x="566928" y="4800600"/>
            <a:ext cx="11064240" cy="1051560"/>
          </a:xfrm>
          <a:prstGeom prst="roundRect">
            <a:avLst>
              <a:gd name="adj" fmla="val 7826"/>
            </a:avLst>
          </a:prstGeom>
          <a:solidFill>
            <a:srgbClr val="0F2A43"/>
          </a:solidFill>
          <a:ln w="12700">
            <a:solidFill>
              <a:srgbClr val="0F2A43"/>
            </a:solidFill>
            <a:prstDash val="solid"/>
          </a:ln>
          <a:effectLst>
            <a:outerShdw sx="100000" sy="100000" kx="0" ky="0" algn="bl" rotWithShape="0" blurRad="177800" dist="38100" dir="5400000">
              <a:srgbClr val="0F2A43">
                <a:alpha val="13000"/>
              </a:srgbClr>
            </a:outerShdw>
          </a:effectLst>
        </p:spPr>
      </p:sp>
      <p:sp>
        <p:nvSpPr>
          <p:cNvPr id="23" name="Text 21"/>
          <p:cNvSpPr txBox="1"/>
          <p:nvPr/>
        </p:nvSpPr>
        <p:spPr>
          <a:xfrm>
            <a:off x="886968" y="5010912"/>
            <a:ext cx="10424160" cy="640080"/>
          </a:xfrm>
          <a:prstGeom prst="rect">
            <a:avLst/>
          </a:prstGeom>
          <a:noFill/>
          <a:ln/>
        </p:spPr>
        <p:txBody>
          <a:bodyPr wrap="square" lIns="0" tIns="0" rIns="0" bIns="0" rtlCol="0" anchor="ctr"/>
          <a:lstStyle/>
          <a:p>
            <a:pPr indent="0" marL="0">
              <a:lnSpc>
                <a:spcPct val="115000"/>
              </a:lnSpc>
              <a:buNone/>
            </a:pPr>
            <a:r>
              <a:rPr lang="en-US" sz="1350" dirty="0">
                <a:solidFill>
                  <a:srgbClr val="CFE0EF"/>
                </a:solidFill>
                <a:latin typeface="Calibri" pitchFamily="34" charset="0"/>
                <a:ea typeface="Calibri" pitchFamily="34" charset="-122"/>
                <a:cs typeface="Calibri" pitchFamily="34" charset="-120"/>
              </a:rPr>
              <a:t>The apps and the website talk to the same server, so an order placed on a phone is on the storekeeper's screen instantly — there is no separate mobile database to reconcile.</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F5F9"/>
        </a:solidFill>
      </p:bgPr>
    </p:bg>
    <p:spTree>
      <p:nvGrpSpPr>
        <p:cNvPr id="1" name=""/>
        <p:cNvGrpSpPr/>
        <p:nvPr/>
      </p:nvGrpSpPr>
      <p:grpSpPr>
        <a:xfrm>
          <a:off x="0" y="0"/>
          <a:ext cx="0" cy="0"/>
          <a:chOff x="0" y="0"/>
          <a:chExt cx="0" cy="0"/>
        </a:xfrm>
      </p:grpSpPr>
      <p:sp>
        <p:nvSpPr>
          <p:cNvPr id="2" name="Text 0"/>
          <p:cNvSpPr txBox="1"/>
          <p:nvPr/>
        </p:nvSpPr>
        <p:spPr>
          <a:xfrm>
            <a:off x="566928" y="420624"/>
            <a:ext cx="10058400" cy="237744"/>
          </a:xfrm>
          <a:prstGeom prst="rect">
            <a:avLst/>
          </a:prstGeom>
          <a:noFill/>
          <a:ln/>
        </p:spPr>
        <p:txBody>
          <a:bodyPr wrap="square" lIns="0" tIns="0" rIns="0" bIns="0" rtlCol="0" anchor="ctr"/>
          <a:lstStyle/>
          <a:p>
            <a:pPr indent="0" marL="0">
              <a:buNone/>
            </a:pPr>
            <a:r>
              <a:rPr lang="en-US" sz="1100" b="1" spc="160" kern="0" dirty="0">
                <a:solidFill>
                  <a:srgbClr val="F4791F"/>
                </a:solidFill>
                <a:latin typeface="Calibri" pitchFamily="34" charset="0"/>
                <a:ea typeface="Calibri" pitchFamily="34" charset="-122"/>
                <a:cs typeface="Calibri" pitchFamily="34" charset="-120"/>
              </a:rPr>
              <a:t>ROLES</a:t>
            </a:r>
            <a:endParaRPr lang="en-US" sz="1100" dirty="0"/>
          </a:p>
        </p:txBody>
      </p:sp>
      <p:sp>
        <p:nvSpPr>
          <p:cNvPr id="3" name="Text 1"/>
          <p:cNvSpPr txBox="1"/>
          <p:nvPr/>
        </p:nvSpPr>
        <p:spPr>
          <a:xfrm>
            <a:off x="566928" y="676656"/>
            <a:ext cx="11064240" cy="566928"/>
          </a:xfrm>
          <a:prstGeom prst="rect">
            <a:avLst/>
          </a:prstGeom>
          <a:noFill/>
          <a:ln/>
        </p:spPr>
        <p:txBody>
          <a:bodyPr wrap="square" lIns="0" tIns="0" rIns="0" bIns="0" rtlCol="0" anchor="ctr"/>
          <a:lstStyle/>
          <a:p>
            <a:pPr indent="0" marL="0">
              <a:buNone/>
            </a:pPr>
            <a:r>
              <a:rPr lang="en-US" sz="3200" b="1" dirty="0">
                <a:solidFill>
                  <a:srgbClr val="0F2A43"/>
                </a:solidFill>
                <a:latin typeface="Cambria" pitchFamily="34" charset="0"/>
                <a:ea typeface="Cambria" pitchFamily="34" charset="-122"/>
                <a:cs typeface="Cambria" pitchFamily="34" charset="-120"/>
              </a:rPr>
              <a:t>Four modules, deliberately kept apart</a:t>
            </a:r>
            <a:endParaRPr lang="en-US" sz="3200" dirty="0"/>
          </a:p>
        </p:txBody>
      </p:sp>
      <p:sp>
        <p:nvSpPr>
          <p:cNvPr id="4" name="Shape 2"/>
          <p:cNvSpPr/>
          <p:nvPr/>
        </p:nvSpPr>
        <p:spPr>
          <a:xfrm>
            <a:off x="566928" y="1691640"/>
            <a:ext cx="5394960" cy="1883664"/>
          </a:xfrm>
          <a:prstGeom prst="roundRect">
            <a:avLst>
              <a:gd name="adj" fmla="val 4369"/>
            </a:avLst>
          </a:prstGeom>
          <a:solidFill>
            <a:srgbClr val="FFFFFF"/>
          </a:solidFill>
          <a:ln w="12700">
            <a:solidFill>
              <a:srgbClr val="FFFFFF"/>
            </a:solidFill>
            <a:prstDash val="solid"/>
          </a:ln>
          <a:effectLst>
            <a:outerShdw sx="100000" sy="100000" kx="0" ky="0" algn="bl" rotWithShape="0" blurRad="177800" dist="38100" dir="5400000">
              <a:srgbClr val="0F2A43">
                <a:alpha val="13000"/>
              </a:srgbClr>
            </a:outerShdw>
          </a:effectLst>
        </p:spPr>
      </p:sp>
      <p:sp>
        <p:nvSpPr>
          <p:cNvPr id="5" name="Shape 3"/>
          <p:cNvSpPr/>
          <p:nvPr/>
        </p:nvSpPr>
        <p:spPr>
          <a:xfrm>
            <a:off x="841248" y="1984248"/>
            <a:ext cx="420624" cy="420624"/>
          </a:xfrm>
          <a:prstGeom prst="ellipse">
            <a:avLst/>
          </a:prstGeom>
          <a:solidFill>
            <a:srgbClr val="F4791F"/>
          </a:solidFill>
          <a:ln w="12700">
            <a:solidFill>
              <a:srgbClr val="F4791F"/>
            </a:solidFill>
            <a:prstDash val="solid"/>
          </a:ln>
        </p:spPr>
      </p:sp>
      <p:sp>
        <p:nvSpPr>
          <p:cNvPr id="6" name="Text 4"/>
          <p:cNvSpPr txBox="1"/>
          <p:nvPr/>
        </p:nvSpPr>
        <p:spPr>
          <a:xfrm>
            <a:off x="841248" y="198424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1408176" y="1965960"/>
            <a:ext cx="4206240" cy="365760"/>
          </a:xfrm>
          <a:prstGeom prst="rect">
            <a:avLst/>
          </a:prstGeom>
          <a:noFill/>
          <a:ln/>
        </p:spPr>
        <p:txBody>
          <a:bodyPr wrap="square" lIns="0" tIns="0" rIns="0" bIns="0" rtlCol="0" anchor="ctr"/>
          <a:lstStyle/>
          <a:p>
            <a:pPr indent="0" marL="0">
              <a:buNone/>
            </a:pPr>
            <a:r>
              <a:rPr lang="en-US" sz="1900" b="1" dirty="0">
                <a:solidFill>
                  <a:srgbClr val="0F2A43"/>
                </a:solidFill>
                <a:latin typeface="Cambria" pitchFamily="34" charset="0"/>
                <a:ea typeface="Cambria" pitchFamily="34" charset="-122"/>
                <a:cs typeface="Cambria" pitchFamily="34" charset="-120"/>
              </a:rPr>
              <a:t>Employee Module</a:t>
            </a:r>
            <a:endParaRPr lang="en-US" sz="1900" dirty="0"/>
          </a:p>
        </p:txBody>
      </p:sp>
      <p:sp>
        <p:nvSpPr>
          <p:cNvPr id="8" name="Text 6"/>
          <p:cNvSpPr txBox="1"/>
          <p:nvPr/>
        </p:nvSpPr>
        <p:spPr>
          <a:xfrm>
            <a:off x="1408176" y="2368296"/>
            <a:ext cx="4343400" cy="1005840"/>
          </a:xfrm>
          <a:prstGeom prst="rect">
            <a:avLst/>
          </a:prstGeom>
          <a:noFill/>
          <a:ln/>
        </p:spPr>
        <p:txBody>
          <a:bodyPr wrap="square" lIns="0" tIns="0" rIns="0" bIns="0" rtlCol="0" anchor="t"/>
          <a:lstStyle/>
          <a:p>
            <a:pPr indent="0" marL="0">
              <a:lnSpc>
                <a:spcPct val="115000"/>
              </a:lnSpc>
              <a:buNone/>
            </a:pPr>
            <a:r>
              <a:rPr lang="en-US" sz="1250" dirty="0">
                <a:solidFill>
                  <a:srgbClr val="1C2B3A"/>
                </a:solidFill>
                <a:latin typeface="Calibri" pitchFamily="34" charset="0"/>
                <a:ea typeface="Calibri" pitchFamily="34" charset="-122"/>
                <a:cs typeface="Calibri" pitchFamily="34" charset="-120"/>
              </a:rPr>
              <a:t>Shop against the approved price list · Order and Approval carts · own orders · acknowledge deliveries · raise returns · My Limits</a:t>
            </a:r>
            <a:endParaRPr lang="en-US" sz="1250" dirty="0"/>
          </a:p>
        </p:txBody>
      </p:sp>
      <p:sp>
        <p:nvSpPr>
          <p:cNvPr id="9" name="Shape 7"/>
          <p:cNvSpPr/>
          <p:nvPr/>
        </p:nvSpPr>
        <p:spPr>
          <a:xfrm>
            <a:off x="6190488" y="1691640"/>
            <a:ext cx="5394960" cy="1883664"/>
          </a:xfrm>
          <a:prstGeom prst="roundRect">
            <a:avLst>
              <a:gd name="adj" fmla="val 4369"/>
            </a:avLst>
          </a:prstGeom>
          <a:solidFill>
            <a:srgbClr val="FFFFFF"/>
          </a:solidFill>
          <a:ln w="12700">
            <a:solidFill>
              <a:srgbClr val="FFFFFF"/>
            </a:solidFill>
            <a:prstDash val="solid"/>
          </a:ln>
          <a:effectLst>
            <a:outerShdw sx="100000" sy="100000" kx="0" ky="0" algn="bl" rotWithShape="0" blurRad="177800" dist="38100" dir="5400000">
              <a:srgbClr val="0F2A43">
                <a:alpha val="13000"/>
              </a:srgbClr>
            </a:outerShdw>
          </a:effectLst>
        </p:spPr>
      </p:sp>
      <p:sp>
        <p:nvSpPr>
          <p:cNvPr id="10" name="Shape 8"/>
          <p:cNvSpPr/>
          <p:nvPr/>
        </p:nvSpPr>
        <p:spPr>
          <a:xfrm>
            <a:off x="6464808" y="1984248"/>
            <a:ext cx="420624" cy="420624"/>
          </a:xfrm>
          <a:prstGeom prst="ellipse">
            <a:avLst/>
          </a:prstGeom>
          <a:solidFill>
            <a:srgbClr val="1E9E6A"/>
          </a:solidFill>
          <a:ln w="12700">
            <a:solidFill>
              <a:srgbClr val="1E9E6A"/>
            </a:solidFill>
            <a:prstDash val="solid"/>
          </a:ln>
        </p:spPr>
      </p:sp>
      <p:sp>
        <p:nvSpPr>
          <p:cNvPr id="11" name="Text 9"/>
          <p:cNvSpPr txBox="1"/>
          <p:nvPr/>
        </p:nvSpPr>
        <p:spPr>
          <a:xfrm>
            <a:off x="6464808" y="198424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txBox="1"/>
          <p:nvPr/>
        </p:nvSpPr>
        <p:spPr>
          <a:xfrm>
            <a:off x="7031736" y="1965960"/>
            <a:ext cx="4206240" cy="365760"/>
          </a:xfrm>
          <a:prstGeom prst="rect">
            <a:avLst/>
          </a:prstGeom>
          <a:noFill/>
          <a:ln/>
        </p:spPr>
        <p:txBody>
          <a:bodyPr wrap="square" lIns="0" tIns="0" rIns="0" bIns="0" rtlCol="0" anchor="ctr"/>
          <a:lstStyle/>
          <a:p>
            <a:pPr indent="0" marL="0">
              <a:buNone/>
            </a:pPr>
            <a:r>
              <a:rPr lang="en-US" sz="1900" b="1" dirty="0">
                <a:solidFill>
                  <a:srgbClr val="0F2A43"/>
                </a:solidFill>
                <a:latin typeface="Cambria" pitchFamily="34" charset="0"/>
                <a:ea typeface="Cambria" pitchFamily="34" charset="-122"/>
                <a:cs typeface="Cambria" pitchFamily="34" charset="-120"/>
              </a:rPr>
              <a:t>Approver Module</a:t>
            </a:r>
            <a:endParaRPr lang="en-US" sz="1900" dirty="0"/>
          </a:p>
        </p:txBody>
      </p:sp>
      <p:sp>
        <p:nvSpPr>
          <p:cNvPr id="13" name="Text 11"/>
          <p:cNvSpPr txBox="1"/>
          <p:nvPr/>
        </p:nvSpPr>
        <p:spPr>
          <a:xfrm>
            <a:off x="7031736" y="2368296"/>
            <a:ext cx="4343400" cy="1005840"/>
          </a:xfrm>
          <a:prstGeom prst="rect">
            <a:avLst/>
          </a:prstGeom>
          <a:noFill/>
          <a:ln/>
        </p:spPr>
        <p:txBody>
          <a:bodyPr wrap="square" lIns="0" tIns="0" rIns="0" bIns="0" rtlCol="0" anchor="t"/>
          <a:lstStyle/>
          <a:p>
            <a:pPr indent="0" marL="0">
              <a:lnSpc>
                <a:spcPct val="115000"/>
              </a:lnSpc>
              <a:buNone/>
            </a:pPr>
            <a:r>
              <a:rPr lang="en-US" sz="1250" dirty="0">
                <a:solidFill>
                  <a:srgbClr val="1C2B3A"/>
                </a:solidFill>
                <a:latin typeface="Calibri" pitchFamily="34" charset="0"/>
                <a:ea typeface="Calibri" pitchFamily="34" charset="-122"/>
                <a:cs typeface="Calibri" pitchFamily="34" charset="-120"/>
              </a:rPr>
              <a:t>EGA's client approval — approve line by line or reject, and see every order that passed through approval</a:t>
            </a:r>
            <a:endParaRPr lang="en-US" sz="1250" dirty="0"/>
          </a:p>
        </p:txBody>
      </p:sp>
      <p:sp>
        <p:nvSpPr>
          <p:cNvPr id="14" name="Shape 12"/>
          <p:cNvSpPr/>
          <p:nvPr/>
        </p:nvSpPr>
        <p:spPr>
          <a:xfrm>
            <a:off x="566928" y="3813048"/>
            <a:ext cx="5394960" cy="1883664"/>
          </a:xfrm>
          <a:prstGeom prst="roundRect">
            <a:avLst>
              <a:gd name="adj" fmla="val 4369"/>
            </a:avLst>
          </a:prstGeom>
          <a:solidFill>
            <a:srgbClr val="FFFFFF"/>
          </a:solidFill>
          <a:ln w="12700">
            <a:solidFill>
              <a:srgbClr val="FFFFFF"/>
            </a:solidFill>
            <a:prstDash val="solid"/>
          </a:ln>
          <a:effectLst>
            <a:outerShdw sx="100000" sy="100000" kx="0" ky="0" algn="bl" rotWithShape="0" blurRad="177800" dist="38100" dir="5400000">
              <a:srgbClr val="0F2A43">
                <a:alpha val="13000"/>
              </a:srgbClr>
            </a:outerShdw>
          </a:effectLst>
        </p:spPr>
      </p:sp>
      <p:sp>
        <p:nvSpPr>
          <p:cNvPr id="15" name="Shape 13"/>
          <p:cNvSpPr/>
          <p:nvPr/>
        </p:nvSpPr>
        <p:spPr>
          <a:xfrm>
            <a:off x="841248" y="4105656"/>
            <a:ext cx="420624" cy="420624"/>
          </a:xfrm>
          <a:prstGeom prst="ellipse">
            <a:avLst/>
          </a:prstGeom>
          <a:solidFill>
            <a:srgbClr val="E8A213"/>
          </a:solidFill>
          <a:ln w="12700">
            <a:solidFill>
              <a:srgbClr val="E8A213"/>
            </a:solidFill>
            <a:prstDash val="solid"/>
          </a:ln>
        </p:spPr>
      </p:sp>
      <p:sp>
        <p:nvSpPr>
          <p:cNvPr id="16" name="Text 14"/>
          <p:cNvSpPr txBox="1"/>
          <p:nvPr/>
        </p:nvSpPr>
        <p:spPr>
          <a:xfrm>
            <a:off x="841248" y="4105656"/>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txBox="1"/>
          <p:nvPr/>
        </p:nvSpPr>
        <p:spPr>
          <a:xfrm>
            <a:off x="1408176" y="4087368"/>
            <a:ext cx="4206240" cy="365760"/>
          </a:xfrm>
          <a:prstGeom prst="rect">
            <a:avLst/>
          </a:prstGeom>
          <a:noFill/>
          <a:ln/>
        </p:spPr>
        <p:txBody>
          <a:bodyPr wrap="square" lIns="0" tIns="0" rIns="0" bIns="0" rtlCol="0" anchor="ctr"/>
          <a:lstStyle/>
          <a:p>
            <a:pPr indent="0" marL="0">
              <a:buNone/>
            </a:pPr>
            <a:r>
              <a:rPr lang="en-US" sz="1900" b="1" dirty="0">
                <a:solidFill>
                  <a:srgbClr val="0F2A43"/>
                </a:solidFill>
                <a:latin typeface="Cambria" pitchFamily="34" charset="0"/>
                <a:ea typeface="Cambria" pitchFamily="34" charset="-122"/>
                <a:cs typeface="Cambria" pitchFamily="34" charset="-120"/>
              </a:rPr>
              <a:t>Store Module</a:t>
            </a:r>
            <a:endParaRPr lang="en-US" sz="1900" dirty="0"/>
          </a:p>
        </p:txBody>
      </p:sp>
      <p:sp>
        <p:nvSpPr>
          <p:cNvPr id="18" name="Text 16"/>
          <p:cNvSpPr txBox="1"/>
          <p:nvPr/>
        </p:nvSpPr>
        <p:spPr>
          <a:xfrm>
            <a:off x="1408176" y="4489704"/>
            <a:ext cx="4343400" cy="1005840"/>
          </a:xfrm>
          <a:prstGeom prst="rect">
            <a:avLst/>
          </a:prstGeom>
          <a:noFill/>
          <a:ln/>
        </p:spPr>
        <p:txBody>
          <a:bodyPr wrap="square" lIns="0" tIns="0" rIns="0" bIns="0" rtlCol="0" anchor="t"/>
          <a:lstStyle/>
          <a:p>
            <a:pPr indent="0" marL="0">
              <a:lnSpc>
                <a:spcPct val="115000"/>
              </a:lnSpc>
              <a:buNone/>
            </a:pPr>
            <a:r>
              <a:rPr lang="en-US" sz="1250" dirty="0">
                <a:solidFill>
                  <a:srgbClr val="1C2B3A"/>
                </a:solidFill>
                <a:latin typeface="Calibri" pitchFamily="34" charset="0"/>
                <a:ea typeface="Calibri" pitchFamily="34" charset="-122"/>
                <a:cs typeface="Calibri" pitchFamily="34" charset="-120"/>
              </a:rPr>
              <a:t>PROSAFE fulfilment — delivery notes, re-save, return confirmation, DO consolidation, invoicing, inventory across stores</a:t>
            </a:r>
            <a:endParaRPr lang="en-US" sz="1250" dirty="0"/>
          </a:p>
        </p:txBody>
      </p:sp>
      <p:sp>
        <p:nvSpPr>
          <p:cNvPr id="19" name="Shape 17"/>
          <p:cNvSpPr/>
          <p:nvPr/>
        </p:nvSpPr>
        <p:spPr>
          <a:xfrm>
            <a:off x="6190488" y="3813048"/>
            <a:ext cx="5394960" cy="1883664"/>
          </a:xfrm>
          <a:prstGeom prst="roundRect">
            <a:avLst>
              <a:gd name="adj" fmla="val 4369"/>
            </a:avLst>
          </a:prstGeom>
          <a:solidFill>
            <a:srgbClr val="FFFFFF"/>
          </a:solidFill>
          <a:ln w="12700">
            <a:solidFill>
              <a:srgbClr val="FFFFFF"/>
            </a:solidFill>
            <a:prstDash val="solid"/>
          </a:ln>
          <a:effectLst>
            <a:outerShdw sx="100000" sy="100000" kx="0" ky="0" algn="bl" rotWithShape="0" blurRad="177800" dist="38100" dir="5400000">
              <a:srgbClr val="0F2A43">
                <a:alpha val="13000"/>
              </a:srgbClr>
            </a:outerShdw>
          </a:effectLst>
        </p:spPr>
      </p:sp>
      <p:sp>
        <p:nvSpPr>
          <p:cNvPr id="20" name="Shape 18"/>
          <p:cNvSpPr/>
          <p:nvPr/>
        </p:nvSpPr>
        <p:spPr>
          <a:xfrm>
            <a:off x="6464808" y="4105656"/>
            <a:ext cx="420624" cy="420624"/>
          </a:xfrm>
          <a:prstGeom prst="ellipse">
            <a:avLst/>
          </a:prstGeom>
          <a:solidFill>
            <a:srgbClr val="2F6FB2"/>
          </a:solidFill>
          <a:ln w="12700">
            <a:solidFill>
              <a:srgbClr val="2F6FB2"/>
            </a:solidFill>
            <a:prstDash val="solid"/>
          </a:ln>
        </p:spPr>
      </p:sp>
      <p:sp>
        <p:nvSpPr>
          <p:cNvPr id="21" name="Text 19"/>
          <p:cNvSpPr txBox="1"/>
          <p:nvPr/>
        </p:nvSpPr>
        <p:spPr>
          <a:xfrm>
            <a:off x="6464808" y="4105656"/>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2" name="Text 20"/>
          <p:cNvSpPr txBox="1"/>
          <p:nvPr/>
        </p:nvSpPr>
        <p:spPr>
          <a:xfrm>
            <a:off x="7031736" y="4087368"/>
            <a:ext cx="4206240" cy="365760"/>
          </a:xfrm>
          <a:prstGeom prst="rect">
            <a:avLst/>
          </a:prstGeom>
          <a:noFill/>
          <a:ln/>
        </p:spPr>
        <p:txBody>
          <a:bodyPr wrap="square" lIns="0" tIns="0" rIns="0" bIns="0" rtlCol="0" anchor="ctr"/>
          <a:lstStyle/>
          <a:p>
            <a:pPr indent="0" marL="0">
              <a:buNone/>
            </a:pPr>
            <a:r>
              <a:rPr lang="en-US" sz="1900" b="1" dirty="0">
                <a:solidFill>
                  <a:srgbClr val="0F2A43"/>
                </a:solidFill>
                <a:latin typeface="Cambria" pitchFamily="34" charset="0"/>
                <a:ea typeface="Cambria" pitchFamily="34" charset="-122"/>
                <a:cs typeface="Cambria" pitchFamily="34" charset="-120"/>
              </a:rPr>
              <a:t>Admin Module</a:t>
            </a:r>
            <a:endParaRPr lang="en-US" sz="1900" dirty="0"/>
          </a:p>
        </p:txBody>
      </p:sp>
      <p:sp>
        <p:nvSpPr>
          <p:cNvPr id="23" name="Text 21"/>
          <p:cNvSpPr txBox="1"/>
          <p:nvPr/>
        </p:nvSpPr>
        <p:spPr>
          <a:xfrm>
            <a:off x="7031736" y="4489704"/>
            <a:ext cx="4343400" cy="1005840"/>
          </a:xfrm>
          <a:prstGeom prst="rect">
            <a:avLst/>
          </a:prstGeom>
          <a:noFill/>
          <a:ln/>
        </p:spPr>
        <p:txBody>
          <a:bodyPr wrap="square" lIns="0" tIns="0" rIns="0" bIns="0" rtlCol="0" anchor="t"/>
          <a:lstStyle/>
          <a:p>
            <a:pPr indent="0" marL="0">
              <a:lnSpc>
                <a:spcPct val="115000"/>
              </a:lnSpc>
              <a:buNone/>
            </a:pPr>
            <a:r>
              <a:rPr lang="en-US" sz="1250" dirty="0">
                <a:solidFill>
                  <a:srgbClr val="1C2B3A"/>
                </a:solidFill>
                <a:latin typeface="Calibri" pitchFamily="34" charset="0"/>
                <a:ea typeface="Calibri" pitchFamily="34" charset="-122"/>
                <a:cs typeface="Calibri" pitchFamily="34" charset="-120"/>
              </a:rPr>
              <a:t>Log-in control and shopping profiles, plus every master file. No access to fulfilment or inventory</a:t>
            </a:r>
            <a:endParaRPr lang="en-US" sz="1250" dirty="0"/>
          </a:p>
        </p:txBody>
      </p:sp>
      <p:sp>
        <p:nvSpPr>
          <p:cNvPr id="24" name="Text 22"/>
          <p:cNvSpPr txBox="1"/>
          <p:nvPr/>
        </p:nvSpPr>
        <p:spPr>
          <a:xfrm>
            <a:off x="566928" y="6035040"/>
            <a:ext cx="11064240" cy="365760"/>
          </a:xfrm>
          <a:prstGeom prst="rect">
            <a:avLst/>
          </a:prstGeom>
          <a:noFill/>
          <a:ln/>
        </p:spPr>
        <p:txBody>
          <a:bodyPr wrap="square" lIns="0" tIns="0" rIns="0" bIns="0" rtlCol="0" anchor="ctr"/>
          <a:lstStyle/>
          <a:p>
            <a:pPr indent="0" marL="0">
              <a:buNone/>
            </a:pPr>
            <a:r>
              <a:rPr lang="en-US" sz="1250" i="1" dirty="0">
                <a:solidFill>
                  <a:srgbClr val="6B7C8D"/>
                </a:solidFill>
                <a:latin typeface="Calibri" pitchFamily="34" charset="0"/>
                <a:ea typeface="Calibri" pitchFamily="34" charset="-122"/>
                <a:cs typeface="Calibri" pitchFamily="34" charset="-120"/>
              </a:rPr>
              <a:t>A store user never sees Users or Masters; an administrator never sees Fulfilment or Inventory. Separation is enforced on the server, not just hidden in the menu.</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F5F9"/>
        </a:solidFill>
      </p:bgPr>
    </p:bg>
    <p:spTree>
      <p:nvGrpSpPr>
        <p:cNvPr id="1" name=""/>
        <p:cNvGrpSpPr/>
        <p:nvPr/>
      </p:nvGrpSpPr>
      <p:grpSpPr>
        <a:xfrm>
          <a:off x="0" y="0"/>
          <a:ext cx="0" cy="0"/>
          <a:chOff x="0" y="0"/>
          <a:chExt cx="0" cy="0"/>
        </a:xfrm>
      </p:grpSpPr>
      <p:sp>
        <p:nvSpPr>
          <p:cNvPr id="2" name="Text 0"/>
          <p:cNvSpPr txBox="1"/>
          <p:nvPr/>
        </p:nvSpPr>
        <p:spPr>
          <a:xfrm>
            <a:off x="566928" y="420624"/>
            <a:ext cx="10058400" cy="237744"/>
          </a:xfrm>
          <a:prstGeom prst="rect">
            <a:avLst/>
          </a:prstGeom>
          <a:noFill/>
          <a:ln/>
        </p:spPr>
        <p:txBody>
          <a:bodyPr wrap="square" lIns="0" tIns="0" rIns="0" bIns="0" rtlCol="0" anchor="ctr"/>
          <a:lstStyle/>
          <a:p>
            <a:pPr indent="0" marL="0">
              <a:buNone/>
            </a:pPr>
            <a:r>
              <a:rPr lang="en-US" sz="1100" b="1" spc="160" kern="0" dirty="0">
                <a:solidFill>
                  <a:srgbClr val="F4791F"/>
                </a:solidFill>
                <a:latin typeface="Calibri" pitchFamily="34" charset="0"/>
                <a:ea typeface="Calibri" pitchFamily="34" charset="-122"/>
                <a:cs typeface="Calibri" pitchFamily="34" charset="-120"/>
              </a:rPr>
              <a:t>MULTIPLE ROLES</a:t>
            </a:r>
            <a:endParaRPr lang="en-US" sz="1100" dirty="0"/>
          </a:p>
        </p:txBody>
      </p:sp>
      <p:sp>
        <p:nvSpPr>
          <p:cNvPr id="3" name="Text 1"/>
          <p:cNvSpPr txBox="1"/>
          <p:nvPr/>
        </p:nvSpPr>
        <p:spPr>
          <a:xfrm>
            <a:off x="566928" y="676656"/>
            <a:ext cx="11064240" cy="566928"/>
          </a:xfrm>
          <a:prstGeom prst="rect">
            <a:avLst/>
          </a:prstGeom>
          <a:noFill/>
          <a:ln/>
        </p:spPr>
        <p:txBody>
          <a:bodyPr wrap="square" lIns="0" tIns="0" rIns="0" bIns="0" rtlCol="0" anchor="ctr"/>
          <a:lstStyle/>
          <a:p>
            <a:pPr indent="0" marL="0">
              <a:buNone/>
            </a:pPr>
            <a:r>
              <a:rPr lang="en-US" sz="3200" b="1" dirty="0">
                <a:solidFill>
                  <a:srgbClr val="0F2A43"/>
                </a:solidFill>
                <a:latin typeface="Cambria" pitchFamily="34" charset="0"/>
                <a:ea typeface="Cambria" pitchFamily="34" charset="-122"/>
                <a:cs typeface="Cambria" pitchFamily="34" charset="-120"/>
              </a:rPr>
              <a:t>One log-in can hold two modules</a:t>
            </a:r>
            <a:endParaRPr lang="en-US" sz="3200" dirty="0"/>
          </a:p>
        </p:txBody>
      </p:sp>
      <p:sp>
        <p:nvSpPr>
          <p:cNvPr id="4" name="Text 2"/>
          <p:cNvSpPr txBox="1"/>
          <p:nvPr/>
        </p:nvSpPr>
        <p:spPr>
          <a:xfrm>
            <a:off x="566928" y="1554480"/>
            <a:ext cx="4572000" cy="2377440"/>
          </a:xfrm>
          <a:prstGeom prst="rect">
            <a:avLst/>
          </a:prstGeom>
          <a:noFill/>
          <a:ln/>
        </p:spPr>
        <p:txBody>
          <a:bodyPr wrap="square" lIns="0" tIns="0" rIns="0" bIns="0" rtlCol="0" anchor="t"/>
          <a:lstStyle/>
          <a:p>
            <a:pPr marL="342900" indent="-342900">
              <a:lnSpc>
                <a:spcPct val="115000"/>
              </a:lnSpc>
              <a:spcAft>
                <a:spcPts val="700"/>
              </a:spcAft>
              <a:buSzPct val="100000"/>
              <a:buChar char="•"/>
            </a:pPr>
            <a:r>
              <a:rPr lang="en-US" sz="1400" dirty="0">
                <a:solidFill>
                  <a:srgbClr val="1C2B3A"/>
                </a:solidFill>
                <a:latin typeface="Calibri" pitchFamily="34" charset="0"/>
                <a:ea typeface="Calibri" pitchFamily="34" charset="-122"/>
                <a:cs typeface="Calibri" pitchFamily="34" charset="-120"/>
              </a:rPr>
              <a:t>A person can be assigned the Employee role, the Approver role, or both.</a:t>
            </a:r>
            <a:endParaRPr lang="en-US" sz="1400" dirty="0"/>
          </a:p>
          <a:p>
            <a:pPr marL="342900" indent="-342900">
              <a:lnSpc>
                <a:spcPct val="115000"/>
              </a:lnSpc>
              <a:spcAft>
                <a:spcPts val="700"/>
              </a:spcAft>
              <a:buSzPct val="100000"/>
              <a:buChar char="•"/>
            </a:pPr>
            <a:r>
              <a:rPr lang="en-US" sz="1400" dirty="0">
                <a:solidFill>
                  <a:srgbClr val="1C2B3A"/>
                </a:solidFill>
                <a:latin typeface="Calibri" pitchFamily="34" charset="0"/>
                <a:ea typeface="Calibri" pitchFamily="34" charset="-122"/>
                <a:cs typeface="Calibri" pitchFamily="34" charset="-120"/>
              </a:rPr>
              <a:t>When they hold both, a Module switcher appears — sidebar on the web, a bar above the tabs on the phone.</a:t>
            </a:r>
            <a:endParaRPr lang="en-US" sz="1400" dirty="0"/>
          </a:p>
          <a:p>
            <a:pPr marL="342900" indent="-342900">
              <a:lnSpc>
                <a:spcPct val="115000"/>
              </a:lnSpc>
              <a:spcAft>
                <a:spcPts val="700"/>
              </a:spcAft>
              <a:buSzPct val="100000"/>
              <a:buChar char="•"/>
            </a:pPr>
            <a:r>
              <a:rPr lang="en-US" sz="1400" dirty="0">
                <a:solidFill>
                  <a:srgbClr val="1C2B3A"/>
                </a:solidFill>
                <a:latin typeface="Calibri" pitchFamily="34" charset="0"/>
                <a:ea typeface="Calibri" pitchFamily="34" charset="-122"/>
                <a:cs typeface="Calibri" pitchFamily="34" charset="-120"/>
              </a:rPr>
              <a:t>Switching changes what the whole session can do, checked on the server on every request.</a:t>
            </a:r>
            <a:endParaRPr lang="en-US" sz="1400" dirty="0"/>
          </a:p>
          <a:p>
            <a:pPr marL="342900" indent="-342900">
              <a:lnSpc>
                <a:spcPct val="115000"/>
              </a:lnSpc>
              <a:spcAft>
                <a:spcPts val="700"/>
              </a:spcAft>
              <a:buSzPct val="100000"/>
              <a:buChar char="•"/>
            </a:pPr>
            <a:r>
              <a:rPr lang="en-US" sz="1400" dirty="0">
                <a:solidFill>
                  <a:srgbClr val="1C2B3A"/>
                </a:solidFill>
                <a:latin typeface="Calibri" pitchFamily="34" charset="0"/>
                <a:ea typeface="Calibri" pitchFamily="34" charset="-122"/>
                <a:cs typeface="Calibri" pitchFamily="34" charset="-120"/>
              </a:rPr>
              <a:t>Store and Admin stay standalone: those log-ins hold that module on its own.</a:t>
            </a:r>
            <a:endParaRPr lang="en-US" sz="1400" dirty="0"/>
          </a:p>
        </p:txBody>
      </p:sp>
      <p:sp>
        <p:nvSpPr>
          <p:cNvPr id="5" name="Shape 3"/>
          <p:cNvSpPr/>
          <p:nvPr/>
        </p:nvSpPr>
        <p:spPr>
          <a:xfrm>
            <a:off x="566928" y="4160520"/>
            <a:ext cx="4572000" cy="1600200"/>
          </a:xfrm>
          <a:prstGeom prst="roundRect">
            <a:avLst>
              <a:gd name="adj" fmla="val 5143"/>
            </a:avLst>
          </a:prstGeom>
          <a:solidFill>
            <a:srgbClr val="0F2A43"/>
          </a:solidFill>
          <a:ln w="12700">
            <a:solidFill>
              <a:srgbClr val="0F2A43"/>
            </a:solidFill>
            <a:prstDash val="solid"/>
          </a:ln>
          <a:effectLst>
            <a:outerShdw sx="100000" sy="100000" kx="0" ky="0" algn="bl" rotWithShape="0" blurRad="177800" dist="38100" dir="5400000">
              <a:srgbClr val="0F2A43">
                <a:alpha val="13000"/>
              </a:srgbClr>
            </a:outerShdw>
          </a:effectLst>
        </p:spPr>
      </p:sp>
      <p:sp>
        <p:nvSpPr>
          <p:cNvPr id="6" name="Text 4"/>
          <p:cNvSpPr txBox="1"/>
          <p:nvPr/>
        </p:nvSpPr>
        <p:spPr>
          <a:xfrm>
            <a:off x="841248" y="4343400"/>
            <a:ext cx="4023360" cy="274320"/>
          </a:xfrm>
          <a:prstGeom prst="rect">
            <a:avLst/>
          </a:prstGeom>
          <a:noFill/>
          <a:ln/>
        </p:spPr>
        <p:txBody>
          <a:bodyPr wrap="square" lIns="0" tIns="0" rIns="0" bIns="0" rtlCol="0" anchor="ctr"/>
          <a:lstStyle/>
          <a:p>
            <a:pPr indent="0" marL="0">
              <a:buNone/>
            </a:pPr>
            <a:r>
              <a:rPr lang="en-US" sz="1100" b="1" spc="120" kern="0" dirty="0">
                <a:solidFill>
                  <a:srgbClr val="F4791F"/>
                </a:solidFill>
                <a:latin typeface="Calibri" pitchFamily="34" charset="0"/>
                <a:ea typeface="Calibri" pitchFamily="34" charset="-122"/>
                <a:cs typeface="Calibri" pitchFamily="34" charset="-120"/>
              </a:rPr>
              <a:t>Why it matters</a:t>
            </a:r>
            <a:endParaRPr lang="en-US" sz="1100" dirty="0"/>
          </a:p>
        </p:txBody>
      </p:sp>
      <p:sp>
        <p:nvSpPr>
          <p:cNvPr id="7" name="Text 5"/>
          <p:cNvSpPr txBox="1"/>
          <p:nvPr/>
        </p:nvSpPr>
        <p:spPr>
          <a:xfrm>
            <a:off x="841248" y="4645152"/>
            <a:ext cx="4069080" cy="914400"/>
          </a:xfrm>
          <a:prstGeom prst="rect">
            <a:avLst/>
          </a:prstGeom>
          <a:noFill/>
          <a:ln/>
        </p:spPr>
        <p:txBody>
          <a:bodyPr wrap="square" lIns="0" tIns="0" rIns="0" bIns="0" rtlCol="0" anchor="ctr"/>
          <a:lstStyle/>
          <a:p>
            <a:pPr indent="0" marL="0">
              <a:lnSpc>
                <a:spcPct val="115000"/>
              </a:lnSpc>
              <a:buNone/>
            </a:pPr>
            <a:r>
              <a:rPr lang="en-US" sz="1300" dirty="0">
                <a:solidFill>
                  <a:srgbClr val="CFE0EF"/>
                </a:solidFill>
                <a:latin typeface="Calibri" pitchFamily="34" charset="0"/>
                <a:ea typeface="Calibri" pitchFamily="34" charset="-122"/>
                <a:cs typeface="Calibri" pitchFamily="34" charset="-120"/>
              </a:rPr>
              <a:t>A supervisor who approves for EGA and also orders their own PPE needs one set of credentials, not two.</a:t>
            </a:r>
            <a:endParaRPr lang="en-US" sz="1300" dirty="0"/>
          </a:p>
        </p:txBody>
      </p:sp>
      <p:sp>
        <p:nvSpPr>
          <p:cNvPr id="8" name="Shape 6"/>
          <p:cNvSpPr/>
          <p:nvPr/>
        </p:nvSpPr>
        <p:spPr>
          <a:xfrm>
            <a:off x="5422392" y="2266115"/>
            <a:ext cx="6300216" cy="2782970"/>
          </a:xfrm>
          <a:prstGeom prst="roundRect">
            <a:avLst>
              <a:gd name="adj" fmla="val 1971"/>
            </a:avLst>
          </a:prstGeom>
          <a:solidFill>
            <a:srgbClr val="FFFFFF"/>
          </a:solidFill>
          <a:ln w="12700">
            <a:solidFill>
              <a:srgbClr val="DCE4EC"/>
            </a:solidFill>
            <a:prstDash val="solid"/>
          </a:ln>
          <a:effectLst>
            <a:outerShdw sx="100000" sy="100000" kx="0" ky="0" algn="bl" rotWithShape="0" blurRad="177800" dist="38100" dir="5400000">
              <a:srgbClr val="0F2A43">
                <a:alpha val="13000"/>
              </a:srgbClr>
            </a:outerShdw>
          </a:effectLst>
        </p:spPr>
      </p:sp>
      <p:pic>
        <p:nvPicPr>
          <p:cNvPr id="9" name="Image 0" descr="/tmp/deck/04-shop-crop.png">    </p:cNvPr>
          <p:cNvPicPr>
            <a:picLocks noChangeAspect="1"/>
          </p:cNvPicPr>
          <p:nvPr/>
        </p:nvPicPr>
        <p:blipFill>
          <a:blip r:embed="rId1"/>
          <a:stretch>
            <a:fillRect/>
          </a:stretch>
        </p:blipFill>
        <p:spPr>
          <a:xfrm>
            <a:off x="5486400" y="2330123"/>
            <a:ext cx="6172200" cy="265495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2A43"/>
        </a:solidFill>
      </p:bgPr>
    </p:bg>
    <p:spTree>
      <p:nvGrpSpPr>
        <p:cNvPr id="1" name=""/>
        <p:cNvGrpSpPr/>
        <p:nvPr/>
      </p:nvGrpSpPr>
      <p:grpSpPr>
        <a:xfrm>
          <a:off x="0" y="0"/>
          <a:ext cx="0" cy="0"/>
          <a:chOff x="0" y="0"/>
          <a:chExt cx="0" cy="0"/>
        </a:xfrm>
      </p:grpSpPr>
      <p:sp>
        <p:nvSpPr>
          <p:cNvPr id="2" name="Shape 0"/>
          <p:cNvSpPr/>
          <p:nvPr/>
        </p:nvSpPr>
        <p:spPr>
          <a:xfrm>
            <a:off x="9418320" y="-1463040"/>
            <a:ext cx="4937760" cy="4937760"/>
          </a:xfrm>
          <a:prstGeom prst="ellipse">
            <a:avLst/>
          </a:prstGeom>
          <a:solidFill>
            <a:srgbClr val="16385A"/>
          </a:solidFill>
          <a:ln w="12700">
            <a:solidFill>
              <a:srgbClr val="16385A"/>
            </a:solidFill>
            <a:prstDash val="solid"/>
          </a:ln>
        </p:spPr>
      </p:sp>
      <p:sp>
        <p:nvSpPr>
          <p:cNvPr id="3" name="Text 1"/>
          <p:cNvSpPr txBox="1"/>
          <p:nvPr/>
        </p:nvSpPr>
        <p:spPr>
          <a:xfrm>
            <a:off x="566928" y="2148840"/>
            <a:ext cx="1828800" cy="1005840"/>
          </a:xfrm>
          <a:prstGeom prst="rect">
            <a:avLst/>
          </a:prstGeom>
          <a:noFill/>
          <a:ln/>
        </p:spPr>
        <p:txBody>
          <a:bodyPr wrap="square" lIns="0" tIns="0" rIns="0" bIns="0" rtlCol="0" anchor="ctr"/>
          <a:lstStyle/>
          <a:p>
            <a:pPr indent="0" marL="0">
              <a:buNone/>
            </a:pPr>
            <a:r>
              <a:rPr lang="en-US" sz="5600" b="1" dirty="0">
                <a:solidFill>
                  <a:srgbClr val="F4791F"/>
                </a:solidFill>
                <a:latin typeface="Cambria" pitchFamily="34" charset="0"/>
                <a:ea typeface="Cambria" pitchFamily="34" charset="-122"/>
                <a:cs typeface="Cambria" pitchFamily="34" charset="-120"/>
              </a:rPr>
              <a:t>02</a:t>
            </a:r>
            <a:endParaRPr lang="en-US" sz="5600" dirty="0"/>
          </a:p>
        </p:txBody>
      </p:sp>
      <p:sp>
        <p:nvSpPr>
          <p:cNvPr id="4" name="Text 2"/>
          <p:cNvSpPr txBox="1"/>
          <p:nvPr/>
        </p:nvSpPr>
        <p:spPr>
          <a:xfrm>
            <a:off x="566928" y="3154680"/>
            <a:ext cx="9144000" cy="73152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Getting people in</a:t>
            </a:r>
            <a:endParaRPr lang="en-US" sz="3800" dirty="0"/>
          </a:p>
        </p:txBody>
      </p:sp>
      <p:sp>
        <p:nvSpPr>
          <p:cNvPr id="5" name="Text 3"/>
          <p:cNvSpPr txBox="1"/>
          <p:nvPr/>
        </p:nvSpPr>
        <p:spPr>
          <a:xfrm>
            <a:off x="566928" y="3977640"/>
            <a:ext cx="8595360" cy="457200"/>
          </a:xfrm>
          <a:prstGeom prst="rect">
            <a:avLst/>
          </a:prstGeom>
          <a:noFill/>
          <a:ln/>
        </p:spPr>
        <p:txBody>
          <a:bodyPr wrap="square" lIns="0" tIns="0" rIns="0" bIns="0" rtlCol="0" anchor="ctr"/>
          <a:lstStyle/>
          <a:p>
            <a:pPr indent="0" marL="0">
              <a:buNone/>
            </a:pPr>
            <a:r>
              <a:rPr lang="en-US" sz="1500" dirty="0">
                <a:solidFill>
                  <a:srgbClr val="A9C3DA"/>
                </a:solidFill>
                <a:latin typeface="Calibri" pitchFamily="34" charset="0"/>
                <a:ea typeface="Calibri" pitchFamily="34" charset="-122"/>
                <a:cs typeface="Calibri" pitchFamily="34" charset="-120"/>
              </a:rPr>
              <a:t>The Employee Master, registration and activation</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2F5F9"/>
        </a:solidFill>
      </p:bgPr>
    </p:bg>
    <p:spTree>
      <p:nvGrpSpPr>
        <p:cNvPr id="1" name=""/>
        <p:cNvGrpSpPr/>
        <p:nvPr/>
      </p:nvGrpSpPr>
      <p:grpSpPr>
        <a:xfrm>
          <a:off x="0" y="0"/>
          <a:ext cx="0" cy="0"/>
          <a:chOff x="0" y="0"/>
          <a:chExt cx="0" cy="0"/>
        </a:xfrm>
      </p:grpSpPr>
      <p:sp>
        <p:nvSpPr>
          <p:cNvPr id="2" name="Text 0"/>
          <p:cNvSpPr txBox="1"/>
          <p:nvPr/>
        </p:nvSpPr>
        <p:spPr>
          <a:xfrm>
            <a:off x="566928" y="420624"/>
            <a:ext cx="10058400" cy="237744"/>
          </a:xfrm>
          <a:prstGeom prst="rect">
            <a:avLst/>
          </a:prstGeom>
          <a:noFill/>
          <a:ln/>
        </p:spPr>
        <p:txBody>
          <a:bodyPr wrap="square" lIns="0" tIns="0" rIns="0" bIns="0" rtlCol="0" anchor="ctr"/>
          <a:lstStyle/>
          <a:p>
            <a:pPr indent="0" marL="0">
              <a:buNone/>
            </a:pPr>
            <a:r>
              <a:rPr lang="en-US" sz="1100" b="1" spc="160" kern="0" dirty="0">
                <a:solidFill>
                  <a:srgbClr val="F4791F"/>
                </a:solidFill>
                <a:latin typeface="Calibri" pitchFamily="34" charset="0"/>
                <a:ea typeface="Calibri" pitchFamily="34" charset="-122"/>
                <a:cs typeface="Calibri" pitchFamily="34" charset="-120"/>
              </a:rPr>
              <a:t>MASTER DATA</a:t>
            </a:r>
            <a:endParaRPr lang="en-US" sz="1100" dirty="0"/>
          </a:p>
        </p:txBody>
      </p:sp>
      <p:sp>
        <p:nvSpPr>
          <p:cNvPr id="3" name="Text 1"/>
          <p:cNvSpPr txBox="1"/>
          <p:nvPr/>
        </p:nvSpPr>
        <p:spPr>
          <a:xfrm>
            <a:off x="566928" y="676656"/>
            <a:ext cx="11064240" cy="566928"/>
          </a:xfrm>
          <a:prstGeom prst="rect">
            <a:avLst/>
          </a:prstGeom>
          <a:noFill/>
          <a:ln/>
        </p:spPr>
        <p:txBody>
          <a:bodyPr wrap="square" lIns="0" tIns="0" rIns="0" bIns="0" rtlCol="0" anchor="ctr"/>
          <a:lstStyle/>
          <a:p>
            <a:pPr indent="0" marL="0">
              <a:buNone/>
            </a:pPr>
            <a:r>
              <a:rPr lang="en-US" sz="3200" b="1" dirty="0">
                <a:solidFill>
                  <a:srgbClr val="0F2A43"/>
                </a:solidFill>
                <a:latin typeface="Cambria" pitchFamily="34" charset="0"/>
                <a:ea typeface="Cambria" pitchFamily="34" charset="-122"/>
                <a:cs typeface="Cambria" pitchFamily="34" charset="-120"/>
              </a:rPr>
              <a:t>The Employee Master is the gate</a:t>
            </a:r>
            <a:endParaRPr lang="en-US" sz="3200" dirty="0"/>
          </a:p>
        </p:txBody>
      </p:sp>
      <p:sp>
        <p:nvSpPr>
          <p:cNvPr id="4" name="Text 2"/>
          <p:cNvSpPr txBox="1"/>
          <p:nvPr/>
        </p:nvSpPr>
        <p:spPr>
          <a:xfrm>
            <a:off x="566928" y="1554480"/>
            <a:ext cx="4434840" cy="2377440"/>
          </a:xfrm>
          <a:prstGeom prst="rect">
            <a:avLst/>
          </a:prstGeom>
          <a:noFill/>
          <a:ln/>
        </p:spPr>
        <p:txBody>
          <a:bodyPr wrap="square" lIns="0" tIns="0" rIns="0" bIns="0" rtlCol="0" anchor="t"/>
          <a:lstStyle/>
          <a:p>
            <a:pPr marL="342900" indent="-342900">
              <a:lnSpc>
                <a:spcPct val="115000"/>
              </a:lnSpc>
              <a:spcAft>
                <a:spcPts val="700"/>
              </a:spcAft>
              <a:buSzPct val="100000"/>
              <a:buChar char="•"/>
            </a:pPr>
            <a:r>
              <a:rPr lang="en-US" sz="1400" dirty="0">
                <a:solidFill>
                  <a:srgbClr val="1C2B3A"/>
                </a:solidFill>
                <a:latin typeface="Calibri" pitchFamily="34" charset="0"/>
                <a:ea typeface="Calibri" pitchFamily="34" charset="-122"/>
                <a:cs typeface="Calibri" pitchFamily="34" charset="-120"/>
              </a:rPr>
              <a:t>PROSAFE loads the EGA employee list: Employee ID, name, customer, department, location, mobile, telephone and e-mail.</a:t>
            </a:r>
            <a:endParaRPr lang="en-US" sz="1400" dirty="0"/>
          </a:p>
          <a:p>
            <a:pPr marL="342900" indent="-342900">
              <a:lnSpc>
                <a:spcPct val="115000"/>
              </a:lnSpc>
              <a:spcAft>
                <a:spcPts val="700"/>
              </a:spcAft>
              <a:buSzPct val="100000"/>
              <a:buChar char="•"/>
            </a:pPr>
            <a:r>
              <a:rPr lang="en-US" sz="1400" dirty="0">
                <a:solidFill>
                  <a:srgbClr val="1C2B3A"/>
                </a:solidFill>
                <a:latin typeface="Calibri" pitchFamily="34" charset="0"/>
                <a:ea typeface="Calibri" pitchFamily="34" charset="-122"/>
                <a:cs typeface="Calibri" pitchFamily="34" charset="-120"/>
              </a:rPr>
              <a:t>Nobody can register unless they are on this list.</a:t>
            </a:r>
            <a:endParaRPr lang="en-US" sz="1400" dirty="0"/>
          </a:p>
          <a:p>
            <a:pPr marL="342900" indent="-342900">
              <a:lnSpc>
                <a:spcPct val="115000"/>
              </a:lnSpc>
              <a:spcAft>
                <a:spcPts val="700"/>
              </a:spcAft>
              <a:buSzPct val="100000"/>
              <a:buChar char="•"/>
            </a:pPr>
            <a:r>
              <a:rPr lang="en-US" sz="1400" dirty="0">
                <a:solidFill>
                  <a:srgbClr val="1C2B3A"/>
                </a:solidFill>
                <a:latin typeface="Calibri" pitchFamily="34" charset="0"/>
                <a:ea typeface="Calibri" pitchFamily="34" charset="-122"/>
                <a:cs typeface="Calibri" pitchFamily="34" charset="-120"/>
              </a:rPr>
              <a:t>It is maintained in the Admin Module and can be edited at any time.</a:t>
            </a:r>
            <a:endParaRPr lang="en-US" sz="1400" dirty="0"/>
          </a:p>
          <a:p>
            <a:pPr marL="342900" indent="-342900">
              <a:lnSpc>
                <a:spcPct val="115000"/>
              </a:lnSpc>
              <a:spcAft>
                <a:spcPts val="700"/>
              </a:spcAft>
              <a:buSzPct val="100000"/>
              <a:buChar char="•"/>
            </a:pPr>
            <a:r>
              <a:rPr lang="en-US" sz="1400" dirty="0">
                <a:solidFill>
                  <a:srgbClr val="1C2B3A"/>
                </a:solidFill>
                <a:latin typeface="Calibri" pitchFamily="34" charset="0"/>
                <a:ea typeface="Calibri" pitchFamily="34" charset="-122"/>
                <a:cs typeface="Calibri" pitchFamily="34" charset="-120"/>
              </a:rPr>
              <a:t>It is the single place an employee's department or location is corrected.</a:t>
            </a:r>
            <a:endParaRPr lang="en-US" sz="1400" dirty="0"/>
          </a:p>
        </p:txBody>
      </p:sp>
      <p:sp>
        <p:nvSpPr>
          <p:cNvPr id="5" name="Shape 3"/>
          <p:cNvSpPr/>
          <p:nvPr/>
        </p:nvSpPr>
        <p:spPr>
          <a:xfrm>
            <a:off x="5193792" y="2135057"/>
            <a:ext cx="6528816" cy="3173102"/>
          </a:xfrm>
          <a:prstGeom prst="roundRect">
            <a:avLst>
              <a:gd name="adj" fmla="val 1729"/>
            </a:avLst>
          </a:prstGeom>
          <a:solidFill>
            <a:srgbClr val="FFFFFF"/>
          </a:solidFill>
          <a:ln w="12700">
            <a:solidFill>
              <a:srgbClr val="DCE4EC"/>
            </a:solidFill>
            <a:prstDash val="solid"/>
          </a:ln>
          <a:effectLst>
            <a:outerShdw sx="100000" sy="100000" kx="0" ky="0" algn="bl" rotWithShape="0" blurRad="177800" dist="38100" dir="5400000">
              <a:srgbClr val="0F2A43">
                <a:alpha val="13000"/>
              </a:srgbClr>
            </a:outerShdw>
          </a:effectLst>
        </p:spPr>
      </p:sp>
      <p:pic>
        <p:nvPicPr>
          <p:cNvPr id="6" name="Image 0" descr="/tmp/deck/16-employee-master-crop.png">    </p:cNvPr>
          <p:cNvPicPr>
            <a:picLocks noChangeAspect="1"/>
          </p:cNvPicPr>
          <p:nvPr/>
        </p:nvPicPr>
        <p:blipFill>
          <a:blip r:embed="rId1"/>
          <a:stretch>
            <a:fillRect/>
          </a:stretch>
        </p:blipFill>
        <p:spPr>
          <a:xfrm>
            <a:off x="5257800" y="2199065"/>
            <a:ext cx="6400800" cy="304508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2F5F9"/>
        </a:solidFill>
      </p:bgPr>
    </p:bg>
    <p:spTree>
      <p:nvGrpSpPr>
        <p:cNvPr id="1" name=""/>
        <p:cNvGrpSpPr/>
        <p:nvPr/>
      </p:nvGrpSpPr>
      <p:grpSpPr>
        <a:xfrm>
          <a:off x="0" y="0"/>
          <a:ext cx="0" cy="0"/>
          <a:chOff x="0" y="0"/>
          <a:chExt cx="0" cy="0"/>
        </a:xfrm>
      </p:grpSpPr>
      <p:sp>
        <p:nvSpPr>
          <p:cNvPr id="2" name="Text 0"/>
          <p:cNvSpPr txBox="1"/>
          <p:nvPr/>
        </p:nvSpPr>
        <p:spPr>
          <a:xfrm>
            <a:off x="566928" y="420624"/>
            <a:ext cx="10058400" cy="237744"/>
          </a:xfrm>
          <a:prstGeom prst="rect">
            <a:avLst/>
          </a:prstGeom>
          <a:noFill/>
          <a:ln/>
        </p:spPr>
        <p:txBody>
          <a:bodyPr wrap="square" lIns="0" tIns="0" rIns="0" bIns="0" rtlCol="0" anchor="ctr"/>
          <a:lstStyle/>
          <a:p>
            <a:pPr indent="0" marL="0">
              <a:buNone/>
            </a:pPr>
            <a:r>
              <a:rPr lang="en-US" sz="1100" b="1" spc="160" kern="0" dirty="0">
                <a:solidFill>
                  <a:srgbClr val="F4791F"/>
                </a:solidFill>
                <a:latin typeface="Calibri" pitchFamily="34" charset="0"/>
                <a:ea typeface="Calibri" pitchFamily="34" charset="-122"/>
                <a:cs typeface="Calibri" pitchFamily="34" charset="-120"/>
              </a:rPr>
              <a:t>REGISTRATION · STEP 1</a:t>
            </a:r>
            <a:endParaRPr lang="en-US" sz="1100" dirty="0"/>
          </a:p>
        </p:txBody>
      </p:sp>
      <p:sp>
        <p:nvSpPr>
          <p:cNvPr id="3" name="Text 1"/>
          <p:cNvSpPr txBox="1"/>
          <p:nvPr/>
        </p:nvSpPr>
        <p:spPr>
          <a:xfrm>
            <a:off x="566928" y="676656"/>
            <a:ext cx="11064240" cy="566928"/>
          </a:xfrm>
          <a:prstGeom prst="rect">
            <a:avLst/>
          </a:prstGeom>
          <a:noFill/>
          <a:ln/>
        </p:spPr>
        <p:txBody>
          <a:bodyPr wrap="square" lIns="0" tIns="0" rIns="0" bIns="0" rtlCol="0" anchor="ctr"/>
          <a:lstStyle/>
          <a:p>
            <a:pPr indent="0" marL="0">
              <a:buNone/>
            </a:pPr>
            <a:r>
              <a:rPr lang="en-US" sz="3200" b="1" dirty="0">
                <a:solidFill>
                  <a:srgbClr val="0F2A43"/>
                </a:solidFill>
                <a:latin typeface="Cambria" pitchFamily="34" charset="0"/>
                <a:ea typeface="Cambria" pitchFamily="34" charset="-122"/>
                <a:cs typeface="Cambria" pitchFamily="34" charset="-120"/>
              </a:rPr>
              <a:t>Two data points are checked before anything else</a:t>
            </a:r>
            <a:endParaRPr lang="en-US" sz="3200" dirty="0"/>
          </a:p>
        </p:txBody>
      </p:sp>
      <p:sp>
        <p:nvSpPr>
          <p:cNvPr id="4" name="Shape 2"/>
          <p:cNvSpPr/>
          <p:nvPr/>
        </p:nvSpPr>
        <p:spPr>
          <a:xfrm>
            <a:off x="502920" y="2105809"/>
            <a:ext cx="5065776" cy="3323037"/>
          </a:xfrm>
          <a:prstGeom prst="roundRect">
            <a:avLst>
              <a:gd name="adj" fmla="val 1651"/>
            </a:avLst>
          </a:prstGeom>
          <a:solidFill>
            <a:srgbClr val="FFFFFF"/>
          </a:solidFill>
          <a:ln w="12700">
            <a:solidFill>
              <a:srgbClr val="DCE4EC"/>
            </a:solidFill>
            <a:prstDash val="solid"/>
          </a:ln>
          <a:effectLst>
            <a:outerShdw sx="100000" sy="100000" kx="0" ky="0" algn="bl" rotWithShape="0" blurRad="177800" dist="38100" dir="5400000">
              <a:srgbClr val="0F2A43">
                <a:alpha val="13000"/>
              </a:srgbClr>
            </a:outerShdw>
          </a:effectLst>
        </p:spPr>
      </p:sp>
      <p:pic>
        <p:nvPicPr>
          <p:cNvPr id="5" name="Image 0" descr="/tmp/deck/02-register-step1-crop.png">    </p:cNvPr>
          <p:cNvPicPr>
            <a:picLocks noChangeAspect="1"/>
          </p:cNvPicPr>
          <p:nvPr/>
        </p:nvPicPr>
        <p:blipFill>
          <a:blip r:embed="rId1"/>
          <a:stretch>
            <a:fillRect/>
          </a:stretch>
        </p:blipFill>
        <p:spPr>
          <a:xfrm>
            <a:off x="566928" y="2169817"/>
            <a:ext cx="4937760" cy="3195021"/>
          </a:xfrm>
          <a:prstGeom prst="rect">
            <a:avLst/>
          </a:prstGeom>
        </p:spPr>
      </p:pic>
      <p:sp>
        <p:nvSpPr>
          <p:cNvPr id="6" name="Text 3"/>
          <p:cNvSpPr txBox="1"/>
          <p:nvPr/>
        </p:nvSpPr>
        <p:spPr>
          <a:xfrm>
            <a:off x="5943600" y="1600200"/>
            <a:ext cx="5669280" cy="2011680"/>
          </a:xfrm>
          <a:prstGeom prst="rect">
            <a:avLst/>
          </a:prstGeom>
          <a:noFill/>
          <a:ln/>
        </p:spPr>
        <p:txBody>
          <a:bodyPr wrap="square" lIns="0" tIns="0" rIns="0" bIns="0" rtlCol="0" anchor="t"/>
          <a:lstStyle/>
          <a:p>
            <a:pPr marL="342900" indent="-342900">
              <a:lnSpc>
                <a:spcPct val="115000"/>
              </a:lnSpc>
              <a:spcAft>
                <a:spcPts val="700"/>
              </a:spcAft>
              <a:buSzPct val="100000"/>
              <a:buChar char="•"/>
            </a:pPr>
            <a:r>
              <a:rPr lang="en-US" sz="1400" dirty="0">
                <a:solidFill>
                  <a:srgbClr val="1C2B3A"/>
                </a:solidFill>
                <a:latin typeface="Calibri" pitchFamily="34" charset="0"/>
                <a:ea typeface="Calibri" pitchFamily="34" charset="-122"/>
                <a:cs typeface="Calibri" pitchFamily="34" charset="-120"/>
              </a:rPr>
              <a:t>The employee gives their Employee ID and Mobile Phone.</a:t>
            </a:r>
            <a:endParaRPr lang="en-US" sz="1400" dirty="0"/>
          </a:p>
          <a:p>
            <a:pPr marL="342900" indent="-342900">
              <a:lnSpc>
                <a:spcPct val="115000"/>
              </a:lnSpc>
              <a:spcAft>
                <a:spcPts val="700"/>
              </a:spcAft>
              <a:buSzPct val="100000"/>
              <a:buChar char="•"/>
            </a:pPr>
            <a:r>
              <a:rPr lang="en-US" sz="1400" dirty="0">
                <a:solidFill>
                  <a:srgbClr val="1C2B3A"/>
                </a:solidFill>
                <a:latin typeface="Calibri" pitchFamily="34" charset="0"/>
                <a:ea typeface="Calibri" pitchFamily="34" charset="-122"/>
                <a:cs typeface="Calibri" pitchFamily="34" charset="-120"/>
              </a:rPr>
              <a:t>Both are checked against the Employee Master — the ID must exist and the mobile number must match that same record.</a:t>
            </a:r>
            <a:endParaRPr lang="en-US" sz="1400" dirty="0"/>
          </a:p>
          <a:p>
            <a:pPr marL="342900" indent="-342900">
              <a:lnSpc>
                <a:spcPct val="115000"/>
              </a:lnSpc>
              <a:spcAft>
                <a:spcPts val="700"/>
              </a:spcAft>
              <a:buSzPct val="100000"/>
              <a:buChar char="•"/>
            </a:pPr>
            <a:r>
              <a:rPr lang="en-US" sz="1400" dirty="0">
                <a:solidFill>
                  <a:srgbClr val="1C2B3A"/>
                </a:solidFill>
                <a:latin typeface="Calibri" pitchFamily="34" charset="0"/>
                <a:ea typeface="Calibri" pitchFamily="34" charset="-122"/>
                <a:cs typeface="Calibri" pitchFamily="34" charset="-120"/>
              </a:rPr>
              <a:t>If either fails, registration stops here and no account is created.</a:t>
            </a:r>
            <a:endParaRPr lang="en-US" sz="1400" dirty="0"/>
          </a:p>
        </p:txBody>
      </p:sp>
      <p:sp>
        <p:nvSpPr>
          <p:cNvPr id="7" name="Shape 4"/>
          <p:cNvSpPr/>
          <p:nvPr/>
        </p:nvSpPr>
        <p:spPr>
          <a:xfrm>
            <a:off x="5943600" y="3794760"/>
            <a:ext cx="5669280" cy="1737360"/>
          </a:xfrm>
          <a:prstGeom prst="roundRect">
            <a:avLst>
              <a:gd name="adj" fmla="val 4737"/>
            </a:avLst>
          </a:prstGeom>
          <a:solidFill>
            <a:srgbClr val="FDECE1"/>
          </a:solidFill>
          <a:ln w="12700">
            <a:solidFill>
              <a:srgbClr val="FDECE1"/>
            </a:solidFill>
            <a:prstDash val="solid"/>
          </a:ln>
          <a:effectLst>
            <a:outerShdw sx="100000" sy="100000" kx="0" ky="0" algn="bl" rotWithShape="0" blurRad="177800" dist="38100" dir="5400000">
              <a:srgbClr val="0F2A43">
                <a:alpha val="13000"/>
              </a:srgbClr>
            </a:outerShdw>
          </a:effectLst>
        </p:spPr>
      </p:sp>
      <p:sp>
        <p:nvSpPr>
          <p:cNvPr id="8" name="Text 5"/>
          <p:cNvSpPr txBox="1"/>
          <p:nvPr/>
        </p:nvSpPr>
        <p:spPr>
          <a:xfrm>
            <a:off x="6236208" y="4005072"/>
            <a:ext cx="5029200" cy="292608"/>
          </a:xfrm>
          <a:prstGeom prst="rect">
            <a:avLst/>
          </a:prstGeom>
          <a:noFill/>
          <a:ln/>
        </p:spPr>
        <p:txBody>
          <a:bodyPr wrap="square" lIns="0" tIns="0" rIns="0" bIns="0" rtlCol="0" anchor="ctr"/>
          <a:lstStyle/>
          <a:p>
            <a:pPr indent="0" marL="0">
              <a:buNone/>
            </a:pPr>
            <a:r>
              <a:rPr lang="en-US" sz="1100" b="1" spc="120" kern="0" dirty="0">
                <a:solidFill>
                  <a:srgbClr val="D64545"/>
                </a:solidFill>
                <a:latin typeface="Calibri" pitchFamily="34" charset="0"/>
                <a:ea typeface="Calibri" pitchFamily="34" charset="-122"/>
                <a:cs typeface="Calibri" pitchFamily="34" charset="-120"/>
              </a:rPr>
              <a:t>Refused</a:t>
            </a:r>
            <a:endParaRPr lang="en-US" sz="1100" dirty="0"/>
          </a:p>
        </p:txBody>
      </p:sp>
      <p:sp>
        <p:nvSpPr>
          <p:cNvPr id="9" name="Text 6"/>
          <p:cNvSpPr txBox="1"/>
          <p:nvPr/>
        </p:nvSpPr>
        <p:spPr>
          <a:xfrm>
            <a:off x="6236208" y="4315968"/>
            <a:ext cx="5120640" cy="1005840"/>
          </a:xfrm>
          <a:prstGeom prst="rect">
            <a:avLst/>
          </a:prstGeom>
          <a:noFill/>
          <a:ln/>
        </p:spPr>
        <p:txBody>
          <a:bodyPr wrap="square" lIns="0" tIns="0" rIns="0" bIns="0" rtlCol="0" anchor="ctr"/>
          <a:lstStyle/>
          <a:p>
            <a:pPr indent="0" marL="0">
              <a:lnSpc>
                <a:spcPct val="115000"/>
              </a:lnSpc>
              <a:buNone/>
            </a:pPr>
            <a:r>
              <a:rPr lang="en-US" sz="1250" i="1" dirty="0">
                <a:solidFill>
                  <a:srgbClr val="8A2E1C"/>
                </a:solidFill>
                <a:latin typeface="Calibri" pitchFamily="34" charset="0"/>
                <a:ea typeface="Calibri" pitchFamily="34" charset="-122"/>
                <a:cs typeface="Calibri" pitchFamily="34" charset="-120"/>
              </a:rPr>
              <a:t>“Employee ID and Mobile Phone do not match the Employee Master — registration is not possible. Please contact your PROSAFE administrator.”</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2F5F9"/>
        </a:solidFill>
      </p:bgPr>
    </p:bg>
    <p:spTree>
      <p:nvGrpSpPr>
        <p:cNvPr id="1" name=""/>
        <p:cNvGrpSpPr/>
        <p:nvPr/>
      </p:nvGrpSpPr>
      <p:grpSpPr>
        <a:xfrm>
          <a:off x="0" y="0"/>
          <a:ext cx="0" cy="0"/>
          <a:chOff x="0" y="0"/>
          <a:chExt cx="0" cy="0"/>
        </a:xfrm>
      </p:grpSpPr>
      <p:sp>
        <p:nvSpPr>
          <p:cNvPr id="2" name="Text 0"/>
          <p:cNvSpPr txBox="1"/>
          <p:nvPr/>
        </p:nvSpPr>
        <p:spPr>
          <a:xfrm>
            <a:off x="566928" y="420624"/>
            <a:ext cx="10058400" cy="237744"/>
          </a:xfrm>
          <a:prstGeom prst="rect">
            <a:avLst/>
          </a:prstGeom>
          <a:noFill/>
          <a:ln/>
        </p:spPr>
        <p:txBody>
          <a:bodyPr wrap="square" lIns="0" tIns="0" rIns="0" bIns="0" rtlCol="0" anchor="ctr"/>
          <a:lstStyle/>
          <a:p>
            <a:pPr indent="0" marL="0">
              <a:buNone/>
            </a:pPr>
            <a:r>
              <a:rPr lang="en-US" sz="1100" b="1" spc="160" kern="0" dirty="0">
                <a:solidFill>
                  <a:srgbClr val="F4791F"/>
                </a:solidFill>
                <a:latin typeface="Calibri" pitchFamily="34" charset="0"/>
                <a:ea typeface="Calibri" pitchFamily="34" charset="-122"/>
                <a:cs typeface="Calibri" pitchFamily="34" charset="-120"/>
              </a:rPr>
              <a:t>REGISTRATION · STEP 2</a:t>
            </a:r>
            <a:endParaRPr lang="en-US" sz="1100" dirty="0"/>
          </a:p>
        </p:txBody>
      </p:sp>
      <p:sp>
        <p:nvSpPr>
          <p:cNvPr id="3" name="Text 1"/>
          <p:cNvSpPr txBox="1"/>
          <p:nvPr/>
        </p:nvSpPr>
        <p:spPr>
          <a:xfrm>
            <a:off x="566928" y="676656"/>
            <a:ext cx="11064240" cy="566928"/>
          </a:xfrm>
          <a:prstGeom prst="rect">
            <a:avLst/>
          </a:prstGeom>
          <a:noFill/>
          <a:ln/>
        </p:spPr>
        <p:txBody>
          <a:bodyPr wrap="square" lIns="0" tIns="0" rIns="0" bIns="0" rtlCol="0" anchor="ctr"/>
          <a:lstStyle/>
          <a:p>
            <a:pPr indent="0" marL="0">
              <a:buNone/>
            </a:pPr>
            <a:r>
              <a:rPr lang="en-US" sz="3200" b="1" dirty="0">
                <a:solidFill>
                  <a:srgbClr val="0F2A43"/>
                </a:solidFill>
                <a:latin typeface="Cambria" pitchFamily="34" charset="0"/>
                <a:ea typeface="Cambria" pitchFamily="34" charset="-122"/>
                <a:cs typeface="Cambria" pitchFamily="34" charset="-120"/>
              </a:rPr>
              <a:t>The rest of the form fills itself in</a:t>
            </a:r>
            <a:endParaRPr lang="en-US" sz="3200" dirty="0"/>
          </a:p>
        </p:txBody>
      </p:sp>
      <p:sp>
        <p:nvSpPr>
          <p:cNvPr id="4" name="Shape 2"/>
          <p:cNvSpPr/>
          <p:nvPr/>
        </p:nvSpPr>
        <p:spPr>
          <a:xfrm>
            <a:off x="6428232" y="2031851"/>
            <a:ext cx="5294376" cy="3470955"/>
          </a:xfrm>
          <a:prstGeom prst="roundRect">
            <a:avLst>
              <a:gd name="adj" fmla="val 1581"/>
            </a:avLst>
          </a:prstGeom>
          <a:solidFill>
            <a:srgbClr val="FFFFFF"/>
          </a:solidFill>
          <a:ln w="12700">
            <a:solidFill>
              <a:srgbClr val="DCE4EC"/>
            </a:solidFill>
            <a:prstDash val="solid"/>
          </a:ln>
          <a:effectLst>
            <a:outerShdw sx="100000" sy="100000" kx="0" ky="0" algn="bl" rotWithShape="0" blurRad="177800" dist="38100" dir="5400000">
              <a:srgbClr val="0F2A43">
                <a:alpha val="13000"/>
              </a:srgbClr>
            </a:outerShdw>
          </a:effectLst>
        </p:spPr>
      </p:sp>
      <p:pic>
        <p:nvPicPr>
          <p:cNvPr id="5" name="Image 0" descr="/tmp/deck/03-register-step2-crop.png">    </p:cNvPr>
          <p:cNvPicPr>
            <a:picLocks noChangeAspect="1"/>
          </p:cNvPicPr>
          <p:nvPr/>
        </p:nvPicPr>
        <p:blipFill>
          <a:blip r:embed="rId1"/>
          <a:stretch>
            <a:fillRect/>
          </a:stretch>
        </p:blipFill>
        <p:spPr>
          <a:xfrm>
            <a:off x="6492240" y="2095859"/>
            <a:ext cx="5166360" cy="3342939"/>
          </a:xfrm>
          <a:prstGeom prst="rect">
            <a:avLst/>
          </a:prstGeom>
        </p:spPr>
      </p:pic>
      <p:sp>
        <p:nvSpPr>
          <p:cNvPr id="6" name="Text 3"/>
          <p:cNvSpPr txBox="1"/>
          <p:nvPr/>
        </p:nvSpPr>
        <p:spPr>
          <a:xfrm>
            <a:off x="566928" y="1600200"/>
            <a:ext cx="5577840" cy="2743200"/>
          </a:xfrm>
          <a:prstGeom prst="rect">
            <a:avLst/>
          </a:prstGeom>
          <a:noFill/>
          <a:ln/>
        </p:spPr>
        <p:txBody>
          <a:bodyPr wrap="square" lIns="0" tIns="0" rIns="0" bIns="0" rtlCol="0" anchor="t"/>
          <a:lstStyle/>
          <a:p>
            <a:pPr marL="342900" indent="-342900">
              <a:lnSpc>
                <a:spcPct val="115000"/>
              </a:lnSpc>
              <a:spcAft>
                <a:spcPts val="700"/>
              </a:spcAft>
              <a:buSzPct val="100000"/>
              <a:buChar char="•"/>
            </a:pPr>
            <a:r>
              <a:rPr lang="en-US" sz="1400" dirty="0">
                <a:solidFill>
                  <a:srgbClr val="1C2B3A"/>
                </a:solidFill>
                <a:latin typeface="Calibri" pitchFamily="34" charset="0"/>
                <a:ea typeface="Calibri" pitchFamily="34" charset="-122"/>
                <a:cs typeface="Calibri" pitchFamily="34" charset="-120"/>
              </a:rPr>
              <a:t>Name, customer, department and location come straight from the master — the employee cannot mistype them.</a:t>
            </a:r>
            <a:endParaRPr lang="en-US" sz="1400" dirty="0"/>
          </a:p>
          <a:p>
            <a:pPr marL="342900" indent="-342900">
              <a:lnSpc>
                <a:spcPct val="115000"/>
              </a:lnSpc>
              <a:spcAft>
                <a:spcPts val="700"/>
              </a:spcAft>
              <a:buSzPct val="100000"/>
              <a:buChar char="•"/>
            </a:pPr>
            <a:r>
              <a:rPr lang="en-US" sz="1400" dirty="0">
                <a:solidFill>
                  <a:srgbClr val="1C2B3A"/>
                </a:solidFill>
                <a:latin typeface="Calibri" pitchFamily="34" charset="0"/>
                <a:ea typeface="Calibri" pitchFamily="34" charset="-122"/>
                <a:cs typeface="Calibri" pitchFamily="34" charset="-120"/>
              </a:rPr>
              <a:t>They choose only a user name (up to 8 characters) and a password (minimum 6, confirmed).</a:t>
            </a:r>
            <a:endParaRPr lang="en-US" sz="1400" dirty="0"/>
          </a:p>
          <a:p>
            <a:pPr marL="342900" indent="-342900">
              <a:lnSpc>
                <a:spcPct val="115000"/>
              </a:lnSpc>
              <a:spcAft>
                <a:spcPts val="700"/>
              </a:spcAft>
              <a:buSzPct val="100000"/>
              <a:buChar char="•"/>
            </a:pPr>
            <a:r>
              <a:rPr lang="en-US" sz="1400" dirty="0">
                <a:solidFill>
                  <a:srgbClr val="1C2B3A"/>
                </a:solidFill>
                <a:latin typeface="Calibri" pitchFamily="34" charset="0"/>
                <a:ea typeface="Calibri" pitchFamily="34" charset="-122"/>
                <a:cs typeface="Calibri" pitchFamily="34" charset="-120"/>
              </a:rPr>
              <a:t>Either the user name or the e-mail address signs them in afterwards.</a:t>
            </a:r>
            <a:endParaRPr lang="en-US" sz="1400" dirty="0"/>
          </a:p>
          <a:p>
            <a:pPr marL="342900" indent="-342900">
              <a:lnSpc>
                <a:spcPct val="115000"/>
              </a:lnSpc>
              <a:spcAft>
                <a:spcPts val="700"/>
              </a:spcAft>
              <a:buSzPct val="100000"/>
              <a:buChar char="•"/>
            </a:pPr>
            <a:r>
              <a:rPr lang="en-US" sz="1400" dirty="0">
                <a:solidFill>
                  <a:srgbClr val="1C2B3A"/>
                </a:solidFill>
                <a:latin typeface="Calibri" pitchFamily="34" charset="0"/>
                <a:ea typeface="Calibri" pitchFamily="34" charset="-122"/>
                <a:cs typeface="Calibri" pitchFamily="34" charset="-120"/>
              </a:rPr>
              <a:t>The profile is created as Pending for Activation — it cannot order yet.</a:t>
            </a:r>
            <a:endParaRPr lang="en-US" sz="1400" dirty="0"/>
          </a:p>
        </p:txBody>
      </p:sp>
      <p:sp>
        <p:nvSpPr>
          <p:cNvPr id="7" name="Shape 4"/>
          <p:cNvSpPr/>
          <p:nvPr/>
        </p:nvSpPr>
        <p:spPr>
          <a:xfrm>
            <a:off x="566928" y="4663440"/>
            <a:ext cx="5577840" cy="1234440"/>
          </a:xfrm>
          <a:prstGeom prst="roundRect">
            <a:avLst>
              <a:gd name="adj" fmla="val 6667"/>
            </a:avLst>
          </a:prstGeom>
          <a:solidFill>
            <a:srgbClr val="0F2A43"/>
          </a:solidFill>
          <a:ln w="12700">
            <a:solidFill>
              <a:srgbClr val="0F2A43"/>
            </a:solidFill>
            <a:prstDash val="solid"/>
          </a:ln>
          <a:effectLst>
            <a:outerShdw sx="100000" sy="100000" kx="0" ky="0" algn="bl" rotWithShape="0" blurRad="177800" dist="38100" dir="5400000">
              <a:srgbClr val="0F2A43">
                <a:alpha val="13000"/>
              </a:srgbClr>
            </a:outerShdw>
          </a:effectLst>
        </p:spPr>
      </p:sp>
      <p:sp>
        <p:nvSpPr>
          <p:cNvPr id="8" name="Text 5"/>
          <p:cNvSpPr txBox="1"/>
          <p:nvPr/>
        </p:nvSpPr>
        <p:spPr>
          <a:xfrm>
            <a:off x="859536" y="4892040"/>
            <a:ext cx="5029200" cy="822960"/>
          </a:xfrm>
          <a:prstGeom prst="rect">
            <a:avLst/>
          </a:prstGeom>
          <a:noFill/>
          <a:ln/>
        </p:spPr>
        <p:txBody>
          <a:bodyPr wrap="square" lIns="0" tIns="0" rIns="0" bIns="0" rtlCol="0" anchor="ctr"/>
          <a:lstStyle/>
          <a:p>
            <a:pPr indent="0" marL="0">
              <a:lnSpc>
                <a:spcPct val="115000"/>
              </a:lnSpc>
              <a:buNone/>
            </a:pPr>
            <a:r>
              <a:rPr lang="en-US" sz="1300" dirty="0">
                <a:solidFill>
                  <a:srgbClr val="CFE0EF"/>
                </a:solidFill>
                <a:latin typeface="Calibri" pitchFamily="34" charset="0"/>
                <a:ea typeface="Calibri" pitchFamily="34" charset="-122"/>
                <a:cs typeface="Calibri" pitchFamily="34" charset="-120"/>
              </a:rPr>
              <a:t>The employee's record and their log-in always agree, because only one of them was ever typed.</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2F5F9"/>
        </a:solidFill>
      </p:bgPr>
    </p:bg>
    <p:spTree>
      <p:nvGrpSpPr>
        <p:cNvPr id="1" name=""/>
        <p:cNvGrpSpPr/>
        <p:nvPr/>
      </p:nvGrpSpPr>
      <p:grpSpPr>
        <a:xfrm>
          <a:off x="0" y="0"/>
          <a:ext cx="0" cy="0"/>
          <a:chOff x="0" y="0"/>
          <a:chExt cx="0" cy="0"/>
        </a:xfrm>
      </p:grpSpPr>
      <p:sp>
        <p:nvSpPr>
          <p:cNvPr id="2" name="Text 0"/>
          <p:cNvSpPr txBox="1"/>
          <p:nvPr/>
        </p:nvSpPr>
        <p:spPr>
          <a:xfrm>
            <a:off x="566928" y="420624"/>
            <a:ext cx="10058400" cy="237744"/>
          </a:xfrm>
          <a:prstGeom prst="rect">
            <a:avLst/>
          </a:prstGeom>
          <a:noFill/>
          <a:ln/>
        </p:spPr>
        <p:txBody>
          <a:bodyPr wrap="square" lIns="0" tIns="0" rIns="0" bIns="0" rtlCol="0" anchor="ctr"/>
          <a:lstStyle/>
          <a:p>
            <a:pPr indent="0" marL="0">
              <a:buNone/>
            </a:pPr>
            <a:r>
              <a:rPr lang="en-US" sz="1100" b="1" spc="160" kern="0" dirty="0">
                <a:solidFill>
                  <a:srgbClr val="F4791F"/>
                </a:solidFill>
                <a:latin typeface="Calibri" pitchFamily="34" charset="0"/>
                <a:ea typeface="Calibri" pitchFamily="34" charset="-122"/>
                <a:cs typeface="Calibri" pitchFamily="34" charset="-120"/>
              </a:rPr>
              <a:t>ACTIVATION</a:t>
            </a:r>
            <a:endParaRPr lang="en-US" sz="1100" dirty="0"/>
          </a:p>
        </p:txBody>
      </p:sp>
      <p:sp>
        <p:nvSpPr>
          <p:cNvPr id="3" name="Text 1"/>
          <p:cNvSpPr txBox="1"/>
          <p:nvPr/>
        </p:nvSpPr>
        <p:spPr>
          <a:xfrm>
            <a:off x="566928" y="676656"/>
            <a:ext cx="11064240" cy="566928"/>
          </a:xfrm>
          <a:prstGeom prst="rect">
            <a:avLst/>
          </a:prstGeom>
          <a:noFill/>
          <a:ln/>
        </p:spPr>
        <p:txBody>
          <a:bodyPr wrap="square" lIns="0" tIns="0" rIns="0" bIns="0" rtlCol="0" anchor="ctr"/>
          <a:lstStyle/>
          <a:p>
            <a:pPr indent="0" marL="0">
              <a:buNone/>
            </a:pPr>
            <a:r>
              <a:rPr lang="en-US" sz="3200" b="1" dirty="0">
                <a:solidFill>
                  <a:srgbClr val="0F2A43"/>
                </a:solidFill>
                <a:latin typeface="Cambria" pitchFamily="34" charset="0"/>
                <a:ea typeface="Cambria" pitchFamily="34" charset="-122"/>
                <a:cs typeface="Cambria" pitchFamily="34" charset="-120"/>
              </a:rPr>
              <a:t>The administrator opens the door</a:t>
            </a:r>
            <a:endParaRPr lang="en-US" sz="3200" dirty="0"/>
          </a:p>
        </p:txBody>
      </p:sp>
      <p:sp>
        <p:nvSpPr>
          <p:cNvPr id="4" name="Shape 2"/>
          <p:cNvSpPr/>
          <p:nvPr/>
        </p:nvSpPr>
        <p:spPr>
          <a:xfrm>
            <a:off x="566928" y="1627632"/>
            <a:ext cx="384048" cy="384048"/>
          </a:xfrm>
          <a:prstGeom prst="ellipse">
            <a:avLst/>
          </a:prstGeom>
          <a:solidFill>
            <a:srgbClr val="F4791F"/>
          </a:solidFill>
          <a:ln w="12700">
            <a:solidFill>
              <a:srgbClr val="F4791F"/>
            </a:solidFill>
            <a:prstDash val="solid"/>
          </a:ln>
        </p:spPr>
      </p:sp>
      <p:sp>
        <p:nvSpPr>
          <p:cNvPr id="5" name="Text 3"/>
          <p:cNvSpPr txBox="1"/>
          <p:nvPr/>
        </p:nvSpPr>
        <p:spPr>
          <a:xfrm>
            <a:off x="566928" y="162763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txBox="1"/>
          <p:nvPr/>
        </p:nvSpPr>
        <p:spPr>
          <a:xfrm>
            <a:off x="1133856" y="1572768"/>
            <a:ext cx="4023360" cy="292608"/>
          </a:xfrm>
          <a:prstGeom prst="rect">
            <a:avLst/>
          </a:prstGeom>
          <a:noFill/>
          <a:ln/>
        </p:spPr>
        <p:txBody>
          <a:bodyPr wrap="square" lIns="0" tIns="0" rIns="0" bIns="0" rtlCol="0" anchor="ctr"/>
          <a:lstStyle/>
          <a:p>
            <a:pPr indent="0" marL="0">
              <a:buNone/>
            </a:pPr>
            <a:r>
              <a:rPr lang="en-US" sz="1600" b="1" dirty="0">
                <a:solidFill>
                  <a:srgbClr val="0F2A43"/>
                </a:solidFill>
                <a:latin typeface="Cambria" pitchFamily="34" charset="0"/>
                <a:ea typeface="Cambria" pitchFamily="34" charset="-122"/>
                <a:cs typeface="Cambria" pitchFamily="34" charset="-120"/>
              </a:rPr>
              <a:t>Assign the role</a:t>
            </a:r>
            <a:endParaRPr lang="en-US" sz="1600" dirty="0"/>
          </a:p>
        </p:txBody>
      </p:sp>
      <p:sp>
        <p:nvSpPr>
          <p:cNvPr id="7" name="Text 5"/>
          <p:cNvSpPr txBox="1"/>
          <p:nvPr/>
        </p:nvSpPr>
        <p:spPr>
          <a:xfrm>
            <a:off x="1133856" y="1883664"/>
            <a:ext cx="4206240" cy="457200"/>
          </a:xfrm>
          <a:prstGeom prst="rect">
            <a:avLst/>
          </a:prstGeom>
          <a:noFill/>
          <a:ln/>
        </p:spPr>
        <p:txBody>
          <a:bodyPr wrap="square" lIns="0" tIns="0" rIns="0" bIns="0" rtlCol="0" anchor="ctr"/>
          <a:lstStyle/>
          <a:p>
            <a:pPr indent="0" marL="0">
              <a:lnSpc>
                <a:spcPct val="110000"/>
              </a:lnSpc>
              <a:buNone/>
            </a:pPr>
            <a:r>
              <a:rPr lang="en-US" sz="1250" dirty="0">
                <a:solidFill>
                  <a:srgbClr val="6B7C8D"/>
                </a:solidFill>
                <a:latin typeface="Calibri" pitchFamily="34" charset="0"/>
                <a:ea typeface="Calibri" pitchFamily="34" charset="-122"/>
                <a:cs typeface="Calibri" pitchFamily="34" charset="-120"/>
              </a:rPr>
              <a:t>Employee, Approver, or both.</a:t>
            </a:r>
            <a:endParaRPr lang="en-US" sz="1250" dirty="0"/>
          </a:p>
        </p:txBody>
      </p:sp>
      <p:sp>
        <p:nvSpPr>
          <p:cNvPr id="8" name="Shape 6"/>
          <p:cNvSpPr/>
          <p:nvPr/>
        </p:nvSpPr>
        <p:spPr>
          <a:xfrm>
            <a:off x="566928" y="2560320"/>
            <a:ext cx="384048" cy="384048"/>
          </a:xfrm>
          <a:prstGeom prst="ellipse">
            <a:avLst/>
          </a:prstGeom>
          <a:solidFill>
            <a:srgbClr val="F4791F"/>
          </a:solidFill>
          <a:ln w="12700">
            <a:solidFill>
              <a:srgbClr val="F4791F"/>
            </a:solidFill>
            <a:prstDash val="solid"/>
          </a:ln>
        </p:spPr>
      </p:sp>
      <p:sp>
        <p:nvSpPr>
          <p:cNvPr id="9" name="Text 7"/>
          <p:cNvSpPr txBox="1"/>
          <p:nvPr/>
        </p:nvSpPr>
        <p:spPr>
          <a:xfrm>
            <a:off x="566928" y="25603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1133856" y="2505456"/>
            <a:ext cx="4023360" cy="292608"/>
          </a:xfrm>
          <a:prstGeom prst="rect">
            <a:avLst/>
          </a:prstGeom>
          <a:noFill/>
          <a:ln/>
        </p:spPr>
        <p:txBody>
          <a:bodyPr wrap="square" lIns="0" tIns="0" rIns="0" bIns="0" rtlCol="0" anchor="ctr"/>
          <a:lstStyle/>
          <a:p>
            <a:pPr indent="0" marL="0">
              <a:buNone/>
            </a:pPr>
            <a:r>
              <a:rPr lang="en-US" sz="1600" b="1" dirty="0">
                <a:solidFill>
                  <a:srgbClr val="0F2A43"/>
                </a:solidFill>
                <a:latin typeface="Cambria" pitchFamily="34" charset="0"/>
                <a:ea typeface="Cambria" pitchFamily="34" charset="-122"/>
                <a:cs typeface="Cambria" pitchFamily="34" charset="-120"/>
              </a:rPr>
              <a:t>Assign price list/s</a:t>
            </a:r>
            <a:endParaRPr lang="en-US" sz="1600" dirty="0"/>
          </a:p>
        </p:txBody>
      </p:sp>
      <p:sp>
        <p:nvSpPr>
          <p:cNvPr id="11" name="Text 9"/>
          <p:cNvSpPr txBox="1"/>
          <p:nvPr/>
        </p:nvSpPr>
        <p:spPr>
          <a:xfrm>
            <a:off x="1133856" y="2816352"/>
            <a:ext cx="4206240" cy="457200"/>
          </a:xfrm>
          <a:prstGeom prst="rect">
            <a:avLst/>
          </a:prstGeom>
          <a:noFill/>
          <a:ln/>
        </p:spPr>
        <p:txBody>
          <a:bodyPr wrap="square" lIns="0" tIns="0" rIns="0" bIns="0" rtlCol="0" anchor="ctr"/>
          <a:lstStyle/>
          <a:p>
            <a:pPr indent="0" marL="0">
              <a:lnSpc>
                <a:spcPct val="110000"/>
              </a:lnSpc>
              <a:buNone/>
            </a:pPr>
            <a:r>
              <a:rPr lang="en-US" sz="1250" dirty="0">
                <a:solidFill>
                  <a:srgbClr val="6B7C8D"/>
                </a:solidFill>
                <a:latin typeface="Calibri" pitchFamily="34" charset="0"/>
                <a:ea typeface="Calibri" pitchFamily="34" charset="-122"/>
                <a:cs typeface="Calibri" pitchFamily="34" charset="-120"/>
              </a:rPr>
              <a:t>Each one becomes a shopping tab.</a:t>
            </a:r>
            <a:endParaRPr lang="en-US" sz="1250" dirty="0"/>
          </a:p>
        </p:txBody>
      </p:sp>
      <p:sp>
        <p:nvSpPr>
          <p:cNvPr id="12" name="Shape 10"/>
          <p:cNvSpPr/>
          <p:nvPr/>
        </p:nvSpPr>
        <p:spPr>
          <a:xfrm>
            <a:off x="566928" y="3493008"/>
            <a:ext cx="384048" cy="384048"/>
          </a:xfrm>
          <a:prstGeom prst="ellipse">
            <a:avLst/>
          </a:prstGeom>
          <a:solidFill>
            <a:srgbClr val="F4791F"/>
          </a:solidFill>
          <a:ln w="12700">
            <a:solidFill>
              <a:srgbClr val="F4791F"/>
            </a:solidFill>
            <a:prstDash val="solid"/>
          </a:ln>
        </p:spPr>
      </p:sp>
      <p:sp>
        <p:nvSpPr>
          <p:cNvPr id="13" name="Text 11"/>
          <p:cNvSpPr txBox="1"/>
          <p:nvPr/>
        </p:nvSpPr>
        <p:spPr>
          <a:xfrm>
            <a:off x="566928" y="34930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2"/>
          <p:cNvSpPr txBox="1"/>
          <p:nvPr/>
        </p:nvSpPr>
        <p:spPr>
          <a:xfrm>
            <a:off x="1133856" y="3438144"/>
            <a:ext cx="4023360" cy="292608"/>
          </a:xfrm>
          <a:prstGeom prst="rect">
            <a:avLst/>
          </a:prstGeom>
          <a:noFill/>
          <a:ln/>
        </p:spPr>
        <p:txBody>
          <a:bodyPr wrap="square" lIns="0" tIns="0" rIns="0" bIns="0" rtlCol="0" anchor="ctr"/>
          <a:lstStyle/>
          <a:p>
            <a:pPr indent="0" marL="0">
              <a:buNone/>
            </a:pPr>
            <a:r>
              <a:rPr lang="en-US" sz="1600" b="1" dirty="0">
                <a:solidFill>
                  <a:srgbClr val="0F2A43"/>
                </a:solidFill>
                <a:latin typeface="Cambria" pitchFamily="34" charset="0"/>
                <a:ea typeface="Cambria" pitchFamily="34" charset="-122"/>
                <a:cs typeface="Cambria" pitchFamily="34" charset="-120"/>
              </a:rPr>
              <a:t>Set the stores</a:t>
            </a:r>
            <a:endParaRPr lang="en-US" sz="1600" dirty="0"/>
          </a:p>
        </p:txBody>
      </p:sp>
      <p:sp>
        <p:nvSpPr>
          <p:cNvPr id="15" name="Text 13"/>
          <p:cNvSpPr txBox="1"/>
          <p:nvPr/>
        </p:nvSpPr>
        <p:spPr>
          <a:xfrm>
            <a:off x="1133856" y="3749040"/>
            <a:ext cx="4206240" cy="457200"/>
          </a:xfrm>
          <a:prstGeom prst="rect">
            <a:avLst/>
          </a:prstGeom>
          <a:noFill/>
          <a:ln/>
        </p:spPr>
        <p:txBody>
          <a:bodyPr wrap="square" lIns="0" tIns="0" rIns="0" bIns="0" rtlCol="0" anchor="ctr"/>
          <a:lstStyle/>
          <a:p>
            <a:pPr indent="0" marL="0">
              <a:lnSpc>
                <a:spcPct val="110000"/>
              </a:lnSpc>
              <a:buNone/>
            </a:pPr>
            <a:r>
              <a:rPr lang="en-US" sz="1250" dirty="0">
                <a:solidFill>
                  <a:srgbClr val="6B7C8D"/>
                </a:solidFill>
                <a:latin typeface="Calibri" pitchFamily="34" charset="0"/>
                <a:ea typeface="Calibri" pitchFamily="34" charset="-122"/>
                <a:cs typeface="Calibri" pitchFamily="34" charset="-120"/>
              </a:rPr>
              <a:t>Main store to draw from, reservation store to hold in.</a:t>
            </a:r>
            <a:endParaRPr lang="en-US" sz="1250" dirty="0"/>
          </a:p>
        </p:txBody>
      </p:sp>
      <p:sp>
        <p:nvSpPr>
          <p:cNvPr id="16" name="Shape 14"/>
          <p:cNvSpPr/>
          <p:nvPr/>
        </p:nvSpPr>
        <p:spPr>
          <a:xfrm>
            <a:off x="566928" y="4425696"/>
            <a:ext cx="384048" cy="384048"/>
          </a:xfrm>
          <a:prstGeom prst="ellipse">
            <a:avLst/>
          </a:prstGeom>
          <a:solidFill>
            <a:srgbClr val="F4791F"/>
          </a:solidFill>
          <a:ln w="12700">
            <a:solidFill>
              <a:srgbClr val="F4791F"/>
            </a:solidFill>
            <a:prstDash val="solid"/>
          </a:ln>
        </p:spPr>
      </p:sp>
      <p:sp>
        <p:nvSpPr>
          <p:cNvPr id="17" name="Text 15"/>
          <p:cNvSpPr txBox="1"/>
          <p:nvPr/>
        </p:nvSpPr>
        <p:spPr>
          <a:xfrm>
            <a:off x="566928" y="442569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8" name="Text 16"/>
          <p:cNvSpPr txBox="1"/>
          <p:nvPr/>
        </p:nvSpPr>
        <p:spPr>
          <a:xfrm>
            <a:off x="1133856" y="4370832"/>
            <a:ext cx="4023360" cy="292608"/>
          </a:xfrm>
          <a:prstGeom prst="rect">
            <a:avLst/>
          </a:prstGeom>
          <a:noFill/>
          <a:ln/>
        </p:spPr>
        <p:txBody>
          <a:bodyPr wrap="square" lIns="0" tIns="0" rIns="0" bIns="0" rtlCol="0" anchor="ctr"/>
          <a:lstStyle/>
          <a:p>
            <a:pPr indent="0" marL="0">
              <a:buNone/>
            </a:pPr>
            <a:r>
              <a:rPr lang="en-US" sz="1600" b="1" dirty="0">
                <a:solidFill>
                  <a:srgbClr val="0F2A43"/>
                </a:solidFill>
                <a:latin typeface="Cambria" pitchFamily="34" charset="0"/>
                <a:ea typeface="Cambria" pitchFamily="34" charset="-122"/>
                <a:cs typeface="Cambria" pitchFamily="34" charset="-120"/>
              </a:rPr>
              <a:t>Activate</a:t>
            </a:r>
            <a:endParaRPr lang="en-US" sz="1600" dirty="0"/>
          </a:p>
        </p:txBody>
      </p:sp>
      <p:sp>
        <p:nvSpPr>
          <p:cNvPr id="19" name="Text 17"/>
          <p:cNvSpPr txBox="1"/>
          <p:nvPr/>
        </p:nvSpPr>
        <p:spPr>
          <a:xfrm>
            <a:off x="1133856" y="4681728"/>
            <a:ext cx="4206240" cy="457200"/>
          </a:xfrm>
          <a:prstGeom prst="rect">
            <a:avLst/>
          </a:prstGeom>
          <a:noFill/>
          <a:ln/>
        </p:spPr>
        <p:txBody>
          <a:bodyPr wrap="square" lIns="0" tIns="0" rIns="0" bIns="0" rtlCol="0" anchor="ctr"/>
          <a:lstStyle/>
          <a:p>
            <a:pPr indent="0" marL="0">
              <a:lnSpc>
                <a:spcPct val="110000"/>
              </a:lnSpc>
              <a:buNone/>
            </a:pPr>
            <a:r>
              <a:rPr lang="en-US" sz="1250" dirty="0">
                <a:solidFill>
                  <a:srgbClr val="6B7C8D"/>
                </a:solidFill>
                <a:latin typeface="Calibri" pitchFamily="34" charset="0"/>
                <a:ea typeface="Calibri" pitchFamily="34" charset="-122"/>
                <a:cs typeface="Calibri" pitchFamily="34" charset="-120"/>
              </a:rPr>
              <a:t>The employee can now shop.</a:t>
            </a:r>
            <a:endParaRPr lang="en-US" sz="1250" dirty="0"/>
          </a:p>
        </p:txBody>
      </p:sp>
      <p:sp>
        <p:nvSpPr>
          <p:cNvPr id="20" name="Text 18"/>
          <p:cNvSpPr txBox="1"/>
          <p:nvPr/>
        </p:nvSpPr>
        <p:spPr>
          <a:xfrm>
            <a:off x="566928" y="5440680"/>
            <a:ext cx="5120640" cy="731520"/>
          </a:xfrm>
          <a:prstGeom prst="rect">
            <a:avLst/>
          </a:prstGeom>
          <a:noFill/>
          <a:ln/>
        </p:spPr>
        <p:txBody>
          <a:bodyPr wrap="square" lIns="0" tIns="0" rIns="0" bIns="0" rtlCol="0" anchor="ctr"/>
          <a:lstStyle/>
          <a:p>
            <a:pPr indent="0" marL="0">
              <a:lnSpc>
                <a:spcPct val="115000"/>
              </a:lnSpc>
              <a:buNone/>
            </a:pPr>
            <a:r>
              <a:rPr lang="en-US" sz="1250" i="1" dirty="0">
                <a:solidFill>
                  <a:srgbClr val="6B7C8D"/>
                </a:solidFill>
                <a:latin typeface="Calibri" pitchFamily="34" charset="0"/>
                <a:ea typeface="Calibri" pitchFamily="34" charset="-122"/>
                <a:cs typeface="Calibri" pitchFamily="34" charset="-120"/>
              </a:rPr>
              <a:t>Until then the employee sees “Account awaiting activation”, so nobody can order against a price list they were never granted.</a:t>
            </a:r>
            <a:endParaRPr lang="en-US" sz="1250" dirty="0"/>
          </a:p>
        </p:txBody>
      </p:sp>
      <p:sp>
        <p:nvSpPr>
          <p:cNvPr id="21" name="Shape 19"/>
          <p:cNvSpPr/>
          <p:nvPr/>
        </p:nvSpPr>
        <p:spPr>
          <a:xfrm>
            <a:off x="5788152" y="2225202"/>
            <a:ext cx="5934456" cy="2992811"/>
          </a:xfrm>
          <a:prstGeom prst="roundRect">
            <a:avLst>
              <a:gd name="adj" fmla="val 1833"/>
            </a:avLst>
          </a:prstGeom>
          <a:solidFill>
            <a:srgbClr val="FFFFFF"/>
          </a:solidFill>
          <a:ln w="12700">
            <a:solidFill>
              <a:srgbClr val="DCE4EC"/>
            </a:solidFill>
            <a:prstDash val="solid"/>
          </a:ln>
          <a:effectLst>
            <a:outerShdw sx="100000" sy="100000" kx="0" ky="0" algn="bl" rotWithShape="0" blurRad="177800" dist="38100" dir="5400000">
              <a:srgbClr val="0F2A43">
                <a:alpha val="13000"/>
              </a:srgbClr>
            </a:outerShdw>
          </a:effectLst>
        </p:spPr>
      </p:sp>
      <p:pic>
        <p:nvPicPr>
          <p:cNvPr id="22" name="Image 0" descr="/tmp/deck/14-users-crop.png">    </p:cNvPr>
          <p:cNvPicPr>
            <a:picLocks noChangeAspect="1"/>
          </p:cNvPicPr>
          <p:nvPr/>
        </p:nvPicPr>
        <p:blipFill>
          <a:blip r:embed="rId1"/>
          <a:stretch>
            <a:fillRect/>
          </a:stretch>
        </p:blipFill>
        <p:spPr>
          <a:xfrm>
            <a:off x="5852160" y="2289210"/>
            <a:ext cx="5806440" cy="286479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2A43"/>
        </a:solidFill>
      </p:bgPr>
    </p:bg>
    <p:spTree>
      <p:nvGrpSpPr>
        <p:cNvPr id="1" name=""/>
        <p:cNvGrpSpPr/>
        <p:nvPr/>
      </p:nvGrpSpPr>
      <p:grpSpPr>
        <a:xfrm>
          <a:off x="0" y="0"/>
          <a:ext cx="0" cy="0"/>
          <a:chOff x="0" y="0"/>
          <a:chExt cx="0" cy="0"/>
        </a:xfrm>
      </p:grpSpPr>
      <p:sp>
        <p:nvSpPr>
          <p:cNvPr id="2" name="Shape 0"/>
          <p:cNvSpPr/>
          <p:nvPr/>
        </p:nvSpPr>
        <p:spPr>
          <a:xfrm>
            <a:off x="9418320" y="-1463040"/>
            <a:ext cx="4937760" cy="4937760"/>
          </a:xfrm>
          <a:prstGeom prst="ellipse">
            <a:avLst/>
          </a:prstGeom>
          <a:solidFill>
            <a:srgbClr val="16385A"/>
          </a:solidFill>
          <a:ln w="12700">
            <a:solidFill>
              <a:srgbClr val="16385A"/>
            </a:solidFill>
            <a:prstDash val="solid"/>
          </a:ln>
        </p:spPr>
      </p:sp>
      <p:sp>
        <p:nvSpPr>
          <p:cNvPr id="3" name="Text 1"/>
          <p:cNvSpPr txBox="1"/>
          <p:nvPr/>
        </p:nvSpPr>
        <p:spPr>
          <a:xfrm>
            <a:off x="566928" y="2148840"/>
            <a:ext cx="1828800" cy="1005840"/>
          </a:xfrm>
          <a:prstGeom prst="rect">
            <a:avLst/>
          </a:prstGeom>
          <a:noFill/>
          <a:ln/>
        </p:spPr>
        <p:txBody>
          <a:bodyPr wrap="square" lIns="0" tIns="0" rIns="0" bIns="0" rtlCol="0" anchor="ctr"/>
          <a:lstStyle/>
          <a:p>
            <a:pPr indent="0" marL="0">
              <a:buNone/>
            </a:pPr>
            <a:r>
              <a:rPr lang="en-US" sz="5600" b="1" dirty="0">
                <a:solidFill>
                  <a:srgbClr val="F4791F"/>
                </a:solidFill>
                <a:latin typeface="Cambria" pitchFamily="34" charset="0"/>
                <a:ea typeface="Cambria" pitchFamily="34" charset="-122"/>
                <a:cs typeface="Cambria" pitchFamily="34" charset="-120"/>
              </a:rPr>
              <a:t>03</a:t>
            </a:r>
            <a:endParaRPr lang="en-US" sz="5600" dirty="0"/>
          </a:p>
        </p:txBody>
      </p:sp>
      <p:sp>
        <p:nvSpPr>
          <p:cNvPr id="4" name="Text 2"/>
          <p:cNvSpPr txBox="1"/>
          <p:nvPr/>
        </p:nvSpPr>
        <p:spPr>
          <a:xfrm>
            <a:off x="566928" y="3154680"/>
            <a:ext cx="9144000" cy="73152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Ordering</a:t>
            </a:r>
            <a:endParaRPr lang="en-US" sz="3800" dirty="0"/>
          </a:p>
        </p:txBody>
      </p:sp>
      <p:sp>
        <p:nvSpPr>
          <p:cNvPr id="5" name="Text 3"/>
          <p:cNvSpPr txBox="1"/>
          <p:nvPr/>
        </p:nvSpPr>
        <p:spPr>
          <a:xfrm>
            <a:off x="566928" y="3977640"/>
            <a:ext cx="8595360" cy="457200"/>
          </a:xfrm>
          <a:prstGeom prst="rect">
            <a:avLst/>
          </a:prstGeom>
          <a:noFill/>
          <a:ln/>
        </p:spPr>
        <p:txBody>
          <a:bodyPr wrap="square" lIns="0" tIns="0" rIns="0" bIns="0" rtlCol="0" anchor="ctr"/>
          <a:lstStyle/>
          <a:p>
            <a:pPr indent="0" marL="0">
              <a:buNone/>
            </a:pPr>
            <a:r>
              <a:rPr lang="en-US" sz="1500" dirty="0">
                <a:solidFill>
                  <a:srgbClr val="A9C3DA"/>
                </a:solidFill>
                <a:latin typeface="Calibri" pitchFamily="34" charset="0"/>
                <a:ea typeface="Calibri" pitchFamily="34" charset="-122"/>
                <a:cs typeface="Calibri" pitchFamily="34" charset="-120"/>
              </a:rPr>
              <a:t>The shopping list, the allocation and the ten-minute cart</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2F5F9"/>
        </a:solidFill>
      </p:bgPr>
    </p:bg>
    <p:spTree>
      <p:nvGrpSpPr>
        <p:cNvPr id="1" name=""/>
        <p:cNvGrpSpPr/>
        <p:nvPr/>
      </p:nvGrpSpPr>
      <p:grpSpPr>
        <a:xfrm>
          <a:off x="0" y="0"/>
          <a:ext cx="0" cy="0"/>
          <a:chOff x="0" y="0"/>
          <a:chExt cx="0" cy="0"/>
        </a:xfrm>
      </p:grpSpPr>
      <p:sp>
        <p:nvSpPr>
          <p:cNvPr id="2" name="Text 0"/>
          <p:cNvSpPr txBox="1"/>
          <p:nvPr/>
        </p:nvSpPr>
        <p:spPr>
          <a:xfrm>
            <a:off x="566928" y="420624"/>
            <a:ext cx="10058400" cy="237744"/>
          </a:xfrm>
          <a:prstGeom prst="rect">
            <a:avLst/>
          </a:prstGeom>
          <a:noFill/>
          <a:ln/>
        </p:spPr>
        <p:txBody>
          <a:bodyPr wrap="square" lIns="0" tIns="0" rIns="0" bIns="0" rtlCol="0" anchor="ctr"/>
          <a:lstStyle/>
          <a:p>
            <a:pPr indent="0" marL="0">
              <a:buNone/>
            </a:pPr>
            <a:r>
              <a:rPr lang="en-US" sz="1100" b="1" spc="160" kern="0" dirty="0">
                <a:solidFill>
                  <a:srgbClr val="F4791F"/>
                </a:solidFill>
                <a:latin typeface="Calibri" pitchFamily="34" charset="0"/>
                <a:ea typeface="Calibri" pitchFamily="34" charset="-122"/>
                <a:cs typeface="Calibri" pitchFamily="34" charset="-120"/>
              </a:rPr>
              <a:t>EMPLOYEE MODULE</a:t>
            </a:r>
            <a:endParaRPr lang="en-US" sz="1100" dirty="0"/>
          </a:p>
        </p:txBody>
      </p:sp>
      <p:sp>
        <p:nvSpPr>
          <p:cNvPr id="3" name="Text 1"/>
          <p:cNvSpPr txBox="1"/>
          <p:nvPr/>
        </p:nvSpPr>
        <p:spPr>
          <a:xfrm>
            <a:off x="566928" y="676656"/>
            <a:ext cx="11064240" cy="566928"/>
          </a:xfrm>
          <a:prstGeom prst="rect">
            <a:avLst/>
          </a:prstGeom>
          <a:noFill/>
          <a:ln/>
        </p:spPr>
        <p:txBody>
          <a:bodyPr wrap="square" lIns="0" tIns="0" rIns="0" bIns="0" rtlCol="0" anchor="ctr"/>
          <a:lstStyle/>
          <a:p>
            <a:pPr indent="0" marL="0">
              <a:buNone/>
            </a:pPr>
            <a:r>
              <a:rPr lang="en-US" sz="3200" b="1" dirty="0">
                <a:solidFill>
                  <a:srgbClr val="0F2A43"/>
                </a:solidFill>
                <a:latin typeface="Cambria" pitchFamily="34" charset="0"/>
                <a:ea typeface="Cambria" pitchFamily="34" charset="-122"/>
                <a:cs typeface="Cambria" pitchFamily="34" charset="-120"/>
              </a:rPr>
              <a:t>The shopping list</a:t>
            </a:r>
            <a:endParaRPr lang="en-US" sz="3200" dirty="0"/>
          </a:p>
        </p:txBody>
      </p:sp>
      <p:sp>
        <p:nvSpPr>
          <p:cNvPr id="4" name="Shape 2"/>
          <p:cNvSpPr/>
          <p:nvPr/>
        </p:nvSpPr>
        <p:spPr>
          <a:xfrm>
            <a:off x="502920" y="2111726"/>
            <a:ext cx="7443216" cy="3274628"/>
          </a:xfrm>
          <a:prstGeom prst="roundRect">
            <a:avLst>
              <a:gd name="adj" fmla="val 1675"/>
            </a:avLst>
          </a:prstGeom>
          <a:solidFill>
            <a:srgbClr val="FFFFFF"/>
          </a:solidFill>
          <a:ln w="12700">
            <a:solidFill>
              <a:srgbClr val="DCE4EC"/>
            </a:solidFill>
            <a:prstDash val="solid"/>
          </a:ln>
          <a:effectLst>
            <a:outerShdw sx="100000" sy="100000" kx="0" ky="0" algn="bl" rotWithShape="0" blurRad="177800" dist="38100" dir="5400000">
              <a:srgbClr val="0F2A43">
                <a:alpha val="13000"/>
              </a:srgbClr>
            </a:outerShdw>
          </a:effectLst>
        </p:spPr>
      </p:sp>
      <p:pic>
        <p:nvPicPr>
          <p:cNvPr id="5" name="Image 0" descr="/tmp/deck/04-shop-crop.png">    </p:cNvPr>
          <p:cNvPicPr>
            <a:picLocks noChangeAspect="1"/>
          </p:cNvPicPr>
          <p:nvPr/>
        </p:nvPicPr>
        <p:blipFill>
          <a:blip r:embed="rId1"/>
          <a:stretch>
            <a:fillRect/>
          </a:stretch>
        </p:blipFill>
        <p:spPr>
          <a:xfrm>
            <a:off x="566928" y="2175734"/>
            <a:ext cx="7315200" cy="3146612"/>
          </a:xfrm>
          <a:prstGeom prst="rect">
            <a:avLst/>
          </a:prstGeom>
        </p:spPr>
      </p:pic>
      <p:sp>
        <p:nvSpPr>
          <p:cNvPr id="6" name="Shape 3"/>
          <p:cNvSpPr/>
          <p:nvPr/>
        </p:nvSpPr>
        <p:spPr>
          <a:xfrm>
            <a:off x="8183880" y="1627632"/>
            <a:ext cx="146304" cy="146304"/>
          </a:xfrm>
          <a:prstGeom prst="ellipse">
            <a:avLst/>
          </a:prstGeom>
          <a:solidFill>
            <a:srgbClr val="F4791F"/>
          </a:solidFill>
          <a:ln w="12700">
            <a:solidFill>
              <a:srgbClr val="F4791F"/>
            </a:solidFill>
            <a:prstDash val="solid"/>
          </a:ln>
        </p:spPr>
      </p:sp>
      <p:sp>
        <p:nvSpPr>
          <p:cNvPr id="7" name="Text 4"/>
          <p:cNvSpPr txBox="1"/>
          <p:nvPr/>
        </p:nvSpPr>
        <p:spPr>
          <a:xfrm>
            <a:off x="8458200" y="1572768"/>
            <a:ext cx="3474720" cy="256032"/>
          </a:xfrm>
          <a:prstGeom prst="rect">
            <a:avLst/>
          </a:prstGeom>
          <a:noFill/>
          <a:ln/>
        </p:spPr>
        <p:txBody>
          <a:bodyPr wrap="square" lIns="0" tIns="0" rIns="0" bIns="0" rtlCol="0" anchor="ctr"/>
          <a:lstStyle/>
          <a:p>
            <a:pPr indent="0" marL="0">
              <a:buNone/>
            </a:pPr>
            <a:r>
              <a:rPr lang="en-US" sz="1300" b="1" dirty="0">
                <a:solidFill>
                  <a:srgbClr val="0F2A43"/>
                </a:solidFill>
                <a:latin typeface="Calibri" pitchFamily="34" charset="0"/>
                <a:ea typeface="Calibri" pitchFamily="34" charset="-122"/>
                <a:cs typeface="Calibri" pitchFamily="34" charset="-120"/>
              </a:rPr>
              <a:t>Price lists as tabs</a:t>
            </a:r>
            <a:endParaRPr lang="en-US" sz="1300" dirty="0"/>
          </a:p>
        </p:txBody>
      </p:sp>
      <p:sp>
        <p:nvSpPr>
          <p:cNvPr id="8" name="Text 5"/>
          <p:cNvSpPr txBox="1"/>
          <p:nvPr/>
        </p:nvSpPr>
        <p:spPr>
          <a:xfrm>
            <a:off x="8458200" y="1847088"/>
            <a:ext cx="3520440" cy="566928"/>
          </a:xfrm>
          <a:prstGeom prst="rect">
            <a:avLst/>
          </a:prstGeom>
          <a:noFill/>
          <a:ln/>
        </p:spPr>
        <p:txBody>
          <a:bodyPr wrap="square" lIns="0" tIns="0" rIns="0" bIns="0" rtlCol="0" anchor="ctr"/>
          <a:lstStyle/>
          <a:p>
            <a:pPr indent="0" marL="0">
              <a:lnSpc>
                <a:spcPct val="110000"/>
              </a:lnSpc>
              <a:buNone/>
            </a:pPr>
            <a:r>
              <a:rPr lang="en-US" sz="1150" dirty="0">
                <a:solidFill>
                  <a:srgbClr val="6B7C8D"/>
                </a:solidFill>
                <a:latin typeface="Calibri" pitchFamily="34" charset="0"/>
                <a:ea typeface="Calibri" pitchFamily="34" charset="-122"/>
                <a:cs typeface="Calibri" pitchFamily="34" charset="-120"/>
              </a:rPr>
              <a:t>An employee granted more than one price list gets one shopping tab per list.</a:t>
            </a:r>
            <a:endParaRPr lang="en-US" sz="1150" dirty="0"/>
          </a:p>
        </p:txBody>
      </p:sp>
      <p:sp>
        <p:nvSpPr>
          <p:cNvPr id="9" name="Shape 6"/>
          <p:cNvSpPr/>
          <p:nvPr/>
        </p:nvSpPr>
        <p:spPr>
          <a:xfrm>
            <a:off x="8183880" y="2560320"/>
            <a:ext cx="146304" cy="146304"/>
          </a:xfrm>
          <a:prstGeom prst="ellipse">
            <a:avLst/>
          </a:prstGeom>
          <a:solidFill>
            <a:srgbClr val="F4791F"/>
          </a:solidFill>
          <a:ln w="12700">
            <a:solidFill>
              <a:srgbClr val="F4791F"/>
            </a:solidFill>
            <a:prstDash val="solid"/>
          </a:ln>
        </p:spPr>
      </p:sp>
      <p:sp>
        <p:nvSpPr>
          <p:cNvPr id="10" name="Text 7"/>
          <p:cNvSpPr txBox="1"/>
          <p:nvPr/>
        </p:nvSpPr>
        <p:spPr>
          <a:xfrm>
            <a:off x="8458200" y="2505456"/>
            <a:ext cx="3474720" cy="256032"/>
          </a:xfrm>
          <a:prstGeom prst="rect">
            <a:avLst/>
          </a:prstGeom>
          <a:noFill/>
          <a:ln/>
        </p:spPr>
        <p:txBody>
          <a:bodyPr wrap="square" lIns="0" tIns="0" rIns="0" bIns="0" rtlCol="0" anchor="ctr"/>
          <a:lstStyle/>
          <a:p>
            <a:pPr indent="0" marL="0">
              <a:buNone/>
            </a:pPr>
            <a:r>
              <a:rPr lang="en-US" sz="1300" b="1" dirty="0">
                <a:solidFill>
                  <a:srgbClr val="0F2A43"/>
                </a:solidFill>
                <a:latin typeface="Calibri" pitchFamily="34" charset="0"/>
                <a:ea typeface="Calibri" pitchFamily="34" charset="-122"/>
                <a:cs typeface="Calibri" pitchFamily="34" charset="-120"/>
              </a:rPr>
              <a:t>Live allocation</a:t>
            </a:r>
            <a:endParaRPr lang="en-US" sz="1300" dirty="0"/>
          </a:p>
        </p:txBody>
      </p:sp>
      <p:sp>
        <p:nvSpPr>
          <p:cNvPr id="11" name="Text 8"/>
          <p:cNvSpPr txBox="1"/>
          <p:nvPr/>
        </p:nvSpPr>
        <p:spPr>
          <a:xfrm>
            <a:off x="8458200" y="2779776"/>
            <a:ext cx="3520440" cy="566928"/>
          </a:xfrm>
          <a:prstGeom prst="rect">
            <a:avLst/>
          </a:prstGeom>
          <a:noFill/>
          <a:ln/>
        </p:spPr>
        <p:txBody>
          <a:bodyPr wrap="square" lIns="0" tIns="0" rIns="0" bIns="0" rtlCol="0" anchor="ctr"/>
          <a:lstStyle/>
          <a:p>
            <a:pPr indent="0" marL="0">
              <a:lnSpc>
                <a:spcPct val="110000"/>
              </a:lnSpc>
              <a:buNone/>
            </a:pPr>
            <a:r>
              <a:rPr lang="en-US" sz="1150" dirty="0">
                <a:solidFill>
                  <a:srgbClr val="6B7C8D"/>
                </a:solidFill>
                <a:latin typeface="Calibri" pitchFamily="34" charset="0"/>
                <a:ea typeface="Calibri" pitchFamily="34" charset="-122"/>
                <a:cs typeface="Calibri" pitchFamily="34" charset="-120"/>
              </a:rPr>
              <a:t>Total Allocated and Total Used are shown at the top and update as they shop.</a:t>
            </a:r>
            <a:endParaRPr lang="en-US" sz="1150" dirty="0"/>
          </a:p>
        </p:txBody>
      </p:sp>
      <p:sp>
        <p:nvSpPr>
          <p:cNvPr id="12" name="Shape 9"/>
          <p:cNvSpPr/>
          <p:nvPr/>
        </p:nvSpPr>
        <p:spPr>
          <a:xfrm>
            <a:off x="8183880" y="3493008"/>
            <a:ext cx="146304" cy="146304"/>
          </a:xfrm>
          <a:prstGeom prst="ellipse">
            <a:avLst/>
          </a:prstGeom>
          <a:solidFill>
            <a:srgbClr val="F4791F"/>
          </a:solidFill>
          <a:ln w="12700">
            <a:solidFill>
              <a:srgbClr val="F4791F"/>
            </a:solidFill>
            <a:prstDash val="solid"/>
          </a:ln>
        </p:spPr>
      </p:sp>
      <p:sp>
        <p:nvSpPr>
          <p:cNvPr id="13" name="Text 10"/>
          <p:cNvSpPr txBox="1"/>
          <p:nvPr/>
        </p:nvSpPr>
        <p:spPr>
          <a:xfrm>
            <a:off x="8458200" y="3438144"/>
            <a:ext cx="3474720" cy="256032"/>
          </a:xfrm>
          <a:prstGeom prst="rect">
            <a:avLst/>
          </a:prstGeom>
          <a:noFill/>
          <a:ln/>
        </p:spPr>
        <p:txBody>
          <a:bodyPr wrap="square" lIns="0" tIns="0" rIns="0" bIns="0" rtlCol="0" anchor="ctr"/>
          <a:lstStyle/>
          <a:p>
            <a:pPr indent="0" marL="0">
              <a:buNone/>
            </a:pPr>
            <a:r>
              <a:rPr lang="en-US" sz="1300" b="1" dirty="0">
                <a:solidFill>
                  <a:srgbClr val="0F2A43"/>
                </a:solidFill>
                <a:latin typeface="Calibri" pitchFamily="34" charset="0"/>
                <a:ea typeface="Calibri" pitchFamily="34" charset="-122"/>
                <a:cs typeface="Calibri" pitchFamily="34" charset="-120"/>
              </a:rPr>
              <a:t>Real photographs</a:t>
            </a:r>
            <a:endParaRPr lang="en-US" sz="1300" dirty="0"/>
          </a:p>
        </p:txBody>
      </p:sp>
      <p:sp>
        <p:nvSpPr>
          <p:cNvPr id="14" name="Text 11"/>
          <p:cNvSpPr txBox="1"/>
          <p:nvPr/>
        </p:nvSpPr>
        <p:spPr>
          <a:xfrm>
            <a:off x="8458200" y="3712464"/>
            <a:ext cx="3520440" cy="566928"/>
          </a:xfrm>
          <a:prstGeom prst="rect">
            <a:avLst/>
          </a:prstGeom>
          <a:noFill/>
          <a:ln/>
        </p:spPr>
        <p:txBody>
          <a:bodyPr wrap="square" lIns="0" tIns="0" rIns="0" bIns="0" rtlCol="0" anchor="ctr"/>
          <a:lstStyle/>
          <a:p>
            <a:pPr indent="0" marL="0">
              <a:lnSpc>
                <a:spcPct val="110000"/>
              </a:lnSpc>
              <a:buNone/>
            </a:pPr>
            <a:r>
              <a:rPr lang="en-US" sz="1150" dirty="0">
                <a:solidFill>
                  <a:srgbClr val="6B7C8D"/>
                </a:solidFill>
                <a:latin typeface="Calibri" pitchFamily="34" charset="0"/>
                <a:ea typeface="Calibri" pitchFamily="34" charset="-122"/>
                <a:cs typeface="Calibri" pitchFamily="34" charset="-120"/>
              </a:rPr>
              <a:t>Every one of the 39 items carries its own product photo.</a:t>
            </a:r>
            <a:endParaRPr lang="en-US" sz="1150" dirty="0"/>
          </a:p>
        </p:txBody>
      </p:sp>
      <p:sp>
        <p:nvSpPr>
          <p:cNvPr id="15" name="Shape 12"/>
          <p:cNvSpPr/>
          <p:nvPr/>
        </p:nvSpPr>
        <p:spPr>
          <a:xfrm>
            <a:off x="8183880" y="4425696"/>
            <a:ext cx="146304" cy="146304"/>
          </a:xfrm>
          <a:prstGeom prst="ellipse">
            <a:avLst/>
          </a:prstGeom>
          <a:solidFill>
            <a:srgbClr val="F4791F"/>
          </a:solidFill>
          <a:ln w="12700">
            <a:solidFill>
              <a:srgbClr val="F4791F"/>
            </a:solidFill>
            <a:prstDash val="solid"/>
          </a:ln>
        </p:spPr>
      </p:sp>
      <p:sp>
        <p:nvSpPr>
          <p:cNvPr id="16" name="Text 13"/>
          <p:cNvSpPr txBox="1"/>
          <p:nvPr/>
        </p:nvSpPr>
        <p:spPr>
          <a:xfrm>
            <a:off x="8458200" y="4370832"/>
            <a:ext cx="3474720" cy="256032"/>
          </a:xfrm>
          <a:prstGeom prst="rect">
            <a:avLst/>
          </a:prstGeom>
          <a:noFill/>
          <a:ln/>
        </p:spPr>
        <p:txBody>
          <a:bodyPr wrap="square" lIns="0" tIns="0" rIns="0" bIns="0" rtlCol="0" anchor="ctr"/>
          <a:lstStyle/>
          <a:p>
            <a:pPr indent="0" marL="0">
              <a:buNone/>
            </a:pPr>
            <a:r>
              <a:rPr lang="en-US" sz="1300" b="1" dirty="0">
                <a:solidFill>
                  <a:srgbClr val="0F2A43"/>
                </a:solidFill>
                <a:latin typeface="Calibri" pitchFamily="34" charset="0"/>
                <a:ea typeface="Calibri" pitchFamily="34" charset="-122"/>
                <a:cs typeface="Calibri" pitchFamily="34" charset="-120"/>
              </a:rPr>
              <a:t>Live main-store stock</a:t>
            </a:r>
            <a:endParaRPr lang="en-US" sz="1300" dirty="0"/>
          </a:p>
        </p:txBody>
      </p:sp>
      <p:sp>
        <p:nvSpPr>
          <p:cNvPr id="17" name="Text 14"/>
          <p:cNvSpPr txBox="1"/>
          <p:nvPr/>
        </p:nvSpPr>
        <p:spPr>
          <a:xfrm>
            <a:off x="8458200" y="4645152"/>
            <a:ext cx="3520440" cy="566928"/>
          </a:xfrm>
          <a:prstGeom prst="rect">
            <a:avLst/>
          </a:prstGeom>
          <a:noFill/>
          <a:ln/>
        </p:spPr>
        <p:txBody>
          <a:bodyPr wrap="square" lIns="0" tIns="0" rIns="0" bIns="0" rtlCol="0" anchor="ctr"/>
          <a:lstStyle/>
          <a:p>
            <a:pPr indent="0" marL="0">
              <a:lnSpc>
                <a:spcPct val="110000"/>
              </a:lnSpc>
              <a:buNone/>
            </a:pPr>
            <a:r>
              <a:rPr lang="en-US" sz="1150" dirty="0">
                <a:solidFill>
                  <a:srgbClr val="6B7C8D"/>
                </a:solidFill>
                <a:latin typeface="Calibri" pitchFamily="34" charset="0"/>
                <a:ea typeface="Calibri" pitchFamily="34" charset="-122"/>
                <a:cs typeface="Calibri" pitchFamily="34" charset="-120"/>
              </a:rPr>
              <a:t>The stock figure on each card is the real quantity in the main store.</a:t>
            </a:r>
            <a:endParaRPr lang="en-US" sz="1150" dirty="0"/>
          </a:p>
        </p:txBody>
      </p:sp>
      <p:sp>
        <p:nvSpPr>
          <p:cNvPr id="18" name="Shape 15"/>
          <p:cNvSpPr/>
          <p:nvPr/>
        </p:nvSpPr>
        <p:spPr>
          <a:xfrm>
            <a:off x="8183880" y="5358384"/>
            <a:ext cx="146304" cy="146304"/>
          </a:xfrm>
          <a:prstGeom prst="ellipse">
            <a:avLst/>
          </a:prstGeom>
          <a:solidFill>
            <a:srgbClr val="F4791F"/>
          </a:solidFill>
          <a:ln w="12700">
            <a:solidFill>
              <a:srgbClr val="F4791F"/>
            </a:solidFill>
            <a:prstDash val="solid"/>
          </a:ln>
        </p:spPr>
      </p:sp>
      <p:sp>
        <p:nvSpPr>
          <p:cNvPr id="19" name="Text 16"/>
          <p:cNvSpPr txBox="1"/>
          <p:nvPr/>
        </p:nvSpPr>
        <p:spPr>
          <a:xfrm>
            <a:off x="8458200" y="5303520"/>
            <a:ext cx="3474720" cy="256032"/>
          </a:xfrm>
          <a:prstGeom prst="rect">
            <a:avLst/>
          </a:prstGeom>
          <a:noFill/>
          <a:ln/>
        </p:spPr>
        <p:txBody>
          <a:bodyPr wrap="square" lIns="0" tIns="0" rIns="0" bIns="0" rtlCol="0" anchor="ctr"/>
          <a:lstStyle/>
          <a:p>
            <a:pPr indent="0" marL="0">
              <a:buNone/>
            </a:pPr>
            <a:r>
              <a:rPr lang="en-US" sz="1300" b="1" dirty="0">
                <a:solidFill>
                  <a:srgbClr val="0F2A43"/>
                </a:solidFill>
                <a:latin typeface="Calibri" pitchFamily="34" charset="0"/>
                <a:ea typeface="Calibri" pitchFamily="34" charset="-122"/>
                <a:cs typeface="Calibri" pitchFamily="34" charset="-120"/>
              </a:rPr>
              <a:t>Size and colour</a:t>
            </a:r>
            <a:endParaRPr lang="en-US" sz="1300" dirty="0"/>
          </a:p>
        </p:txBody>
      </p:sp>
      <p:sp>
        <p:nvSpPr>
          <p:cNvPr id="20" name="Text 17"/>
          <p:cNvSpPr txBox="1"/>
          <p:nvPr/>
        </p:nvSpPr>
        <p:spPr>
          <a:xfrm>
            <a:off x="8458200" y="5577840"/>
            <a:ext cx="3520440" cy="566928"/>
          </a:xfrm>
          <a:prstGeom prst="rect">
            <a:avLst/>
          </a:prstGeom>
          <a:noFill/>
          <a:ln/>
        </p:spPr>
        <p:txBody>
          <a:bodyPr wrap="square" lIns="0" tIns="0" rIns="0" bIns="0" rtlCol="0" anchor="ctr"/>
          <a:lstStyle/>
          <a:p>
            <a:pPr indent="0" marL="0">
              <a:lnSpc>
                <a:spcPct val="110000"/>
              </a:lnSpc>
              <a:buNone/>
            </a:pPr>
            <a:r>
              <a:rPr lang="en-US" sz="1150" dirty="0">
                <a:solidFill>
                  <a:srgbClr val="6B7C8D"/>
                </a:solidFill>
                <a:latin typeface="Calibri" pitchFamily="34" charset="0"/>
                <a:ea typeface="Calibri" pitchFamily="34" charset="-122"/>
                <a:cs typeface="Calibri" pitchFamily="34" charset="-120"/>
              </a:rPr>
              <a:t>Variants sit on one card — pick the size or colour, not a separate product.</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2F5F9"/>
        </a:solidFill>
      </p:bgPr>
    </p:bg>
    <p:spTree>
      <p:nvGrpSpPr>
        <p:cNvPr id="1" name=""/>
        <p:cNvGrpSpPr/>
        <p:nvPr/>
      </p:nvGrpSpPr>
      <p:grpSpPr>
        <a:xfrm>
          <a:off x="0" y="0"/>
          <a:ext cx="0" cy="0"/>
          <a:chOff x="0" y="0"/>
          <a:chExt cx="0" cy="0"/>
        </a:xfrm>
      </p:grpSpPr>
      <p:sp>
        <p:nvSpPr>
          <p:cNvPr id="2" name="Text 0"/>
          <p:cNvSpPr txBox="1"/>
          <p:nvPr/>
        </p:nvSpPr>
        <p:spPr>
          <a:xfrm>
            <a:off x="566928" y="420624"/>
            <a:ext cx="10058400" cy="237744"/>
          </a:xfrm>
          <a:prstGeom prst="rect">
            <a:avLst/>
          </a:prstGeom>
          <a:noFill/>
          <a:ln/>
        </p:spPr>
        <p:txBody>
          <a:bodyPr wrap="square" lIns="0" tIns="0" rIns="0" bIns="0" rtlCol="0" anchor="ctr"/>
          <a:lstStyle/>
          <a:p>
            <a:pPr indent="0" marL="0">
              <a:buNone/>
            </a:pPr>
            <a:r>
              <a:rPr lang="en-US" sz="1100" b="1" spc="160" kern="0" dirty="0">
                <a:solidFill>
                  <a:srgbClr val="F4791F"/>
                </a:solidFill>
                <a:latin typeface="Calibri" pitchFamily="34" charset="0"/>
                <a:ea typeface="Calibri" pitchFamily="34" charset="-122"/>
                <a:cs typeface="Calibri" pitchFamily="34" charset="-120"/>
              </a:rPr>
              <a:t>EMPLOYEE MODULE</a:t>
            </a:r>
            <a:endParaRPr lang="en-US" sz="1100" dirty="0"/>
          </a:p>
        </p:txBody>
      </p:sp>
      <p:sp>
        <p:nvSpPr>
          <p:cNvPr id="3" name="Text 1"/>
          <p:cNvSpPr txBox="1"/>
          <p:nvPr/>
        </p:nvSpPr>
        <p:spPr>
          <a:xfrm>
            <a:off x="566928" y="676656"/>
            <a:ext cx="11064240" cy="566928"/>
          </a:xfrm>
          <a:prstGeom prst="rect">
            <a:avLst/>
          </a:prstGeom>
          <a:noFill/>
          <a:ln/>
        </p:spPr>
        <p:txBody>
          <a:bodyPr wrap="square" lIns="0" tIns="0" rIns="0" bIns="0" rtlCol="0" anchor="ctr"/>
          <a:lstStyle/>
          <a:p>
            <a:pPr indent="0" marL="0">
              <a:buNone/>
            </a:pPr>
            <a:r>
              <a:rPr lang="en-US" sz="3200" b="1" dirty="0">
                <a:solidFill>
                  <a:srgbClr val="0F2A43"/>
                </a:solidFill>
                <a:latin typeface="Cambria" pitchFamily="34" charset="0"/>
                <a:ea typeface="Cambria" pitchFamily="34" charset="-122"/>
                <a:cs typeface="Cambria" pitchFamily="34" charset="-120"/>
              </a:rPr>
              <a:t>My Limits — the approved quantity list</a:t>
            </a:r>
            <a:endParaRPr lang="en-US" sz="3200" dirty="0"/>
          </a:p>
        </p:txBody>
      </p:sp>
      <p:sp>
        <p:nvSpPr>
          <p:cNvPr id="4" name="Shape 2"/>
          <p:cNvSpPr/>
          <p:nvPr/>
        </p:nvSpPr>
        <p:spPr>
          <a:xfrm>
            <a:off x="502920" y="1466267"/>
            <a:ext cx="6986016" cy="4565545"/>
          </a:xfrm>
          <a:prstGeom prst="roundRect">
            <a:avLst>
              <a:gd name="adj" fmla="val 1202"/>
            </a:avLst>
          </a:prstGeom>
          <a:solidFill>
            <a:srgbClr val="FFFFFF"/>
          </a:solidFill>
          <a:ln w="12700">
            <a:solidFill>
              <a:srgbClr val="DCE4EC"/>
            </a:solidFill>
            <a:prstDash val="solid"/>
          </a:ln>
          <a:effectLst>
            <a:outerShdw sx="100000" sy="100000" kx="0" ky="0" algn="bl" rotWithShape="0" blurRad="177800" dist="38100" dir="5400000">
              <a:srgbClr val="0F2A43">
                <a:alpha val="13000"/>
              </a:srgbClr>
            </a:outerShdw>
          </a:effectLst>
        </p:spPr>
      </p:sp>
      <p:pic>
        <p:nvPicPr>
          <p:cNvPr id="5" name="Image 0" descr="/tmp/deck/09-my-limits-crop.png">    </p:cNvPr>
          <p:cNvPicPr>
            <a:picLocks noChangeAspect="1"/>
          </p:cNvPicPr>
          <p:nvPr/>
        </p:nvPicPr>
        <p:blipFill>
          <a:blip r:embed="rId1"/>
          <a:stretch>
            <a:fillRect/>
          </a:stretch>
        </p:blipFill>
        <p:spPr>
          <a:xfrm>
            <a:off x="566928" y="1530275"/>
            <a:ext cx="6858000" cy="4437529"/>
          </a:xfrm>
          <a:prstGeom prst="rect">
            <a:avLst/>
          </a:prstGeom>
        </p:spPr>
      </p:pic>
      <p:sp>
        <p:nvSpPr>
          <p:cNvPr id="6" name="Text 3"/>
          <p:cNvSpPr txBox="1"/>
          <p:nvPr/>
        </p:nvSpPr>
        <p:spPr>
          <a:xfrm>
            <a:off x="7818120" y="1600200"/>
            <a:ext cx="3840480" cy="3108960"/>
          </a:xfrm>
          <a:prstGeom prst="rect">
            <a:avLst/>
          </a:prstGeom>
          <a:noFill/>
          <a:ln/>
        </p:spPr>
        <p:txBody>
          <a:bodyPr wrap="square" lIns="0" tIns="0" rIns="0" bIns="0" rtlCol="0" anchor="t"/>
          <a:lstStyle/>
          <a:p>
            <a:pPr marL="342900" indent="-342900">
              <a:lnSpc>
                <a:spcPct val="115000"/>
              </a:lnSpc>
              <a:spcAft>
                <a:spcPts val="700"/>
              </a:spcAft>
              <a:buSzPct val="100000"/>
              <a:buChar char="•"/>
            </a:pPr>
            <a:r>
              <a:rPr lang="en-US" sz="1300" dirty="0">
                <a:solidFill>
                  <a:srgbClr val="1C2B3A"/>
                </a:solidFill>
                <a:latin typeface="Calibri" pitchFamily="34" charset="0"/>
                <a:ea typeface="Calibri" pitchFamily="34" charset="-122"/>
                <a:cs typeface="Calibri" pitchFamily="34" charset="-120"/>
              </a:rPr>
              <a:t>Every line of the price list with its allocated quantity, unit price and allocated amount.</a:t>
            </a:r>
            <a:endParaRPr lang="en-US" sz="1300" dirty="0"/>
          </a:p>
          <a:p>
            <a:pPr marL="342900" indent="-342900">
              <a:lnSpc>
                <a:spcPct val="115000"/>
              </a:lnSpc>
              <a:spcAft>
                <a:spcPts val="700"/>
              </a:spcAft>
              <a:buSzPct val="100000"/>
              <a:buChar char="•"/>
            </a:pPr>
            <a:r>
              <a:rPr lang="en-US" sz="1300" dirty="0">
                <a:solidFill>
                  <a:srgbClr val="1C2B3A"/>
                </a:solidFill>
                <a:latin typeface="Calibri" pitchFamily="34" charset="0"/>
                <a:ea typeface="Calibri" pitchFamily="34" charset="-122"/>
                <a:cs typeface="Calibri" pitchFamily="34" charset="-120"/>
              </a:rPr>
              <a:t>Used quantity and used amount move as orders are placed.</a:t>
            </a:r>
            <a:endParaRPr lang="en-US" sz="1300" dirty="0"/>
          </a:p>
          <a:p>
            <a:pPr marL="342900" indent="-342900">
              <a:lnSpc>
                <a:spcPct val="115000"/>
              </a:lnSpc>
              <a:spcAft>
                <a:spcPts val="700"/>
              </a:spcAft>
              <a:buSzPct val="100000"/>
              <a:buChar char="•"/>
            </a:pPr>
            <a:r>
              <a:rPr lang="en-US" sz="1300" dirty="0">
                <a:solidFill>
                  <a:srgbClr val="1C2B3A"/>
                </a:solidFill>
                <a:latin typeface="Calibri" pitchFamily="34" charset="0"/>
                <a:ea typeface="Calibri" pitchFamily="34" charset="-122"/>
                <a:cs typeface="Calibri" pitchFamily="34" charset="-120"/>
              </a:rPr>
              <a:t>Balance is what the employee has left to spend against that line.</a:t>
            </a:r>
            <a:endParaRPr lang="en-US" sz="1300" dirty="0"/>
          </a:p>
          <a:p>
            <a:pPr marL="342900" indent="-342900">
              <a:lnSpc>
                <a:spcPct val="115000"/>
              </a:lnSpc>
              <a:spcAft>
                <a:spcPts val="700"/>
              </a:spcAft>
              <a:buSzPct val="100000"/>
              <a:buChar char="•"/>
            </a:pPr>
            <a:r>
              <a:rPr lang="en-US" sz="1300" dirty="0">
                <a:solidFill>
                  <a:srgbClr val="1C2B3A"/>
                </a:solidFill>
                <a:latin typeface="Calibri" pitchFamily="34" charset="0"/>
                <a:ea typeface="Calibri" pitchFamily="34" charset="-122"/>
                <a:cs typeface="Calibri" pitchFamily="34" charset="-120"/>
              </a:rPr>
              <a:t>Validity dates and the delivery period are shown against the contract.</a:t>
            </a:r>
            <a:endParaRPr lang="en-US" sz="1300" dirty="0"/>
          </a:p>
          <a:p>
            <a:pPr marL="342900" indent="-342900">
              <a:lnSpc>
                <a:spcPct val="115000"/>
              </a:lnSpc>
              <a:spcAft>
                <a:spcPts val="700"/>
              </a:spcAft>
              <a:buSzPct val="100000"/>
              <a:buChar char="•"/>
            </a:pPr>
            <a:r>
              <a:rPr lang="en-US" sz="1300" dirty="0">
                <a:solidFill>
                  <a:srgbClr val="1C2B3A"/>
                </a:solidFill>
                <a:latin typeface="Calibri" pitchFamily="34" charset="0"/>
                <a:ea typeface="Calibri" pitchFamily="34" charset="-122"/>
                <a:cs typeface="Calibri" pitchFamily="34" charset="-120"/>
              </a:rPr>
              <a:t>The employee can see this at any time — no need to ask the store.</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2F5F9"/>
        </a:solidFill>
      </p:bgPr>
    </p:bg>
    <p:spTree>
      <p:nvGrpSpPr>
        <p:cNvPr id="1" name=""/>
        <p:cNvGrpSpPr/>
        <p:nvPr/>
      </p:nvGrpSpPr>
      <p:grpSpPr>
        <a:xfrm>
          <a:off x="0" y="0"/>
          <a:ext cx="0" cy="0"/>
          <a:chOff x="0" y="0"/>
          <a:chExt cx="0" cy="0"/>
        </a:xfrm>
      </p:grpSpPr>
      <p:sp>
        <p:nvSpPr>
          <p:cNvPr id="2" name="Text 0"/>
          <p:cNvSpPr txBox="1"/>
          <p:nvPr/>
        </p:nvSpPr>
        <p:spPr>
          <a:xfrm>
            <a:off x="566928" y="420624"/>
            <a:ext cx="10058400" cy="237744"/>
          </a:xfrm>
          <a:prstGeom prst="rect">
            <a:avLst/>
          </a:prstGeom>
          <a:noFill/>
          <a:ln/>
        </p:spPr>
        <p:txBody>
          <a:bodyPr wrap="square" lIns="0" tIns="0" rIns="0" bIns="0" rtlCol="0" anchor="ctr"/>
          <a:lstStyle/>
          <a:p>
            <a:pPr indent="0" marL="0">
              <a:buNone/>
            </a:pPr>
            <a:r>
              <a:rPr lang="en-US" sz="1100" b="1" spc="160" kern="0" dirty="0">
                <a:solidFill>
                  <a:srgbClr val="F4791F"/>
                </a:solidFill>
                <a:latin typeface="Calibri" pitchFamily="34" charset="0"/>
                <a:ea typeface="Calibri" pitchFamily="34" charset="-122"/>
                <a:cs typeface="Calibri" pitchFamily="34" charset="-120"/>
              </a:rPr>
              <a:t>ALLOCATION</a:t>
            </a:r>
            <a:endParaRPr lang="en-US" sz="1100" dirty="0"/>
          </a:p>
        </p:txBody>
      </p:sp>
      <p:sp>
        <p:nvSpPr>
          <p:cNvPr id="3" name="Text 1"/>
          <p:cNvSpPr txBox="1"/>
          <p:nvPr/>
        </p:nvSpPr>
        <p:spPr>
          <a:xfrm>
            <a:off x="566928" y="676656"/>
            <a:ext cx="11064240" cy="566928"/>
          </a:xfrm>
          <a:prstGeom prst="rect">
            <a:avLst/>
          </a:prstGeom>
          <a:noFill/>
          <a:ln/>
        </p:spPr>
        <p:txBody>
          <a:bodyPr wrap="square" lIns="0" tIns="0" rIns="0" bIns="0" rtlCol="0" anchor="ctr"/>
          <a:lstStyle/>
          <a:p>
            <a:pPr indent="0" marL="0">
              <a:buNone/>
            </a:pPr>
            <a:r>
              <a:rPr lang="en-US" sz="3200" b="1" dirty="0">
                <a:solidFill>
                  <a:srgbClr val="0F2A43"/>
                </a:solidFill>
                <a:latin typeface="Cambria" pitchFamily="34" charset="0"/>
                <a:ea typeface="Cambria" pitchFamily="34" charset="-122"/>
                <a:cs typeface="Cambria" pitchFamily="34" charset="-120"/>
              </a:rPr>
              <a:t>Size and colour variants share one allocation</a:t>
            </a:r>
            <a:endParaRPr lang="en-US" sz="3200" dirty="0"/>
          </a:p>
        </p:txBody>
      </p:sp>
      <p:sp>
        <p:nvSpPr>
          <p:cNvPr id="4" name="Text 2"/>
          <p:cNvSpPr txBox="1"/>
          <p:nvPr/>
        </p:nvSpPr>
        <p:spPr>
          <a:xfrm>
            <a:off x="566928" y="1481328"/>
            <a:ext cx="11064240" cy="640080"/>
          </a:xfrm>
          <a:prstGeom prst="rect">
            <a:avLst/>
          </a:prstGeom>
          <a:noFill/>
          <a:ln/>
        </p:spPr>
        <p:txBody>
          <a:bodyPr wrap="square" lIns="0" tIns="0" rIns="0" bIns="0" rtlCol="0" anchor="ctr"/>
          <a:lstStyle/>
          <a:p>
            <a:pPr indent="0" marL="0">
              <a:lnSpc>
                <a:spcPct val="120000"/>
              </a:lnSpc>
              <a:buNone/>
            </a:pPr>
            <a:r>
              <a:rPr lang="en-US" sz="1450" dirty="0">
                <a:solidFill>
                  <a:srgbClr val="1C2B3A"/>
                </a:solidFill>
                <a:latin typeface="Calibri" pitchFamily="34" charset="0"/>
                <a:ea typeface="Calibri" pitchFamily="34" charset="-122"/>
                <a:cs typeface="Calibri" pitchFamily="34" charset="-120"/>
              </a:rPr>
              <a:t>An employee allocated two hard hats has two hard hats — not two of each colour. The allocation belongs to the price-list line, and every variant on that line draws from it.</a:t>
            </a:r>
            <a:endParaRPr lang="en-US" sz="1450" dirty="0"/>
          </a:p>
        </p:txBody>
      </p:sp>
      <p:sp>
        <p:nvSpPr>
          <p:cNvPr id="5" name="Shape 3"/>
          <p:cNvSpPr/>
          <p:nvPr/>
        </p:nvSpPr>
        <p:spPr>
          <a:xfrm>
            <a:off x="566928" y="2331720"/>
            <a:ext cx="11064240" cy="1965960"/>
          </a:xfrm>
          <a:prstGeom prst="roundRect">
            <a:avLst>
              <a:gd name="adj" fmla="val 4186"/>
            </a:avLst>
          </a:prstGeom>
          <a:solidFill>
            <a:srgbClr val="FFFFFF"/>
          </a:solidFill>
          <a:ln w="12700">
            <a:solidFill>
              <a:srgbClr val="FFFFFF"/>
            </a:solidFill>
            <a:prstDash val="solid"/>
          </a:ln>
          <a:effectLst>
            <a:outerShdw sx="100000" sy="100000" kx="0" ky="0" algn="bl" rotWithShape="0" blurRad="177800" dist="38100" dir="5400000">
              <a:srgbClr val="0F2A43">
                <a:alpha val="13000"/>
              </a:srgbClr>
            </a:outerShdw>
          </a:effectLst>
        </p:spPr>
      </p:sp>
      <p:sp>
        <p:nvSpPr>
          <p:cNvPr id="6" name="Text 4"/>
          <p:cNvSpPr txBox="1"/>
          <p:nvPr/>
        </p:nvSpPr>
        <p:spPr>
          <a:xfrm>
            <a:off x="932688" y="2542032"/>
            <a:ext cx="6400800" cy="274320"/>
          </a:xfrm>
          <a:prstGeom prst="rect">
            <a:avLst/>
          </a:prstGeom>
          <a:noFill/>
          <a:ln/>
        </p:spPr>
        <p:txBody>
          <a:bodyPr wrap="square" lIns="0" tIns="0" rIns="0" bIns="0" rtlCol="0" anchor="ctr"/>
          <a:lstStyle/>
          <a:p>
            <a:pPr indent="0" marL="0">
              <a:buNone/>
            </a:pPr>
            <a:r>
              <a:rPr lang="en-US" sz="1100" b="1" spc="120" kern="0" dirty="0">
                <a:solidFill>
                  <a:srgbClr val="6B7C8D"/>
                </a:solidFill>
                <a:latin typeface="Calibri" pitchFamily="34" charset="0"/>
                <a:ea typeface="Calibri" pitchFamily="34" charset="-122"/>
                <a:cs typeface="Calibri" pitchFamily="34" charset="-120"/>
              </a:rPr>
              <a:t>PRICE LIST LINE 1  ·  ALLOCATED 2  ·  AED 15.00 EACH</a:t>
            </a:r>
            <a:endParaRPr lang="en-US" sz="1100" dirty="0"/>
          </a:p>
        </p:txBody>
      </p:sp>
      <p:sp>
        <p:nvSpPr>
          <p:cNvPr id="7" name="Shape 5"/>
          <p:cNvSpPr/>
          <p:nvPr/>
        </p:nvSpPr>
        <p:spPr>
          <a:xfrm>
            <a:off x="932688" y="2926080"/>
            <a:ext cx="3200400" cy="1051560"/>
          </a:xfrm>
          <a:prstGeom prst="roundRect">
            <a:avLst>
              <a:gd name="adj" fmla="val 6087"/>
            </a:avLst>
          </a:prstGeom>
          <a:solidFill>
            <a:srgbClr val="F2F5F9"/>
          </a:solidFill>
          <a:ln w="12700">
            <a:solidFill>
              <a:srgbClr val="DCE4EC"/>
            </a:solidFill>
            <a:prstDash val="solid"/>
          </a:ln>
        </p:spPr>
      </p:sp>
      <p:sp>
        <p:nvSpPr>
          <p:cNvPr id="8" name="Text 6"/>
          <p:cNvSpPr txBox="1"/>
          <p:nvPr/>
        </p:nvSpPr>
        <p:spPr>
          <a:xfrm>
            <a:off x="1133856" y="3072384"/>
            <a:ext cx="2834640" cy="292608"/>
          </a:xfrm>
          <a:prstGeom prst="rect">
            <a:avLst/>
          </a:prstGeom>
          <a:noFill/>
          <a:ln/>
        </p:spPr>
        <p:txBody>
          <a:bodyPr wrap="square" lIns="0" tIns="0" rIns="0" bIns="0" rtlCol="0" anchor="ctr"/>
          <a:lstStyle/>
          <a:p>
            <a:pPr indent="0" marL="0">
              <a:buNone/>
            </a:pPr>
            <a:r>
              <a:rPr lang="en-US" sz="1400" b="1" dirty="0">
                <a:solidFill>
                  <a:srgbClr val="0F2A43"/>
                </a:solidFill>
                <a:latin typeface="Calibri" pitchFamily="34" charset="0"/>
                <a:ea typeface="Calibri" pitchFamily="34" charset="-122"/>
                <a:cs typeface="Calibri" pitchFamily="34" charset="-120"/>
              </a:rPr>
              <a:t>Hard Hat, Green</a:t>
            </a:r>
            <a:endParaRPr lang="en-US" sz="1400" dirty="0"/>
          </a:p>
        </p:txBody>
      </p:sp>
      <p:sp>
        <p:nvSpPr>
          <p:cNvPr id="9" name="Text 7"/>
          <p:cNvSpPr txBox="1"/>
          <p:nvPr/>
        </p:nvSpPr>
        <p:spPr>
          <a:xfrm>
            <a:off x="1133856" y="3383280"/>
            <a:ext cx="2834640" cy="256032"/>
          </a:xfrm>
          <a:prstGeom prst="rect">
            <a:avLst/>
          </a:prstGeom>
          <a:noFill/>
          <a:ln/>
        </p:spPr>
        <p:txBody>
          <a:bodyPr wrap="square" lIns="0" tIns="0" rIns="0" bIns="0" rtlCol="0" anchor="ctr"/>
          <a:lstStyle/>
          <a:p>
            <a:pPr indent="0" marL="0">
              <a:buNone/>
            </a:pPr>
            <a:r>
              <a:rPr lang="en-US" sz="1100" dirty="0">
                <a:solidFill>
                  <a:srgbClr val="6B7C8D"/>
                </a:solidFill>
                <a:latin typeface="Calibri" pitchFamily="34" charset="0"/>
                <a:ea typeface="Calibri" pitchFamily="34" charset="-122"/>
                <a:cs typeface="Calibri" pitchFamily="34" charset="-120"/>
              </a:rPr>
              <a:t>HPHTPE0001</a:t>
            </a:r>
            <a:endParaRPr lang="en-US" sz="1100" dirty="0"/>
          </a:p>
        </p:txBody>
      </p:sp>
      <p:sp>
        <p:nvSpPr>
          <p:cNvPr id="10" name="Shape 8"/>
          <p:cNvSpPr/>
          <p:nvPr/>
        </p:nvSpPr>
        <p:spPr>
          <a:xfrm>
            <a:off x="4453128" y="2926080"/>
            <a:ext cx="3200400" cy="1051560"/>
          </a:xfrm>
          <a:prstGeom prst="roundRect">
            <a:avLst>
              <a:gd name="adj" fmla="val 6087"/>
            </a:avLst>
          </a:prstGeom>
          <a:solidFill>
            <a:srgbClr val="F2F5F9"/>
          </a:solidFill>
          <a:ln w="12700">
            <a:solidFill>
              <a:srgbClr val="DCE4EC"/>
            </a:solidFill>
            <a:prstDash val="solid"/>
          </a:ln>
        </p:spPr>
      </p:sp>
      <p:sp>
        <p:nvSpPr>
          <p:cNvPr id="11" name="Text 9"/>
          <p:cNvSpPr txBox="1"/>
          <p:nvPr/>
        </p:nvSpPr>
        <p:spPr>
          <a:xfrm>
            <a:off x="4654296" y="3072384"/>
            <a:ext cx="2834640" cy="292608"/>
          </a:xfrm>
          <a:prstGeom prst="rect">
            <a:avLst/>
          </a:prstGeom>
          <a:noFill/>
          <a:ln/>
        </p:spPr>
        <p:txBody>
          <a:bodyPr wrap="square" lIns="0" tIns="0" rIns="0" bIns="0" rtlCol="0" anchor="ctr"/>
          <a:lstStyle/>
          <a:p>
            <a:pPr indent="0" marL="0">
              <a:buNone/>
            </a:pPr>
            <a:r>
              <a:rPr lang="en-US" sz="1400" b="1" dirty="0">
                <a:solidFill>
                  <a:srgbClr val="0F2A43"/>
                </a:solidFill>
                <a:latin typeface="Calibri" pitchFamily="34" charset="0"/>
                <a:ea typeface="Calibri" pitchFamily="34" charset="-122"/>
                <a:cs typeface="Calibri" pitchFamily="34" charset="-120"/>
              </a:rPr>
              <a:t>Hard Hat, Red</a:t>
            </a:r>
            <a:endParaRPr lang="en-US" sz="1400" dirty="0"/>
          </a:p>
        </p:txBody>
      </p:sp>
      <p:sp>
        <p:nvSpPr>
          <p:cNvPr id="12" name="Text 10"/>
          <p:cNvSpPr txBox="1"/>
          <p:nvPr/>
        </p:nvSpPr>
        <p:spPr>
          <a:xfrm>
            <a:off x="4654296" y="3383280"/>
            <a:ext cx="2834640" cy="256032"/>
          </a:xfrm>
          <a:prstGeom prst="rect">
            <a:avLst/>
          </a:prstGeom>
          <a:noFill/>
          <a:ln/>
        </p:spPr>
        <p:txBody>
          <a:bodyPr wrap="square" lIns="0" tIns="0" rIns="0" bIns="0" rtlCol="0" anchor="ctr"/>
          <a:lstStyle/>
          <a:p>
            <a:pPr indent="0" marL="0">
              <a:buNone/>
            </a:pPr>
            <a:r>
              <a:rPr lang="en-US" sz="1100" dirty="0">
                <a:solidFill>
                  <a:srgbClr val="6B7C8D"/>
                </a:solidFill>
                <a:latin typeface="Calibri" pitchFamily="34" charset="0"/>
                <a:ea typeface="Calibri" pitchFamily="34" charset="-122"/>
                <a:cs typeface="Calibri" pitchFamily="34" charset="-120"/>
              </a:rPr>
              <a:t>HPHTPE0002</a:t>
            </a:r>
            <a:endParaRPr lang="en-US" sz="1100" dirty="0"/>
          </a:p>
        </p:txBody>
      </p:sp>
      <p:sp>
        <p:nvSpPr>
          <p:cNvPr id="13" name="Shape 11"/>
          <p:cNvSpPr/>
          <p:nvPr/>
        </p:nvSpPr>
        <p:spPr>
          <a:xfrm>
            <a:off x="7973568" y="2926080"/>
            <a:ext cx="3200400" cy="1051560"/>
          </a:xfrm>
          <a:prstGeom prst="roundRect">
            <a:avLst>
              <a:gd name="adj" fmla="val 6087"/>
            </a:avLst>
          </a:prstGeom>
          <a:solidFill>
            <a:srgbClr val="F2F5F9"/>
          </a:solidFill>
          <a:ln w="12700">
            <a:solidFill>
              <a:srgbClr val="DCE4EC"/>
            </a:solidFill>
            <a:prstDash val="solid"/>
          </a:ln>
        </p:spPr>
      </p:sp>
      <p:sp>
        <p:nvSpPr>
          <p:cNvPr id="14" name="Text 12"/>
          <p:cNvSpPr txBox="1"/>
          <p:nvPr/>
        </p:nvSpPr>
        <p:spPr>
          <a:xfrm>
            <a:off x="8174736" y="3072384"/>
            <a:ext cx="2834640" cy="292608"/>
          </a:xfrm>
          <a:prstGeom prst="rect">
            <a:avLst/>
          </a:prstGeom>
          <a:noFill/>
          <a:ln/>
        </p:spPr>
        <p:txBody>
          <a:bodyPr wrap="square" lIns="0" tIns="0" rIns="0" bIns="0" rtlCol="0" anchor="ctr"/>
          <a:lstStyle/>
          <a:p>
            <a:pPr indent="0" marL="0">
              <a:buNone/>
            </a:pPr>
            <a:r>
              <a:rPr lang="en-US" sz="1400" b="1" dirty="0">
                <a:solidFill>
                  <a:srgbClr val="0F2A43"/>
                </a:solidFill>
                <a:latin typeface="Calibri" pitchFamily="34" charset="0"/>
                <a:ea typeface="Calibri" pitchFamily="34" charset="-122"/>
                <a:cs typeface="Calibri" pitchFamily="34" charset="-120"/>
              </a:rPr>
              <a:t>Hard Hat, Blue</a:t>
            </a:r>
            <a:endParaRPr lang="en-US" sz="1400" dirty="0"/>
          </a:p>
        </p:txBody>
      </p:sp>
      <p:sp>
        <p:nvSpPr>
          <p:cNvPr id="15" name="Text 13"/>
          <p:cNvSpPr txBox="1"/>
          <p:nvPr/>
        </p:nvSpPr>
        <p:spPr>
          <a:xfrm>
            <a:off x="8174736" y="3383280"/>
            <a:ext cx="2834640" cy="256032"/>
          </a:xfrm>
          <a:prstGeom prst="rect">
            <a:avLst/>
          </a:prstGeom>
          <a:noFill/>
          <a:ln/>
        </p:spPr>
        <p:txBody>
          <a:bodyPr wrap="square" lIns="0" tIns="0" rIns="0" bIns="0" rtlCol="0" anchor="ctr"/>
          <a:lstStyle/>
          <a:p>
            <a:pPr indent="0" marL="0">
              <a:buNone/>
            </a:pPr>
            <a:r>
              <a:rPr lang="en-US" sz="1100" dirty="0">
                <a:solidFill>
                  <a:srgbClr val="6B7C8D"/>
                </a:solidFill>
                <a:latin typeface="Calibri" pitchFamily="34" charset="0"/>
                <a:ea typeface="Calibri" pitchFamily="34" charset="-122"/>
                <a:cs typeface="Calibri" pitchFamily="34" charset="-120"/>
              </a:rPr>
              <a:t>HPHTPE0003</a:t>
            </a:r>
            <a:endParaRPr lang="en-US" sz="1100" dirty="0"/>
          </a:p>
        </p:txBody>
      </p:sp>
      <p:sp>
        <p:nvSpPr>
          <p:cNvPr id="16" name="Shape 14"/>
          <p:cNvSpPr/>
          <p:nvPr/>
        </p:nvSpPr>
        <p:spPr>
          <a:xfrm>
            <a:off x="566928" y="4617720"/>
            <a:ext cx="3529584" cy="1371600"/>
          </a:xfrm>
          <a:prstGeom prst="roundRect">
            <a:avLst>
              <a:gd name="adj" fmla="val 6000"/>
            </a:avLst>
          </a:prstGeom>
          <a:solidFill>
            <a:srgbClr val="FFFFFF"/>
          </a:solidFill>
          <a:ln w="12700">
            <a:solidFill>
              <a:srgbClr val="FFFFFF"/>
            </a:solidFill>
            <a:prstDash val="solid"/>
          </a:ln>
          <a:effectLst>
            <a:outerShdw sx="100000" sy="100000" kx="0" ky="0" algn="bl" rotWithShape="0" blurRad="177800" dist="38100" dir="5400000">
              <a:srgbClr val="0F2A43">
                <a:alpha val="13000"/>
              </a:srgbClr>
            </a:outerShdw>
          </a:effectLst>
        </p:spPr>
      </p:sp>
      <p:sp>
        <p:nvSpPr>
          <p:cNvPr id="17" name="Shape 15"/>
          <p:cNvSpPr/>
          <p:nvPr/>
        </p:nvSpPr>
        <p:spPr>
          <a:xfrm>
            <a:off x="822960" y="4864608"/>
            <a:ext cx="182880" cy="182880"/>
          </a:xfrm>
          <a:prstGeom prst="ellipse">
            <a:avLst/>
          </a:prstGeom>
          <a:solidFill>
            <a:srgbClr val="1E9E6A"/>
          </a:solidFill>
          <a:ln w="12700">
            <a:solidFill>
              <a:srgbClr val="1E9E6A"/>
            </a:solidFill>
            <a:prstDash val="solid"/>
          </a:ln>
        </p:spPr>
      </p:sp>
      <p:sp>
        <p:nvSpPr>
          <p:cNvPr id="18" name="Text 16"/>
          <p:cNvSpPr txBox="1"/>
          <p:nvPr/>
        </p:nvSpPr>
        <p:spPr>
          <a:xfrm>
            <a:off x="1115568" y="4791456"/>
            <a:ext cx="2834640" cy="292608"/>
          </a:xfrm>
          <a:prstGeom prst="rect">
            <a:avLst/>
          </a:prstGeom>
          <a:noFill/>
          <a:ln/>
        </p:spPr>
        <p:txBody>
          <a:bodyPr wrap="square" lIns="0" tIns="0" rIns="0" bIns="0" rtlCol="0" anchor="ctr"/>
          <a:lstStyle/>
          <a:p>
            <a:pPr indent="0" marL="0">
              <a:buNone/>
            </a:pPr>
            <a:r>
              <a:rPr lang="en-US" sz="1400" b="1" dirty="0">
                <a:solidFill>
                  <a:srgbClr val="0F2A43"/>
                </a:solidFill>
                <a:latin typeface="Calibri" pitchFamily="34" charset="0"/>
                <a:ea typeface="Calibri" pitchFamily="34" charset="-122"/>
                <a:cs typeface="Calibri" pitchFamily="34" charset="-120"/>
              </a:rPr>
              <a:t>2 green</a:t>
            </a:r>
            <a:endParaRPr lang="en-US" sz="1400" dirty="0"/>
          </a:p>
        </p:txBody>
      </p:sp>
      <p:sp>
        <p:nvSpPr>
          <p:cNvPr id="19" name="Text 17"/>
          <p:cNvSpPr txBox="1"/>
          <p:nvPr/>
        </p:nvSpPr>
        <p:spPr>
          <a:xfrm>
            <a:off x="1115568" y="5102352"/>
            <a:ext cx="2834640" cy="685800"/>
          </a:xfrm>
          <a:prstGeom prst="rect">
            <a:avLst/>
          </a:prstGeom>
          <a:noFill/>
          <a:ln/>
        </p:spPr>
        <p:txBody>
          <a:bodyPr wrap="square" lIns="0" tIns="0" rIns="0" bIns="0" rtlCol="0" anchor="ctr"/>
          <a:lstStyle/>
          <a:p>
            <a:pPr indent="0" marL="0">
              <a:lnSpc>
                <a:spcPct val="110000"/>
              </a:lnSpc>
              <a:buNone/>
            </a:pPr>
            <a:r>
              <a:rPr lang="en-US" sz="1150" dirty="0">
                <a:solidFill>
                  <a:srgbClr val="6B7C8D"/>
                </a:solidFill>
                <a:latin typeface="Calibri" pitchFamily="34" charset="0"/>
                <a:ea typeface="Calibri" pitchFamily="34" charset="-122"/>
                <a:cs typeface="Calibri" pitchFamily="34" charset="-120"/>
              </a:rPr>
              <a:t>Allowed — the line is used up</a:t>
            </a:r>
            <a:endParaRPr lang="en-US" sz="1150" dirty="0"/>
          </a:p>
        </p:txBody>
      </p:sp>
      <p:sp>
        <p:nvSpPr>
          <p:cNvPr id="20" name="Shape 18"/>
          <p:cNvSpPr/>
          <p:nvPr/>
        </p:nvSpPr>
        <p:spPr>
          <a:xfrm>
            <a:off x="4334256" y="4617720"/>
            <a:ext cx="3529584" cy="1371600"/>
          </a:xfrm>
          <a:prstGeom prst="roundRect">
            <a:avLst>
              <a:gd name="adj" fmla="val 6000"/>
            </a:avLst>
          </a:prstGeom>
          <a:solidFill>
            <a:srgbClr val="FFFFFF"/>
          </a:solidFill>
          <a:ln w="12700">
            <a:solidFill>
              <a:srgbClr val="FFFFFF"/>
            </a:solidFill>
            <a:prstDash val="solid"/>
          </a:ln>
          <a:effectLst>
            <a:outerShdw sx="100000" sy="100000" kx="0" ky="0" algn="bl" rotWithShape="0" blurRad="177800" dist="38100" dir="5400000">
              <a:srgbClr val="0F2A43">
                <a:alpha val="13000"/>
              </a:srgbClr>
            </a:outerShdw>
          </a:effectLst>
        </p:spPr>
      </p:sp>
      <p:sp>
        <p:nvSpPr>
          <p:cNvPr id="21" name="Shape 19"/>
          <p:cNvSpPr/>
          <p:nvPr/>
        </p:nvSpPr>
        <p:spPr>
          <a:xfrm>
            <a:off x="4590288" y="4864608"/>
            <a:ext cx="182880" cy="182880"/>
          </a:xfrm>
          <a:prstGeom prst="ellipse">
            <a:avLst/>
          </a:prstGeom>
          <a:solidFill>
            <a:srgbClr val="1E9E6A"/>
          </a:solidFill>
          <a:ln w="12700">
            <a:solidFill>
              <a:srgbClr val="1E9E6A"/>
            </a:solidFill>
            <a:prstDash val="solid"/>
          </a:ln>
        </p:spPr>
      </p:sp>
      <p:sp>
        <p:nvSpPr>
          <p:cNvPr id="22" name="Text 20"/>
          <p:cNvSpPr txBox="1"/>
          <p:nvPr/>
        </p:nvSpPr>
        <p:spPr>
          <a:xfrm>
            <a:off x="4882896" y="4791456"/>
            <a:ext cx="2834640" cy="292608"/>
          </a:xfrm>
          <a:prstGeom prst="rect">
            <a:avLst/>
          </a:prstGeom>
          <a:noFill/>
          <a:ln/>
        </p:spPr>
        <p:txBody>
          <a:bodyPr wrap="square" lIns="0" tIns="0" rIns="0" bIns="0" rtlCol="0" anchor="ctr"/>
          <a:lstStyle/>
          <a:p>
            <a:pPr indent="0" marL="0">
              <a:buNone/>
            </a:pPr>
            <a:r>
              <a:rPr lang="en-US" sz="1400" b="1" dirty="0">
                <a:solidFill>
                  <a:srgbClr val="0F2A43"/>
                </a:solidFill>
                <a:latin typeface="Calibri" pitchFamily="34" charset="0"/>
                <a:ea typeface="Calibri" pitchFamily="34" charset="-122"/>
                <a:cs typeface="Calibri" pitchFamily="34" charset="-120"/>
              </a:rPr>
              <a:t>1 green + 1 red</a:t>
            </a:r>
            <a:endParaRPr lang="en-US" sz="1400" dirty="0"/>
          </a:p>
        </p:txBody>
      </p:sp>
      <p:sp>
        <p:nvSpPr>
          <p:cNvPr id="23" name="Text 21"/>
          <p:cNvSpPr txBox="1"/>
          <p:nvPr/>
        </p:nvSpPr>
        <p:spPr>
          <a:xfrm>
            <a:off x="4882896" y="5102352"/>
            <a:ext cx="2834640" cy="685800"/>
          </a:xfrm>
          <a:prstGeom prst="rect">
            <a:avLst/>
          </a:prstGeom>
          <a:noFill/>
          <a:ln/>
        </p:spPr>
        <p:txBody>
          <a:bodyPr wrap="square" lIns="0" tIns="0" rIns="0" bIns="0" rtlCol="0" anchor="ctr"/>
          <a:lstStyle/>
          <a:p>
            <a:pPr indent="0" marL="0">
              <a:lnSpc>
                <a:spcPct val="110000"/>
              </a:lnSpc>
              <a:buNone/>
            </a:pPr>
            <a:r>
              <a:rPr lang="en-US" sz="1150" dirty="0">
                <a:solidFill>
                  <a:srgbClr val="6B7C8D"/>
                </a:solidFill>
                <a:latin typeface="Calibri" pitchFamily="34" charset="0"/>
                <a:ea typeface="Calibri" pitchFamily="34" charset="-122"/>
                <a:cs typeface="Calibri" pitchFamily="34" charset="-120"/>
              </a:rPr>
              <a:t>Allowed — still two hats in total</a:t>
            </a:r>
            <a:endParaRPr lang="en-US" sz="1150" dirty="0"/>
          </a:p>
        </p:txBody>
      </p:sp>
      <p:sp>
        <p:nvSpPr>
          <p:cNvPr id="24" name="Shape 22"/>
          <p:cNvSpPr/>
          <p:nvPr/>
        </p:nvSpPr>
        <p:spPr>
          <a:xfrm>
            <a:off x="8101584" y="4617720"/>
            <a:ext cx="3529584" cy="1371600"/>
          </a:xfrm>
          <a:prstGeom prst="roundRect">
            <a:avLst>
              <a:gd name="adj" fmla="val 6000"/>
            </a:avLst>
          </a:prstGeom>
          <a:solidFill>
            <a:srgbClr val="FFFFFF"/>
          </a:solidFill>
          <a:ln w="12700">
            <a:solidFill>
              <a:srgbClr val="FFFFFF"/>
            </a:solidFill>
            <a:prstDash val="solid"/>
          </a:ln>
          <a:effectLst>
            <a:outerShdw sx="100000" sy="100000" kx="0" ky="0" algn="bl" rotWithShape="0" blurRad="177800" dist="38100" dir="5400000">
              <a:srgbClr val="0F2A43">
                <a:alpha val="13000"/>
              </a:srgbClr>
            </a:outerShdw>
          </a:effectLst>
        </p:spPr>
      </p:sp>
      <p:sp>
        <p:nvSpPr>
          <p:cNvPr id="25" name="Shape 23"/>
          <p:cNvSpPr/>
          <p:nvPr/>
        </p:nvSpPr>
        <p:spPr>
          <a:xfrm>
            <a:off x="8357616" y="4864608"/>
            <a:ext cx="182880" cy="182880"/>
          </a:xfrm>
          <a:prstGeom prst="ellipse">
            <a:avLst/>
          </a:prstGeom>
          <a:solidFill>
            <a:srgbClr val="E8A213"/>
          </a:solidFill>
          <a:ln w="12700">
            <a:solidFill>
              <a:srgbClr val="E8A213"/>
            </a:solidFill>
            <a:prstDash val="solid"/>
          </a:ln>
        </p:spPr>
      </p:sp>
      <p:sp>
        <p:nvSpPr>
          <p:cNvPr id="26" name="Text 24"/>
          <p:cNvSpPr txBox="1"/>
          <p:nvPr/>
        </p:nvSpPr>
        <p:spPr>
          <a:xfrm>
            <a:off x="8650224" y="4791456"/>
            <a:ext cx="2834640" cy="292608"/>
          </a:xfrm>
          <a:prstGeom prst="rect">
            <a:avLst/>
          </a:prstGeom>
          <a:noFill/>
          <a:ln/>
        </p:spPr>
        <p:txBody>
          <a:bodyPr wrap="square" lIns="0" tIns="0" rIns="0" bIns="0" rtlCol="0" anchor="ctr"/>
          <a:lstStyle/>
          <a:p>
            <a:pPr indent="0" marL="0">
              <a:buNone/>
            </a:pPr>
            <a:r>
              <a:rPr lang="en-US" sz="1400" b="1" dirty="0">
                <a:solidFill>
                  <a:srgbClr val="0F2A43"/>
                </a:solidFill>
                <a:latin typeface="Calibri" pitchFamily="34" charset="0"/>
                <a:ea typeface="Calibri" pitchFamily="34" charset="-122"/>
                <a:cs typeface="Calibri" pitchFamily="34" charset="-120"/>
              </a:rPr>
              <a:t>2 green + 1 blue</a:t>
            </a:r>
            <a:endParaRPr lang="en-US" sz="1400" dirty="0"/>
          </a:p>
        </p:txBody>
      </p:sp>
      <p:sp>
        <p:nvSpPr>
          <p:cNvPr id="27" name="Text 25"/>
          <p:cNvSpPr txBox="1"/>
          <p:nvPr/>
        </p:nvSpPr>
        <p:spPr>
          <a:xfrm>
            <a:off x="8650224" y="5102352"/>
            <a:ext cx="2834640" cy="685800"/>
          </a:xfrm>
          <a:prstGeom prst="rect">
            <a:avLst/>
          </a:prstGeom>
          <a:noFill/>
          <a:ln/>
        </p:spPr>
        <p:txBody>
          <a:bodyPr wrap="square" lIns="0" tIns="0" rIns="0" bIns="0" rtlCol="0" anchor="ctr"/>
          <a:lstStyle/>
          <a:p>
            <a:pPr indent="0" marL="0">
              <a:lnSpc>
                <a:spcPct val="110000"/>
              </a:lnSpc>
              <a:buNone/>
            </a:pPr>
            <a:r>
              <a:rPr lang="en-US" sz="1150" dirty="0">
                <a:solidFill>
                  <a:srgbClr val="6B7C8D"/>
                </a:solidFill>
                <a:latin typeface="Calibri" pitchFamily="34" charset="0"/>
                <a:ea typeface="Calibri" pitchFamily="34" charset="-122"/>
                <a:cs typeface="Calibri" pitchFamily="34" charset="-120"/>
              </a:rPr>
              <a:t>Over the limit — goes to EGA for approval</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2F5F9"/>
        </a:solidFill>
      </p:bgPr>
    </p:bg>
    <p:spTree>
      <p:nvGrpSpPr>
        <p:cNvPr id="1" name=""/>
        <p:cNvGrpSpPr/>
        <p:nvPr/>
      </p:nvGrpSpPr>
      <p:grpSpPr>
        <a:xfrm>
          <a:off x="0" y="0"/>
          <a:ext cx="0" cy="0"/>
          <a:chOff x="0" y="0"/>
          <a:chExt cx="0" cy="0"/>
        </a:xfrm>
      </p:grpSpPr>
      <p:sp>
        <p:nvSpPr>
          <p:cNvPr id="2" name="Text 0"/>
          <p:cNvSpPr txBox="1"/>
          <p:nvPr/>
        </p:nvSpPr>
        <p:spPr>
          <a:xfrm>
            <a:off x="566928" y="420624"/>
            <a:ext cx="10058400" cy="237744"/>
          </a:xfrm>
          <a:prstGeom prst="rect">
            <a:avLst/>
          </a:prstGeom>
          <a:noFill/>
          <a:ln/>
        </p:spPr>
        <p:txBody>
          <a:bodyPr wrap="square" lIns="0" tIns="0" rIns="0" bIns="0" rtlCol="0" anchor="ctr"/>
          <a:lstStyle/>
          <a:p>
            <a:pPr indent="0" marL="0">
              <a:buNone/>
            </a:pPr>
            <a:r>
              <a:rPr lang="en-US" sz="1100" b="1" spc="160" kern="0" dirty="0">
                <a:solidFill>
                  <a:srgbClr val="F4791F"/>
                </a:solidFill>
                <a:latin typeface="Calibri" pitchFamily="34" charset="0"/>
                <a:ea typeface="Calibri" pitchFamily="34" charset="-122"/>
                <a:cs typeface="Calibri" pitchFamily="34" charset="-120"/>
              </a:rPr>
              <a:t>STOCK RESERVATION</a:t>
            </a:r>
            <a:endParaRPr lang="en-US" sz="1100" dirty="0"/>
          </a:p>
        </p:txBody>
      </p:sp>
      <p:sp>
        <p:nvSpPr>
          <p:cNvPr id="3" name="Text 1"/>
          <p:cNvSpPr txBox="1"/>
          <p:nvPr/>
        </p:nvSpPr>
        <p:spPr>
          <a:xfrm>
            <a:off x="566928" y="676656"/>
            <a:ext cx="11064240" cy="566928"/>
          </a:xfrm>
          <a:prstGeom prst="rect">
            <a:avLst/>
          </a:prstGeom>
          <a:noFill/>
          <a:ln/>
        </p:spPr>
        <p:txBody>
          <a:bodyPr wrap="square" lIns="0" tIns="0" rIns="0" bIns="0" rtlCol="0" anchor="ctr"/>
          <a:lstStyle/>
          <a:p>
            <a:pPr indent="0" marL="0">
              <a:buNone/>
            </a:pPr>
            <a:r>
              <a:rPr lang="en-US" sz="3200" b="1" dirty="0">
                <a:solidFill>
                  <a:srgbClr val="0F2A43"/>
                </a:solidFill>
                <a:latin typeface="Cambria" pitchFamily="34" charset="0"/>
                <a:ea typeface="Cambria" pitchFamily="34" charset="-122"/>
                <a:cs typeface="Cambria" pitchFamily="34" charset="-120"/>
              </a:rPr>
              <a:t>Picking an item reserves it — for ten minutes</a:t>
            </a:r>
            <a:endParaRPr lang="en-US" sz="3200" dirty="0"/>
          </a:p>
        </p:txBody>
      </p:sp>
      <p:sp>
        <p:nvSpPr>
          <p:cNvPr id="4" name="Shape 2"/>
          <p:cNvSpPr/>
          <p:nvPr/>
        </p:nvSpPr>
        <p:spPr>
          <a:xfrm>
            <a:off x="5696712" y="2128367"/>
            <a:ext cx="6025896" cy="2912162"/>
          </a:xfrm>
          <a:prstGeom prst="roundRect">
            <a:avLst>
              <a:gd name="adj" fmla="val 1884"/>
            </a:avLst>
          </a:prstGeom>
          <a:solidFill>
            <a:srgbClr val="FFFFFF"/>
          </a:solidFill>
          <a:ln w="12700">
            <a:solidFill>
              <a:srgbClr val="DCE4EC"/>
            </a:solidFill>
            <a:prstDash val="solid"/>
          </a:ln>
          <a:effectLst>
            <a:outerShdw sx="100000" sy="100000" kx="0" ky="0" algn="bl" rotWithShape="0" blurRad="177800" dist="38100" dir="5400000">
              <a:srgbClr val="0F2A43">
                <a:alpha val="13000"/>
              </a:srgbClr>
            </a:outerShdw>
          </a:effectLst>
        </p:spPr>
      </p:sp>
      <p:pic>
        <p:nvPicPr>
          <p:cNvPr id="5" name="Image 0" descr="/tmp/deck/06-carts-crop.png">    </p:cNvPr>
          <p:cNvPicPr>
            <a:picLocks noChangeAspect="1"/>
          </p:cNvPicPr>
          <p:nvPr/>
        </p:nvPicPr>
        <p:blipFill>
          <a:blip r:embed="rId1"/>
          <a:stretch>
            <a:fillRect/>
          </a:stretch>
        </p:blipFill>
        <p:spPr>
          <a:xfrm>
            <a:off x="5760720" y="2192375"/>
            <a:ext cx="5897880" cy="2784146"/>
          </a:xfrm>
          <a:prstGeom prst="rect">
            <a:avLst/>
          </a:prstGeom>
        </p:spPr>
      </p:pic>
      <p:sp>
        <p:nvSpPr>
          <p:cNvPr id="6" name="Text 3"/>
          <p:cNvSpPr txBox="1"/>
          <p:nvPr/>
        </p:nvSpPr>
        <p:spPr>
          <a:xfrm>
            <a:off x="566928" y="1600200"/>
            <a:ext cx="4892040" cy="2926080"/>
          </a:xfrm>
          <a:prstGeom prst="rect">
            <a:avLst/>
          </a:prstGeom>
          <a:noFill/>
          <a:ln/>
        </p:spPr>
        <p:txBody>
          <a:bodyPr wrap="square" lIns="0" tIns="0" rIns="0" bIns="0" rtlCol="0" anchor="t"/>
          <a:lstStyle/>
          <a:p>
            <a:pPr marL="342900" indent="-342900">
              <a:lnSpc>
                <a:spcPct val="115000"/>
              </a:lnSpc>
              <a:spcAft>
                <a:spcPts val="700"/>
              </a:spcAft>
              <a:buSzPct val="100000"/>
              <a:buChar char="•"/>
            </a:pPr>
            <a:r>
              <a:rPr lang="en-US" sz="1400" dirty="0">
                <a:solidFill>
                  <a:srgbClr val="1C2B3A"/>
                </a:solidFill>
                <a:latin typeface="Calibri" pitchFamily="34" charset="0"/>
                <a:ea typeface="Calibri" pitchFamily="34" charset="-122"/>
                <a:cs typeface="Calibri" pitchFamily="34" charset="-120"/>
              </a:rPr>
              <a:t>The moment a quantity is picked, that stock is held against the employee in the main store — two people cannot pick the last pair of boots.</a:t>
            </a:r>
            <a:endParaRPr lang="en-US" sz="1400" dirty="0"/>
          </a:p>
          <a:p>
            <a:pPr marL="342900" indent="-342900">
              <a:lnSpc>
                <a:spcPct val="115000"/>
              </a:lnSpc>
              <a:spcAft>
                <a:spcPts val="700"/>
              </a:spcAft>
              <a:buSzPct val="100000"/>
              <a:buChar char="•"/>
            </a:pPr>
            <a:r>
              <a:rPr lang="en-US" sz="1400" dirty="0">
                <a:solidFill>
                  <a:srgbClr val="1C2B3A"/>
                </a:solidFill>
                <a:latin typeface="Calibri" pitchFamily="34" charset="0"/>
                <a:ea typeface="Calibri" pitchFamily="34" charset="-122"/>
                <a:cs typeface="Calibri" pitchFamily="34" charset="-120"/>
              </a:rPr>
              <a:t>A countdown runs in the sidebar and on the phone.</a:t>
            </a:r>
            <a:endParaRPr lang="en-US" sz="1400" dirty="0"/>
          </a:p>
          <a:p>
            <a:pPr marL="342900" indent="-342900">
              <a:lnSpc>
                <a:spcPct val="115000"/>
              </a:lnSpc>
              <a:spcAft>
                <a:spcPts val="700"/>
              </a:spcAft>
              <a:buSzPct val="100000"/>
              <a:buChar char="•"/>
            </a:pPr>
            <a:r>
              <a:rPr lang="en-US" sz="1400" dirty="0">
                <a:solidFill>
                  <a:srgbClr val="1C2B3A"/>
                </a:solidFill>
                <a:latin typeface="Calibri" pitchFamily="34" charset="0"/>
                <a:ea typeface="Calibri" pitchFamily="34" charset="-122"/>
                <a:cs typeface="Calibri" pitchFamily="34" charset="-120"/>
              </a:rPr>
              <a:t>If the order is not placed within ten minutes the cart is emptied and the held stock goes straight back.</a:t>
            </a:r>
            <a:endParaRPr lang="en-US" sz="1400" dirty="0"/>
          </a:p>
          <a:p>
            <a:pPr marL="342900" indent="-342900">
              <a:lnSpc>
                <a:spcPct val="115000"/>
              </a:lnSpc>
              <a:spcAft>
                <a:spcPts val="700"/>
              </a:spcAft>
              <a:buSzPct val="100000"/>
              <a:buChar char="•"/>
            </a:pPr>
            <a:r>
              <a:rPr lang="en-US" sz="1400" dirty="0">
                <a:solidFill>
                  <a:srgbClr val="1C2B3A"/>
                </a:solidFill>
                <a:latin typeface="Calibri" pitchFamily="34" charset="0"/>
                <a:ea typeface="Calibri" pitchFamily="34" charset="-122"/>
                <a:cs typeface="Calibri" pitchFamily="34" charset="-120"/>
              </a:rPr>
              <a:t>The employee is told what happened and can simply shop again.</a:t>
            </a:r>
            <a:endParaRPr lang="en-US" sz="1400" dirty="0"/>
          </a:p>
        </p:txBody>
      </p:sp>
      <p:sp>
        <p:nvSpPr>
          <p:cNvPr id="7" name="Shape 4"/>
          <p:cNvSpPr/>
          <p:nvPr/>
        </p:nvSpPr>
        <p:spPr>
          <a:xfrm>
            <a:off x="566928" y="4754880"/>
            <a:ext cx="4892040" cy="1097280"/>
          </a:xfrm>
          <a:prstGeom prst="roundRect">
            <a:avLst>
              <a:gd name="adj" fmla="val 7500"/>
            </a:avLst>
          </a:prstGeom>
          <a:solidFill>
            <a:srgbClr val="0F2A43"/>
          </a:solidFill>
          <a:ln w="12700">
            <a:solidFill>
              <a:srgbClr val="0F2A43"/>
            </a:solidFill>
            <a:prstDash val="solid"/>
          </a:ln>
          <a:effectLst>
            <a:outerShdw sx="100000" sy="100000" kx="0" ky="0" algn="bl" rotWithShape="0" blurRad="177800" dist="38100" dir="5400000">
              <a:srgbClr val="0F2A43">
                <a:alpha val="13000"/>
              </a:srgbClr>
            </a:outerShdw>
          </a:effectLst>
        </p:spPr>
      </p:sp>
      <p:sp>
        <p:nvSpPr>
          <p:cNvPr id="8" name="Text 5"/>
          <p:cNvSpPr txBox="1"/>
          <p:nvPr/>
        </p:nvSpPr>
        <p:spPr>
          <a:xfrm>
            <a:off x="859536" y="4956048"/>
            <a:ext cx="4389120" cy="731520"/>
          </a:xfrm>
          <a:prstGeom prst="rect">
            <a:avLst/>
          </a:prstGeom>
          <a:noFill/>
          <a:ln/>
        </p:spPr>
        <p:txBody>
          <a:bodyPr wrap="square" lIns="0" tIns="0" rIns="0" bIns="0" rtlCol="0" anchor="ctr"/>
          <a:lstStyle/>
          <a:p>
            <a:pPr indent="0" marL="0">
              <a:lnSpc>
                <a:spcPct val="115000"/>
              </a:lnSpc>
              <a:buNone/>
            </a:pPr>
            <a:r>
              <a:rPr lang="en-US" sz="1300" dirty="0">
                <a:solidFill>
                  <a:srgbClr val="CFE0EF"/>
                </a:solidFill>
                <a:latin typeface="Calibri" pitchFamily="34" charset="0"/>
                <a:ea typeface="Calibri" pitchFamily="34" charset="-122"/>
                <a:cs typeface="Calibri" pitchFamily="34" charset="-120"/>
              </a:rPr>
              <a:t>Stock on the shopping screen is therefore real — not a figure that was true an hour ago.</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2F5F9"/>
        </a:solidFill>
      </p:bgPr>
    </p:bg>
    <p:spTree>
      <p:nvGrpSpPr>
        <p:cNvPr id="1" name=""/>
        <p:cNvGrpSpPr/>
        <p:nvPr/>
      </p:nvGrpSpPr>
      <p:grpSpPr>
        <a:xfrm>
          <a:off x="0" y="0"/>
          <a:ext cx="0" cy="0"/>
          <a:chOff x="0" y="0"/>
          <a:chExt cx="0" cy="0"/>
        </a:xfrm>
      </p:grpSpPr>
      <p:sp>
        <p:nvSpPr>
          <p:cNvPr id="2" name="Text 0"/>
          <p:cNvSpPr txBox="1"/>
          <p:nvPr/>
        </p:nvSpPr>
        <p:spPr>
          <a:xfrm>
            <a:off x="566928" y="420624"/>
            <a:ext cx="10058400" cy="237744"/>
          </a:xfrm>
          <a:prstGeom prst="rect">
            <a:avLst/>
          </a:prstGeom>
          <a:noFill/>
          <a:ln/>
        </p:spPr>
        <p:txBody>
          <a:bodyPr wrap="square" lIns="0" tIns="0" rIns="0" bIns="0" rtlCol="0" anchor="ctr"/>
          <a:lstStyle/>
          <a:p>
            <a:pPr indent="0" marL="0">
              <a:buNone/>
            </a:pPr>
            <a:r>
              <a:rPr lang="en-US" sz="1100" b="1" spc="160" kern="0" dirty="0">
                <a:solidFill>
                  <a:srgbClr val="F4791F"/>
                </a:solidFill>
                <a:latin typeface="Calibri" pitchFamily="34" charset="0"/>
                <a:ea typeface="Calibri" pitchFamily="34" charset="-122"/>
                <a:cs typeface="Calibri" pitchFamily="34" charset="-120"/>
              </a:rPr>
              <a:t>TWO CARTS</a:t>
            </a:r>
            <a:endParaRPr lang="en-US" sz="1100" dirty="0"/>
          </a:p>
        </p:txBody>
      </p:sp>
      <p:sp>
        <p:nvSpPr>
          <p:cNvPr id="3" name="Text 1"/>
          <p:cNvSpPr txBox="1"/>
          <p:nvPr/>
        </p:nvSpPr>
        <p:spPr>
          <a:xfrm>
            <a:off x="566928" y="676656"/>
            <a:ext cx="11064240" cy="566928"/>
          </a:xfrm>
          <a:prstGeom prst="rect">
            <a:avLst/>
          </a:prstGeom>
          <a:noFill/>
          <a:ln/>
        </p:spPr>
        <p:txBody>
          <a:bodyPr wrap="square" lIns="0" tIns="0" rIns="0" bIns="0" rtlCol="0" anchor="ctr"/>
          <a:lstStyle/>
          <a:p>
            <a:pPr indent="0" marL="0">
              <a:buNone/>
            </a:pPr>
            <a:r>
              <a:rPr lang="en-US" sz="3200" b="1" dirty="0">
                <a:solidFill>
                  <a:srgbClr val="0F2A43"/>
                </a:solidFill>
                <a:latin typeface="Cambria" pitchFamily="34" charset="0"/>
                <a:ea typeface="Cambria" pitchFamily="34" charset="-122"/>
                <a:cs typeface="Cambria" pitchFamily="34" charset="-120"/>
              </a:rPr>
              <a:t>Within the limit, or over it</a:t>
            </a:r>
            <a:endParaRPr lang="en-US" sz="3200" dirty="0"/>
          </a:p>
        </p:txBody>
      </p:sp>
      <p:sp>
        <p:nvSpPr>
          <p:cNvPr id="4" name="Shape 2"/>
          <p:cNvSpPr/>
          <p:nvPr/>
        </p:nvSpPr>
        <p:spPr>
          <a:xfrm>
            <a:off x="566928" y="1600200"/>
            <a:ext cx="5394960" cy="3977640"/>
          </a:xfrm>
          <a:prstGeom prst="roundRect">
            <a:avLst>
              <a:gd name="adj" fmla="val 2069"/>
            </a:avLst>
          </a:prstGeom>
          <a:solidFill>
            <a:srgbClr val="FFFFFF"/>
          </a:solidFill>
          <a:ln w="12700">
            <a:solidFill>
              <a:srgbClr val="FFFFFF"/>
            </a:solidFill>
            <a:prstDash val="solid"/>
          </a:ln>
          <a:effectLst>
            <a:outerShdw sx="100000" sy="100000" kx="0" ky="0" algn="bl" rotWithShape="0" blurRad="177800" dist="38100" dir="5400000">
              <a:srgbClr val="0F2A43">
                <a:alpha val="13000"/>
              </a:srgbClr>
            </a:outerShdw>
          </a:effectLst>
        </p:spPr>
      </p:sp>
      <p:sp>
        <p:nvSpPr>
          <p:cNvPr id="5" name="Text 3"/>
          <p:cNvSpPr txBox="1"/>
          <p:nvPr/>
        </p:nvSpPr>
        <p:spPr>
          <a:xfrm>
            <a:off x="896112" y="1828800"/>
            <a:ext cx="2926080" cy="384048"/>
          </a:xfrm>
          <a:prstGeom prst="rect">
            <a:avLst/>
          </a:prstGeom>
          <a:noFill/>
          <a:ln/>
        </p:spPr>
        <p:txBody>
          <a:bodyPr wrap="square" lIns="0" tIns="0" rIns="0" bIns="0" rtlCol="0" anchor="ctr"/>
          <a:lstStyle/>
          <a:p>
            <a:pPr indent="0" marL="0">
              <a:buNone/>
            </a:pPr>
            <a:r>
              <a:rPr lang="en-US" sz="2200" b="1" dirty="0">
                <a:solidFill>
                  <a:srgbClr val="0F2A43"/>
                </a:solidFill>
                <a:latin typeface="Cambria" pitchFamily="34" charset="0"/>
                <a:ea typeface="Cambria" pitchFamily="34" charset="-122"/>
                <a:cs typeface="Cambria" pitchFamily="34" charset="-120"/>
              </a:rPr>
              <a:t>Order Cart</a:t>
            </a:r>
            <a:endParaRPr lang="en-US" sz="2200" dirty="0"/>
          </a:p>
        </p:txBody>
      </p:sp>
      <p:sp>
        <p:nvSpPr>
          <p:cNvPr id="6" name="Shape 4"/>
          <p:cNvSpPr/>
          <p:nvPr/>
        </p:nvSpPr>
        <p:spPr>
          <a:xfrm>
            <a:off x="3767328" y="1883664"/>
            <a:ext cx="1920240" cy="329184"/>
          </a:xfrm>
          <a:prstGeom prst="roundRect">
            <a:avLst>
              <a:gd name="adj" fmla="val 50000"/>
            </a:avLst>
          </a:prstGeom>
          <a:solidFill>
            <a:srgbClr val="1E9E6A"/>
          </a:solidFill>
          <a:ln w="12700">
            <a:solidFill>
              <a:srgbClr val="1E9E6A"/>
            </a:solidFill>
            <a:prstDash val="solid"/>
          </a:ln>
        </p:spPr>
      </p:sp>
      <p:sp>
        <p:nvSpPr>
          <p:cNvPr id="7" name="Text 5"/>
          <p:cNvSpPr txBox="1"/>
          <p:nvPr/>
        </p:nvSpPr>
        <p:spPr>
          <a:xfrm>
            <a:off x="3767328" y="1883664"/>
            <a:ext cx="1920240"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Within limits</a:t>
            </a:r>
            <a:endParaRPr lang="en-US" sz="1100" dirty="0"/>
          </a:p>
        </p:txBody>
      </p:sp>
      <p:sp>
        <p:nvSpPr>
          <p:cNvPr id="8" name="Text 6"/>
          <p:cNvSpPr txBox="1"/>
          <p:nvPr/>
        </p:nvSpPr>
        <p:spPr>
          <a:xfrm>
            <a:off x="896112" y="2423160"/>
            <a:ext cx="4754880" cy="2926080"/>
          </a:xfrm>
          <a:prstGeom prst="rect">
            <a:avLst/>
          </a:prstGeom>
          <a:noFill/>
          <a:ln/>
        </p:spPr>
        <p:txBody>
          <a:bodyPr wrap="square" lIns="0" tIns="0" rIns="0" bIns="0" rtlCol="0" anchor="t"/>
          <a:lstStyle/>
          <a:p>
            <a:pPr marL="342900" indent="-342900">
              <a:lnSpc>
                <a:spcPct val="115000"/>
              </a:lnSpc>
              <a:spcAft>
                <a:spcPts val="700"/>
              </a:spcAft>
              <a:buSzPct val="100000"/>
              <a:buChar char="•"/>
            </a:pPr>
            <a:r>
              <a:rPr lang="en-US" sz="1300" dirty="0">
                <a:solidFill>
                  <a:srgbClr val="1C2B3A"/>
                </a:solidFill>
                <a:latin typeface="Calibri" pitchFamily="34" charset="0"/>
                <a:ea typeface="Calibri" pitchFamily="34" charset="-122"/>
                <a:cs typeface="Calibri" pitchFamily="34" charset="-120"/>
              </a:rPr>
              <a:t>Everything picked inside the employee's remaining balance.</a:t>
            </a:r>
            <a:endParaRPr lang="en-US" sz="1300" dirty="0"/>
          </a:p>
          <a:p>
            <a:pPr marL="342900" indent="-342900">
              <a:lnSpc>
                <a:spcPct val="115000"/>
              </a:lnSpc>
              <a:spcAft>
                <a:spcPts val="700"/>
              </a:spcAft>
              <a:buSzPct val="100000"/>
              <a:buChar char="•"/>
            </a:pPr>
            <a:r>
              <a:rPr lang="en-US" sz="1300" dirty="0">
                <a:solidFill>
                  <a:srgbClr val="1C2B3A"/>
                </a:solidFill>
                <a:latin typeface="Calibri" pitchFamily="34" charset="0"/>
                <a:ea typeface="Calibri" pitchFamily="34" charset="-122"/>
                <a:cs typeface="Calibri" pitchFamily="34" charset="-120"/>
              </a:rPr>
              <a:t>Placing it creates the order immediately.</a:t>
            </a:r>
            <a:endParaRPr lang="en-US" sz="1300" dirty="0"/>
          </a:p>
          <a:p>
            <a:pPr marL="342900" indent="-342900">
              <a:lnSpc>
                <a:spcPct val="115000"/>
              </a:lnSpc>
              <a:spcAft>
                <a:spcPts val="700"/>
              </a:spcAft>
              <a:buSzPct val="100000"/>
              <a:buChar char="•"/>
            </a:pPr>
            <a:r>
              <a:rPr lang="en-US" sz="1300" dirty="0">
                <a:solidFill>
                  <a:srgbClr val="1C2B3A"/>
                </a:solidFill>
                <a:latin typeface="Calibri" pitchFamily="34" charset="0"/>
                <a:ea typeface="Calibri" pitchFamily="34" charset="-122"/>
                <a:cs typeface="Calibri" pitchFamily="34" charset="-120"/>
              </a:rPr>
              <a:t>The sales order is raised in the ERP straight away.</a:t>
            </a:r>
            <a:endParaRPr lang="en-US" sz="1300" dirty="0"/>
          </a:p>
          <a:p>
            <a:pPr marL="342900" indent="-342900">
              <a:lnSpc>
                <a:spcPct val="115000"/>
              </a:lnSpc>
              <a:spcAft>
                <a:spcPts val="700"/>
              </a:spcAft>
              <a:buSzPct val="100000"/>
              <a:buChar char="•"/>
            </a:pPr>
            <a:r>
              <a:rPr lang="en-US" sz="1300" dirty="0">
                <a:solidFill>
                  <a:srgbClr val="1C2B3A"/>
                </a:solidFill>
                <a:latin typeface="Calibri" pitchFamily="34" charset="0"/>
                <a:ea typeface="Calibri" pitchFamily="34" charset="-122"/>
                <a:cs typeface="Calibri" pitchFamily="34" charset="-120"/>
              </a:rPr>
              <a:t>No EGA involvement is needed.</a:t>
            </a:r>
            <a:endParaRPr lang="en-US" sz="1300" dirty="0"/>
          </a:p>
        </p:txBody>
      </p:sp>
      <p:sp>
        <p:nvSpPr>
          <p:cNvPr id="9" name="Shape 7"/>
          <p:cNvSpPr/>
          <p:nvPr/>
        </p:nvSpPr>
        <p:spPr>
          <a:xfrm>
            <a:off x="6190488" y="1600200"/>
            <a:ext cx="5394960" cy="3977640"/>
          </a:xfrm>
          <a:prstGeom prst="roundRect">
            <a:avLst>
              <a:gd name="adj" fmla="val 2069"/>
            </a:avLst>
          </a:prstGeom>
          <a:solidFill>
            <a:srgbClr val="FFFFFF"/>
          </a:solidFill>
          <a:ln w="12700">
            <a:solidFill>
              <a:srgbClr val="FFFFFF"/>
            </a:solidFill>
            <a:prstDash val="solid"/>
          </a:ln>
          <a:effectLst>
            <a:outerShdw sx="100000" sy="100000" kx="0" ky="0" algn="bl" rotWithShape="0" blurRad="177800" dist="38100" dir="5400000">
              <a:srgbClr val="0F2A43">
                <a:alpha val="13000"/>
              </a:srgbClr>
            </a:outerShdw>
          </a:effectLst>
        </p:spPr>
      </p:sp>
      <p:sp>
        <p:nvSpPr>
          <p:cNvPr id="10" name="Text 8"/>
          <p:cNvSpPr txBox="1"/>
          <p:nvPr/>
        </p:nvSpPr>
        <p:spPr>
          <a:xfrm>
            <a:off x="6519672" y="1828800"/>
            <a:ext cx="2926080" cy="384048"/>
          </a:xfrm>
          <a:prstGeom prst="rect">
            <a:avLst/>
          </a:prstGeom>
          <a:noFill/>
          <a:ln/>
        </p:spPr>
        <p:txBody>
          <a:bodyPr wrap="square" lIns="0" tIns="0" rIns="0" bIns="0" rtlCol="0" anchor="ctr"/>
          <a:lstStyle/>
          <a:p>
            <a:pPr indent="0" marL="0">
              <a:buNone/>
            </a:pPr>
            <a:r>
              <a:rPr lang="en-US" sz="2200" b="1" dirty="0">
                <a:solidFill>
                  <a:srgbClr val="0F2A43"/>
                </a:solidFill>
                <a:latin typeface="Cambria" pitchFamily="34" charset="0"/>
                <a:ea typeface="Cambria" pitchFamily="34" charset="-122"/>
                <a:cs typeface="Cambria" pitchFamily="34" charset="-120"/>
              </a:rPr>
              <a:t>Approval Cart</a:t>
            </a:r>
            <a:endParaRPr lang="en-US" sz="2200" dirty="0"/>
          </a:p>
        </p:txBody>
      </p:sp>
      <p:sp>
        <p:nvSpPr>
          <p:cNvPr id="11" name="Shape 9"/>
          <p:cNvSpPr/>
          <p:nvPr/>
        </p:nvSpPr>
        <p:spPr>
          <a:xfrm>
            <a:off x="9390888" y="1883664"/>
            <a:ext cx="1920240" cy="329184"/>
          </a:xfrm>
          <a:prstGeom prst="roundRect">
            <a:avLst>
              <a:gd name="adj" fmla="val 50000"/>
            </a:avLst>
          </a:prstGeom>
          <a:solidFill>
            <a:srgbClr val="E8A213"/>
          </a:solidFill>
          <a:ln w="12700">
            <a:solidFill>
              <a:srgbClr val="E8A213"/>
            </a:solidFill>
            <a:prstDash val="solid"/>
          </a:ln>
        </p:spPr>
      </p:sp>
      <p:sp>
        <p:nvSpPr>
          <p:cNvPr id="12" name="Text 10"/>
          <p:cNvSpPr txBox="1"/>
          <p:nvPr/>
        </p:nvSpPr>
        <p:spPr>
          <a:xfrm>
            <a:off x="9390888" y="1883664"/>
            <a:ext cx="1920240"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Needs client approval</a:t>
            </a:r>
            <a:endParaRPr lang="en-US" sz="1100" dirty="0"/>
          </a:p>
        </p:txBody>
      </p:sp>
      <p:sp>
        <p:nvSpPr>
          <p:cNvPr id="13" name="Text 11"/>
          <p:cNvSpPr txBox="1"/>
          <p:nvPr/>
        </p:nvSpPr>
        <p:spPr>
          <a:xfrm>
            <a:off x="6519672" y="2423160"/>
            <a:ext cx="4754880" cy="2926080"/>
          </a:xfrm>
          <a:prstGeom prst="rect">
            <a:avLst/>
          </a:prstGeom>
          <a:noFill/>
          <a:ln/>
        </p:spPr>
        <p:txBody>
          <a:bodyPr wrap="square" lIns="0" tIns="0" rIns="0" bIns="0" rtlCol="0" anchor="t"/>
          <a:lstStyle/>
          <a:p>
            <a:pPr marL="342900" indent="-342900">
              <a:lnSpc>
                <a:spcPct val="115000"/>
              </a:lnSpc>
              <a:spcAft>
                <a:spcPts val="700"/>
              </a:spcAft>
              <a:buSzPct val="100000"/>
              <a:buChar char="•"/>
            </a:pPr>
            <a:r>
              <a:rPr lang="en-US" sz="1300" dirty="0">
                <a:solidFill>
                  <a:srgbClr val="1C2B3A"/>
                </a:solidFill>
                <a:latin typeface="Calibri" pitchFamily="34" charset="0"/>
                <a:ea typeface="Calibri" pitchFamily="34" charset="-122"/>
                <a:cs typeface="Calibri" pitchFamily="34" charset="-120"/>
              </a:rPr>
              <a:t>Anything beyond the allocated quantity, or a restricted item.</a:t>
            </a:r>
            <a:endParaRPr lang="en-US" sz="1300" dirty="0"/>
          </a:p>
          <a:p>
            <a:pPr marL="342900" indent="-342900">
              <a:lnSpc>
                <a:spcPct val="115000"/>
              </a:lnSpc>
              <a:spcAft>
                <a:spcPts val="700"/>
              </a:spcAft>
              <a:buSzPct val="100000"/>
              <a:buChar char="•"/>
            </a:pPr>
            <a:r>
              <a:rPr lang="en-US" sz="1300" dirty="0">
                <a:solidFill>
                  <a:srgbClr val="1C2B3A"/>
                </a:solidFill>
                <a:latin typeface="Calibri" pitchFamily="34" charset="0"/>
                <a:ea typeface="Calibri" pitchFamily="34" charset="-122"/>
                <a:cs typeface="Calibri" pitchFamily="34" charset="-120"/>
              </a:rPr>
              <a:t>Placing it sends the order to EGA for approval.</a:t>
            </a:r>
            <a:endParaRPr lang="en-US" sz="1300" dirty="0"/>
          </a:p>
          <a:p>
            <a:pPr marL="342900" indent="-342900">
              <a:lnSpc>
                <a:spcPct val="115000"/>
              </a:lnSpc>
              <a:spcAft>
                <a:spcPts val="700"/>
              </a:spcAft>
              <a:buSzPct val="100000"/>
              <a:buChar char="•"/>
            </a:pPr>
            <a:r>
              <a:rPr lang="en-US" sz="1300" dirty="0">
                <a:solidFill>
                  <a:srgbClr val="1C2B3A"/>
                </a:solidFill>
                <a:latin typeface="Calibri" pitchFamily="34" charset="0"/>
                <a:ea typeface="Calibri" pitchFamily="34" charset="-122"/>
                <a:cs typeface="Calibri" pitchFamily="34" charset="-120"/>
              </a:rPr>
              <a:t>The sales order is raised only once EGA approves.</a:t>
            </a:r>
            <a:endParaRPr lang="en-US" sz="1300" dirty="0"/>
          </a:p>
          <a:p>
            <a:pPr marL="342900" indent="-342900">
              <a:lnSpc>
                <a:spcPct val="115000"/>
              </a:lnSpc>
              <a:spcAft>
                <a:spcPts val="700"/>
              </a:spcAft>
              <a:buSzPct val="100000"/>
              <a:buChar char="•"/>
            </a:pPr>
            <a:r>
              <a:rPr lang="en-US" sz="1300" dirty="0">
                <a:solidFill>
                  <a:srgbClr val="1C2B3A"/>
                </a:solidFill>
                <a:latin typeface="Calibri" pitchFamily="34" charset="0"/>
                <a:ea typeface="Calibri" pitchFamily="34" charset="-122"/>
                <a:cs typeface="Calibri" pitchFamily="34" charset="-120"/>
              </a:rPr>
              <a:t>EGA has three days to decide.</a:t>
            </a:r>
            <a:endParaRPr lang="en-US" sz="1300" dirty="0"/>
          </a:p>
        </p:txBody>
      </p:sp>
      <p:sp>
        <p:nvSpPr>
          <p:cNvPr id="14" name="Text 12"/>
          <p:cNvSpPr txBox="1"/>
          <p:nvPr/>
        </p:nvSpPr>
        <p:spPr>
          <a:xfrm>
            <a:off x="566928" y="5806440"/>
            <a:ext cx="11064240" cy="457200"/>
          </a:xfrm>
          <a:prstGeom prst="rect">
            <a:avLst/>
          </a:prstGeom>
          <a:noFill/>
          <a:ln/>
        </p:spPr>
        <p:txBody>
          <a:bodyPr wrap="square" lIns="0" tIns="0" rIns="0" bIns="0" rtlCol="0" anchor="ctr"/>
          <a:lstStyle/>
          <a:p>
            <a:pPr indent="0" marL="0">
              <a:buNone/>
            </a:pPr>
            <a:r>
              <a:rPr lang="en-US" sz="1250" i="1" dirty="0">
                <a:solidFill>
                  <a:srgbClr val="6B7C8D"/>
                </a:solidFill>
                <a:latin typeface="Calibri" pitchFamily="34" charset="0"/>
                <a:ea typeface="Calibri" pitchFamily="34" charset="-122"/>
                <a:cs typeface="Calibri" pitchFamily="34" charset="-120"/>
              </a:rPr>
              <a:t>Both carts debit the used quantity the moment the order is placed, so an employee cannot spend the same allocation twice while an approval is pending.</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F2A43"/>
        </a:solidFill>
      </p:bgPr>
    </p:bg>
    <p:spTree>
      <p:nvGrpSpPr>
        <p:cNvPr id="1" name=""/>
        <p:cNvGrpSpPr/>
        <p:nvPr/>
      </p:nvGrpSpPr>
      <p:grpSpPr>
        <a:xfrm>
          <a:off x="0" y="0"/>
          <a:ext cx="0" cy="0"/>
          <a:chOff x="0" y="0"/>
          <a:chExt cx="0" cy="0"/>
        </a:xfrm>
      </p:grpSpPr>
      <p:sp>
        <p:nvSpPr>
          <p:cNvPr id="2" name="Shape 0"/>
          <p:cNvSpPr/>
          <p:nvPr/>
        </p:nvSpPr>
        <p:spPr>
          <a:xfrm>
            <a:off x="9418320" y="-1463040"/>
            <a:ext cx="4937760" cy="4937760"/>
          </a:xfrm>
          <a:prstGeom prst="ellipse">
            <a:avLst/>
          </a:prstGeom>
          <a:solidFill>
            <a:srgbClr val="16385A"/>
          </a:solidFill>
          <a:ln w="12700">
            <a:solidFill>
              <a:srgbClr val="16385A"/>
            </a:solidFill>
            <a:prstDash val="solid"/>
          </a:ln>
        </p:spPr>
      </p:sp>
      <p:sp>
        <p:nvSpPr>
          <p:cNvPr id="3" name="Text 1"/>
          <p:cNvSpPr txBox="1"/>
          <p:nvPr/>
        </p:nvSpPr>
        <p:spPr>
          <a:xfrm>
            <a:off x="566928" y="2148840"/>
            <a:ext cx="1828800" cy="1005840"/>
          </a:xfrm>
          <a:prstGeom prst="rect">
            <a:avLst/>
          </a:prstGeom>
          <a:noFill/>
          <a:ln/>
        </p:spPr>
        <p:txBody>
          <a:bodyPr wrap="square" lIns="0" tIns="0" rIns="0" bIns="0" rtlCol="0" anchor="ctr"/>
          <a:lstStyle/>
          <a:p>
            <a:pPr indent="0" marL="0">
              <a:buNone/>
            </a:pPr>
            <a:r>
              <a:rPr lang="en-US" sz="5600" b="1" dirty="0">
                <a:solidFill>
                  <a:srgbClr val="F4791F"/>
                </a:solidFill>
                <a:latin typeface="Cambria" pitchFamily="34" charset="0"/>
                <a:ea typeface="Cambria" pitchFamily="34" charset="-122"/>
                <a:cs typeface="Cambria" pitchFamily="34" charset="-120"/>
              </a:rPr>
              <a:t>04</a:t>
            </a:r>
            <a:endParaRPr lang="en-US" sz="5600" dirty="0"/>
          </a:p>
        </p:txBody>
      </p:sp>
      <p:sp>
        <p:nvSpPr>
          <p:cNvPr id="4" name="Text 2"/>
          <p:cNvSpPr txBox="1"/>
          <p:nvPr/>
        </p:nvSpPr>
        <p:spPr>
          <a:xfrm>
            <a:off x="566928" y="3154680"/>
            <a:ext cx="9144000" cy="73152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From order to delivery</a:t>
            </a:r>
            <a:endParaRPr lang="en-US" sz="3800" dirty="0"/>
          </a:p>
        </p:txBody>
      </p:sp>
      <p:sp>
        <p:nvSpPr>
          <p:cNvPr id="5" name="Text 3"/>
          <p:cNvSpPr txBox="1"/>
          <p:nvPr/>
        </p:nvSpPr>
        <p:spPr>
          <a:xfrm>
            <a:off x="566928" y="3977640"/>
            <a:ext cx="8595360" cy="457200"/>
          </a:xfrm>
          <a:prstGeom prst="rect">
            <a:avLst/>
          </a:prstGeom>
          <a:noFill/>
          <a:ln/>
        </p:spPr>
        <p:txBody>
          <a:bodyPr wrap="square" lIns="0" tIns="0" rIns="0" bIns="0" rtlCol="0" anchor="ctr"/>
          <a:lstStyle/>
          <a:p>
            <a:pPr indent="0" marL="0">
              <a:buNone/>
            </a:pPr>
            <a:r>
              <a:rPr lang="en-US" sz="1500" dirty="0">
                <a:solidFill>
                  <a:srgbClr val="A9C3DA"/>
                </a:solidFill>
                <a:latin typeface="Calibri" pitchFamily="34" charset="0"/>
                <a:ea typeface="Calibri" pitchFamily="34" charset="-122"/>
                <a:cs typeface="Calibri" pitchFamily="34" charset="-120"/>
              </a:rPr>
              <a:t>What the system does once the order is placed</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2F5F9"/>
        </a:solidFill>
      </p:bgPr>
    </p:bg>
    <p:spTree>
      <p:nvGrpSpPr>
        <p:cNvPr id="1" name=""/>
        <p:cNvGrpSpPr/>
        <p:nvPr/>
      </p:nvGrpSpPr>
      <p:grpSpPr>
        <a:xfrm>
          <a:off x="0" y="0"/>
          <a:ext cx="0" cy="0"/>
          <a:chOff x="0" y="0"/>
          <a:chExt cx="0" cy="0"/>
        </a:xfrm>
      </p:grpSpPr>
      <p:sp>
        <p:nvSpPr>
          <p:cNvPr id="2" name="Text 0"/>
          <p:cNvSpPr txBox="1"/>
          <p:nvPr/>
        </p:nvSpPr>
        <p:spPr>
          <a:xfrm>
            <a:off x="566928" y="420624"/>
            <a:ext cx="10058400" cy="237744"/>
          </a:xfrm>
          <a:prstGeom prst="rect">
            <a:avLst/>
          </a:prstGeom>
          <a:noFill/>
          <a:ln/>
        </p:spPr>
        <p:txBody>
          <a:bodyPr wrap="square" lIns="0" tIns="0" rIns="0" bIns="0" rtlCol="0" anchor="ctr"/>
          <a:lstStyle/>
          <a:p>
            <a:pPr indent="0" marL="0">
              <a:buNone/>
            </a:pPr>
            <a:r>
              <a:rPr lang="en-US" sz="1100" b="1" spc="160" kern="0" dirty="0">
                <a:solidFill>
                  <a:srgbClr val="F4791F"/>
                </a:solidFill>
                <a:latin typeface="Calibri" pitchFamily="34" charset="0"/>
                <a:ea typeface="Calibri" pitchFamily="34" charset="-122"/>
                <a:cs typeface="Calibri" pitchFamily="34" charset="-120"/>
              </a:rPr>
              <a:t>ORDER PLACEMENT</a:t>
            </a:r>
            <a:endParaRPr lang="en-US" sz="1100" dirty="0"/>
          </a:p>
        </p:txBody>
      </p:sp>
      <p:sp>
        <p:nvSpPr>
          <p:cNvPr id="3" name="Text 1"/>
          <p:cNvSpPr txBox="1"/>
          <p:nvPr/>
        </p:nvSpPr>
        <p:spPr>
          <a:xfrm>
            <a:off x="566928" y="676656"/>
            <a:ext cx="11064240" cy="566928"/>
          </a:xfrm>
          <a:prstGeom prst="rect">
            <a:avLst/>
          </a:prstGeom>
          <a:noFill/>
          <a:ln/>
        </p:spPr>
        <p:txBody>
          <a:bodyPr wrap="square" lIns="0" tIns="0" rIns="0" bIns="0" rtlCol="0" anchor="ctr"/>
          <a:lstStyle/>
          <a:p>
            <a:pPr indent="0" marL="0">
              <a:buNone/>
            </a:pPr>
            <a:r>
              <a:rPr lang="en-US" sz="3200" b="1" dirty="0">
                <a:solidFill>
                  <a:srgbClr val="0F2A43"/>
                </a:solidFill>
                <a:latin typeface="Cambria" pitchFamily="34" charset="0"/>
                <a:ea typeface="Cambria" pitchFamily="34" charset="-122"/>
                <a:cs typeface="Cambria" pitchFamily="34" charset="-120"/>
              </a:rPr>
              <a:t>Four things happen at once</a:t>
            </a:r>
            <a:endParaRPr lang="en-US" sz="3200" dirty="0"/>
          </a:p>
        </p:txBody>
      </p:sp>
      <p:sp>
        <p:nvSpPr>
          <p:cNvPr id="4" name="Shape 2"/>
          <p:cNvSpPr/>
          <p:nvPr/>
        </p:nvSpPr>
        <p:spPr>
          <a:xfrm>
            <a:off x="566928" y="1645920"/>
            <a:ext cx="5394960" cy="1828800"/>
          </a:xfrm>
          <a:prstGeom prst="roundRect">
            <a:avLst>
              <a:gd name="adj" fmla="val 4500"/>
            </a:avLst>
          </a:prstGeom>
          <a:solidFill>
            <a:srgbClr val="FFFFFF"/>
          </a:solidFill>
          <a:ln w="12700">
            <a:solidFill>
              <a:srgbClr val="FFFFFF"/>
            </a:solidFill>
            <a:prstDash val="solid"/>
          </a:ln>
          <a:effectLst>
            <a:outerShdw sx="100000" sy="100000" kx="0" ky="0" algn="bl" rotWithShape="0" blurRad="177800" dist="38100" dir="5400000">
              <a:srgbClr val="0F2A43">
                <a:alpha val="13000"/>
              </a:srgbClr>
            </a:outerShdw>
          </a:effectLst>
        </p:spPr>
      </p:sp>
      <p:sp>
        <p:nvSpPr>
          <p:cNvPr id="5" name="Shape 3"/>
          <p:cNvSpPr/>
          <p:nvPr/>
        </p:nvSpPr>
        <p:spPr>
          <a:xfrm>
            <a:off x="859536" y="1920240"/>
            <a:ext cx="402336" cy="402336"/>
          </a:xfrm>
          <a:prstGeom prst="ellipse">
            <a:avLst/>
          </a:prstGeom>
          <a:solidFill>
            <a:srgbClr val="2F6FB2"/>
          </a:solidFill>
          <a:ln w="12700">
            <a:solidFill>
              <a:srgbClr val="2F6FB2"/>
            </a:solidFill>
            <a:prstDash val="solid"/>
          </a:ln>
        </p:spPr>
      </p:sp>
      <p:sp>
        <p:nvSpPr>
          <p:cNvPr id="6" name="Text 4"/>
          <p:cNvSpPr txBox="1"/>
          <p:nvPr/>
        </p:nvSpPr>
        <p:spPr>
          <a:xfrm>
            <a:off x="859536" y="192024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1435608" y="1920240"/>
            <a:ext cx="4297680" cy="329184"/>
          </a:xfrm>
          <a:prstGeom prst="rect">
            <a:avLst/>
          </a:prstGeom>
          <a:noFill/>
          <a:ln/>
        </p:spPr>
        <p:txBody>
          <a:bodyPr wrap="square" lIns="0" tIns="0" rIns="0" bIns="0" rtlCol="0" anchor="ctr"/>
          <a:lstStyle/>
          <a:p>
            <a:pPr indent="0" marL="0">
              <a:buNone/>
            </a:pPr>
            <a:r>
              <a:rPr lang="en-US" sz="1800" b="1" dirty="0">
                <a:solidFill>
                  <a:srgbClr val="0F2A43"/>
                </a:solidFill>
                <a:latin typeface="Cambria" pitchFamily="34" charset="0"/>
                <a:ea typeface="Cambria" pitchFamily="34" charset="-122"/>
                <a:cs typeface="Cambria" pitchFamily="34" charset="-120"/>
              </a:rPr>
              <a:t>The order is raised</a:t>
            </a:r>
            <a:endParaRPr lang="en-US" sz="1800" dirty="0"/>
          </a:p>
        </p:txBody>
      </p:sp>
      <p:sp>
        <p:nvSpPr>
          <p:cNvPr id="8" name="Text 6"/>
          <p:cNvSpPr txBox="1"/>
          <p:nvPr/>
        </p:nvSpPr>
        <p:spPr>
          <a:xfrm>
            <a:off x="1435608" y="2322576"/>
            <a:ext cx="4343400" cy="960120"/>
          </a:xfrm>
          <a:prstGeom prst="rect">
            <a:avLst/>
          </a:prstGeom>
          <a:noFill/>
          <a:ln/>
        </p:spPr>
        <p:txBody>
          <a:bodyPr wrap="square" lIns="0" tIns="0" rIns="0" bIns="0" rtlCol="0" anchor="t"/>
          <a:lstStyle/>
          <a:p>
            <a:pPr indent="0" marL="0">
              <a:lnSpc>
                <a:spcPct val="115000"/>
              </a:lnSpc>
              <a:buNone/>
            </a:pPr>
            <a:r>
              <a:rPr lang="en-US" sz="1250" dirty="0">
                <a:solidFill>
                  <a:srgbClr val="1C2B3A"/>
                </a:solidFill>
                <a:latin typeface="Calibri" pitchFamily="34" charset="0"/>
                <a:ea typeface="Calibri" pitchFamily="34" charset="-122"/>
                <a:cs typeface="Calibri" pitchFamily="34" charset="-120"/>
              </a:rPr>
              <a:t>A document reference is issued and the order is timestamped.</a:t>
            </a:r>
            <a:endParaRPr lang="en-US" sz="1250" dirty="0"/>
          </a:p>
        </p:txBody>
      </p:sp>
      <p:sp>
        <p:nvSpPr>
          <p:cNvPr id="9" name="Shape 7"/>
          <p:cNvSpPr/>
          <p:nvPr/>
        </p:nvSpPr>
        <p:spPr>
          <a:xfrm>
            <a:off x="6190488" y="1645920"/>
            <a:ext cx="5394960" cy="1828800"/>
          </a:xfrm>
          <a:prstGeom prst="roundRect">
            <a:avLst>
              <a:gd name="adj" fmla="val 4500"/>
            </a:avLst>
          </a:prstGeom>
          <a:solidFill>
            <a:srgbClr val="FFFFFF"/>
          </a:solidFill>
          <a:ln w="12700">
            <a:solidFill>
              <a:srgbClr val="FFFFFF"/>
            </a:solidFill>
            <a:prstDash val="solid"/>
          </a:ln>
          <a:effectLst>
            <a:outerShdw sx="100000" sy="100000" kx="0" ky="0" algn="bl" rotWithShape="0" blurRad="177800" dist="38100" dir="5400000">
              <a:srgbClr val="0F2A43">
                <a:alpha val="13000"/>
              </a:srgbClr>
            </a:outerShdw>
          </a:effectLst>
        </p:spPr>
      </p:sp>
      <p:sp>
        <p:nvSpPr>
          <p:cNvPr id="10" name="Shape 8"/>
          <p:cNvSpPr/>
          <p:nvPr/>
        </p:nvSpPr>
        <p:spPr>
          <a:xfrm>
            <a:off x="6483096" y="1920240"/>
            <a:ext cx="402336" cy="402336"/>
          </a:xfrm>
          <a:prstGeom prst="ellipse">
            <a:avLst/>
          </a:prstGeom>
          <a:solidFill>
            <a:srgbClr val="F4791F"/>
          </a:solidFill>
          <a:ln w="12700">
            <a:solidFill>
              <a:srgbClr val="F4791F"/>
            </a:solidFill>
            <a:prstDash val="solid"/>
          </a:ln>
        </p:spPr>
      </p:sp>
      <p:sp>
        <p:nvSpPr>
          <p:cNvPr id="11" name="Text 9"/>
          <p:cNvSpPr txBox="1"/>
          <p:nvPr/>
        </p:nvSpPr>
        <p:spPr>
          <a:xfrm>
            <a:off x="6483096" y="192024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txBox="1"/>
          <p:nvPr/>
        </p:nvSpPr>
        <p:spPr>
          <a:xfrm>
            <a:off x="7059168" y="1920240"/>
            <a:ext cx="4297680" cy="329184"/>
          </a:xfrm>
          <a:prstGeom prst="rect">
            <a:avLst/>
          </a:prstGeom>
          <a:noFill/>
          <a:ln/>
        </p:spPr>
        <p:txBody>
          <a:bodyPr wrap="square" lIns="0" tIns="0" rIns="0" bIns="0" rtlCol="0" anchor="ctr"/>
          <a:lstStyle/>
          <a:p>
            <a:pPr indent="0" marL="0">
              <a:buNone/>
            </a:pPr>
            <a:r>
              <a:rPr lang="en-US" sz="1800" b="1" dirty="0">
                <a:solidFill>
                  <a:srgbClr val="0F2A43"/>
                </a:solidFill>
                <a:latin typeface="Cambria" pitchFamily="34" charset="0"/>
                <a:ea typeface="Cambria" pitchFamily="34" charset="-122"/>
                <a:cs typeface="Cambria" pitchFamily="34" charset="-120"/>
              </a:rPr>
              <a:t>Stock moves store to store</a:t>
            </a:r>
            <a:endParaRPr lang="en-US" sz="1800" dirty="0"/>
          </a:p>
        </p:txBody>
      </p:sp>
      <p:sp>
        <p:nvSpPr>
          <p:cNvPr id="13" name="Text 11"/>
          <p:cNvSpPr txBox="1"/>
          <p:nvPr/>
        </p:nvSpPr>
        <p:spPr>
          <a:xfrm>
            <a:off x="7059168" y="2322576"/>
            <a:ext cx="4343400" cy="960120"/>
          </a:xfrm>
          <a:prstGeom prst="rect">
            <a:avLst/>
          </a:prstGeom>
          <a:noFill/>
          <a:ln/>
        </p:spPr>
        <p:txBody>
          <a:bodyPr wrap="square" lIns="0" tIns="0" rIns="0" bIns="0" rtlCol="0" anchor="t"/>
          <a:lstStyle/>
          <a:p>
            <a:pPr indent="0" marL="0">
              <a:lnSpc>
                <a:spcPct val="115000"/>
              </a:lnSpc>
              <a:buNone/>
            </a:pPr>
            <a:r>
              <a:rPr lang="en-US" sz="1250" dirty="0">
                <a:solidFill>
                  <a:srgbClr val="1C2B3A"/>
                </a:solidFill>
                <a:latin typeface="Calibri" pitchFamily="34" charset="0"/>
                <a:ea typeface="Calibri" pitchFamily="34" charset="-122"/>
                <a:cs typeface="Calibri" pitchFamily="34" charset="-120"/>
              </a:rPr>
              <a:t>The reserved quantities transfer from the main store to the reservation store on an issue and a receipt voucher.</a:t>
            </a:r>
            <a:endParaRPr lang="en-US" sz="1250" dirty="0"/>
          </a:p>
        </p:txBody>
      </p:sp>
      <p:sp>
        <p:nvSpPr>
          <p:cNvPr id="14" name="Shape 12"/>
          <p:cNvSpPr/>
          <p:nvPr/>
        </p:nvSpPr>
        <p:spPr>
          <a:xfrm>
            <a:off x="566928" y="3730752"/>
            <a:ext cx="5394960" cy="1828800"/>
          </a:xfrm>
          <a:prstGeom prst="roundRect">
            <a:avLst>
              <a:gd name="adj" fmla="val 4500"/>
            </a:avLst>
          </a:prstGeom>
          <a:solidFill>
            <a:srgbClr val="FFFFFF"/>
          </a:solidFill>
          <a:ln w="12700">
            <a:solidFill>
              <a:srgbClr val="FFFFFF"/>
            </a:solidFill>
            <a:prstDash val="solid"/>
          </a:ln>
          <a:effectLst>
            <a:outerShdw sx="100000" sy="100000" kx="0" ky="0" algn="bl" rotWithShape="0" blurRad="177800" dist="38100" dir="5400000">
              <a:srgbClr val="0F2A43">
                <a:alpha val="13000"/>
              </a:srgbClr>
            </a:outerShdw>
          </a:effectLst>
        </p:spPr>
      </p:sp>
      <p:sp>
        <p:nvSpPr>
          <p:cNvPr id="15" name="Shape 13"/>
          <p:cNvSpPr/>
          <p:nvPr/>
        </p:nvSpPr>
        <p:spPr>
          <a:xfrm>
            <a:off x="859536" y="4005072"/>
            <a:ext cx="402336" cy="402336"/>
          </a:xfrm>
          <a:prstGeom prst="ellipse">
            <a:avLst/>
          </a:prstGeom>
          <a:solidFill>
            <a:srgbClr val="1E9E6A"/>
          </a:solidFill>
          <a:ln w="12700">
            <a:solidFill>
              <a:srgbClr val="1E9E6A"/>
            </a:solidFill>
            <a:prstDash val="solid"/>
          </a:ln>
        </p:spPr>
      </p:sp>
      <p:sp>
        <p:nvSpPr>
          <p:cNvPr id="16" name="Text 14"/>
          <p:cNvSpPr txBox="1"/>
          <p:nvPr/>
        </p:nvSpPr>
        <p:spPr>
          <a:xfrm>
            <a:off x="859536" y="400507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txBox="1"/>
          <p:nvPr/>
        </p:nvSpPr>
        <p:spPr>
          <a:xfrm>
            <a:off x="1435608" y="4005072"/>
            <a:ext cx="4297680" cy="329184"/>
          </a:xfrm>
          <a:prstGeom prst="rect">
            <a:avLst/>
          </a:prstGeom>
          <a:noFill/>
          <a:ln/>
        </p:spPr>
        <p:txBody>
          <a:bodyPr wrap="square" lIns="0" tIns="0" rIns="0" bIns="0" rtlCol="0" anchor="ctr"/>
          <a:lstStyle/>
          <a:p>
            <a:pPr indent="0" marL="0">
              <a:buNone/>
            </a:pPr>
            <a:r>
              <a:rPr lang="en-US" sz="1800" b="1" dirty="0">
                <a:solidFill>
                  <a:srgbClr val="0F2A43"/>
                </a:solidFill>
                <a:latin typeface="Cambria" pitchFamily="34" charset="0"/>
                <a:ea typeface="Cambria" pitchFamily="34" charset="-122"/>
                <a:cs typeface="Cambria" pitchFamily="34" charset="-120"/>
              </a:rPr>
              <a:t>The allocation is debited</a:t>
            </a:r>
            <a:endParaRPr lang="en-US" sz="1800" dirty="0"/>
          </a:p>
        </p:txBody>
      </p:sp>
      <p:sp>
        <p:nvSpPr>
          <p:cNvPr id="18" name="Text 16"/>
          <p:cNvSpPr txBox="1"/>
          <p:nvPr/>
        </p:nvSpPr>
        <p:spPr>
          <a:xfrm>
            <a:off x="1435608" y="4407408"/>
            <a:ext cx="4343400" cy="960120"/>
          </a:xfrm>
          <a:prstGeom prst="rect">
            <a:avLst/>
          </a:prstGeom>
          <a:noFill/>
          <a:ln/>
        </p:spPr>
        <p:txBody>
          <a:bodyPr wrap="square" lIns="0" tIns="0" rIns="0" bIns="0" rtlCol="0" anchor="t"/>
          <a:lstStyle/>
          <a:p>
            <a:pPr indent="0" marL="0">
              <a:lnSpc>
                <a:spcPct val="115000"/>
              </a:lnSpc>
              <a:buNone/>
            </a:pPr>
            <a:r>
              <a:rPr lang="en-US" sz="1250" dirty="0">
                <a:solidFill>
                  <a:srgbClr val="1C2B3A"/>
                </a:solidFill>
                <a:latin typeface="Calibri" pitchFamily="34" charset="0"/>
                <a:ea typeface="Calibri" pitchFamily="34" charset="-122"/>
                <a:cs typeface="Calibri" pitchFamily="34" charset="-120"/>
              </a:rPr>
              <a:t>Used quantity and used amount move against the employee's price-list line.</a:t>
            </a:r>
            <a:endParaRPr lang="en-US" sz="1250" dirty="0"/>
          </a:p>
        </p:txBody>
      </p:sp>
      <p:sp>
        <p:nvSpPr>
          <p:cNvPr id="19" name="Shape 17"/>
          <p:cNvSpPr/>
          <p:nvPr/>
        </p:nvSpPr>
        <p:spPr>
          <a:xfrm>
            <a:off x="6190488" y="3730752"/>
            <a:ext cx="5394960" cy="1828800"/>
          </a:xfrm>
          <a:prstGeom prst="roundRect">
            <a:avLst>
              <a:gd name="adj" fmla="val 4500"/>
            </a:avLst>
          </a:prstGeom>
          <a:solidFill>
            <a:srgbClr val="FFFFFF"/>
          </a:solidFill>
          <a:ln w="12700">
            <a:solidFill>
              <a:srgbClr val="FFFFFF"/>
            </a:solidFill>
            <a:prstDash val="solid"/>
          </a:ln>
          <a:effectLst>
            <a:outerShdw sx="100000" sy="100000" kx="0" ky="0" algn="bl" rotWithShape="0" blurRad="177800" dist="38100" dir="5400000">
              <a:srgbClr val="0F2A43">
                <a:alpha val="13000"/>
              </a:srgbClr>
            </a:outerShdw>
          </a:effectLst>
        </p:spPr>
      </p:sp>
      <p:sp>
        <p:nvSpPr>
          <p:cNvPr id="20" name="Shape 18"/>
          <p:cNvSpPr/>
          <p:nvPr/>
        </p:nvSpPr>
        <p:spPr>
          <a:xfrm>
            <a:off x="6483096" y="4005072"/>
            <a:ext cx="402336" cy="402336"/>
          </a:xfrm>
          <a:prstGeom prst="ellipse">
            <a:avLst/>
          </a:prstGeom>
          <a:solidFill>
            <a:srgbClr val="0F2A43"/>
          </a:solidFill>
          <a:ln w="12700">
            <a:solidFill>
              <a:srgbClr val="0F2A43"/>
            </a:solidFill>
            <a:prstDash val="solid"/>
          </a:ln>
        </p:spPr>
      </p:sp>
      <p:sp>
        <p:nvSpPr>
          <p:cNvPr id="21" name="Text 19"/>
          <p:cNvSpPr txBox="1"/>
          <p:nvPr/>
        </p:nvSpPr>
        <p:spPr>
          <a:xfrm>
            <a:off x="6483096" y="400507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2" name="Text 20"/>
          <p:cNvSpPr txBox="1"/>
          <p:nvPr/>
        </p:nvSpPr>
        <p:spPr>
          <a:xfrm>
            <a:off x="7059168" y="4005072"/>
            <a:ext cx="4297680" cy="329184"/>
          </a:xfrm>
          <a:prstGeom prst="rect">
            <a:avLst/>
          </a:prstGeom>
          <a:noFill/>
          <a:ln/>
        </p:spPr>
        <p:txBody>
          <a:bodyPr wrap="square" lIns="0" tIns="0" rIns="0" bIns="0" rtlCol="0" anchor="ctr"/>
          <a:lstStyle/>
          <a:p>
            <a:pPr indent="0" marL="0">
              <a:buNone/>
            </a:pPr>
            <a:r>
              <a:rPr lang="en-US" sz="1800" b="1" dirty="0">
                <a:solidFill>
                  <a:srgbClr val="0F2A43"/>
                </a:solidFill>
                <a:latin typeface="Cambria" pitchFamily="34" charset="0"/>
                <a:ea typeface="Cambria" pitchFamily="34" charset="-122"/>
                <a:cs typeface="Cambria" pitchFamily="34" charset="-120"/>
              </a:rPr>
              <a:t>The ERP is updated</a:t>
            </a:r>
            <a:endParaRPr lang="en-US" sz="1800" dirty="0"/>
          </a:p>
        </p:txBody>
      </p:sp>
      <p:sp>
        <p:nvSpPr>
          <p:cNvPr id="23" name="Text 21"/>
          <p:cNvSpPr txBox="1"/>
          <p:nvPr/>
        </p:nvSpPr>
        <p:spPr>
          <a:xfrm>
            <a:off x="7059168" y="4407408"/>
            <a:ext cx="4343400" cy="960120"/>
          </a:xfrm>
          <a:prstGeom prst="rect">
            <a:avLst/>
          </a:prstGeom>
          <a:noFill/>
          <a:ln/>
        </p:spPr>
        <p:txBody>
          <a:bodyPr wrap="square" lIns="0" tIns="0" rIns="0" bIns="0" rtlCol="0" anchor="t"/>
          <a:lstStyle/>
          <a:p>
            <a:pPr indent="0" marL="0">
              <a:lnSpc>
                <a:spcPct val="115000"/>
              </a:lnSpc>
              <a:buNone/>
            </a:pPr>
            <a:r>
              <a:rPr lang="en-US" sz="1250" dirty="0">
                <a:solidFill>
                  <a:srgbClr val="1C2B3A"/>
                </a:solidFill>
                <a:latin typeface="Calibri" pitchFamily="34" charset="0"/>
                <a:ea typeface="Calibri" pitchFamily="34" charset="-122"/>
                <a:cs typeface="Calibri" pitchFamily="34" charset="-120"/>
              </a:rPr>
              <a:t>A sales order is created in the ERP and its reference is shown on the order.</a:t>
            </a:r>
            <a:endParaRPr lang="en-US" sz="1250" dirty="0"/>
          </a:p>
        </p:txBody>
      </p:sp>
      <p:sp>
        <p:nvSpPr>
          <p:cNvPr id="24" name="Text 22"/>
          <p:cNvSpPr txBox="1"/>
          <p:nvPr/>
        </p:nvSpPr>
        <p:spPr>
          <a:xfrm>
            <a:off x="566928" y="5943600"/>
            <a:ext cx="11064240" cy="365760"/>
          </a:xfrm>
          <a:prstGeom prst="rect">
            <a:avLst/>
          </a:prstGeom>
          <a:noFill/>
          <a:ln/>
        </p:spPr>
        <p:txBody>
          <a:bodyPr wrap="square" lIns="0" tIns="0" rIns="0" bIns="0" rtlCol="0" anchor="ctr"/>
          <a:lstStyle/>
          <a:p>
            <a:pPr indent="0" marL="0">
              <a:buNone/>
            </a:pPr>
            <a:r>
              <a:rPr lang="en-US" sz="1250" i="1" dirty="0">
                <a:solidFill>
                  <a:srgbClr val="6B7C8D"/>
                </a:solidFill>
                <a:latin typeface="Calibri" pitchFamily="34" charset="0"/>
                <a:ea typeface="Calibri" pitchFamily="34" charset="-122"/>
                <a:cs typeface="Calibri" pitchFamily="34" charset="-120"/>
              </a:rPr>
              <a:t>The employee sees the order and its delivery date immediately; the storekeeper sees it on the Fulfilment screen at the same moment.</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2F5F9"/>
        </a:solidFill>
      </p:bgPr>
    </p:bg>
    <p:spTree>
      <p:nvGrpSpPr>
        <p:cNvPr id="1" name=""/>
        <p:cNvGrpSpPr/>
        <p:nvPr/>
      </p:nvGrpSpPr>
      <p:grpSpPr>
        <a:xfrm>
          <a:off x="0" y="0"/>
          <a:ext cx="0" cy="0"/>
          <a:chOff x="0" y="0"/>
          <a:chExt cx="0" cy="0"/>
        </a:xfrm>
      </p:grpSpPr>
      <p:sp>
        <p:nvSpPr>
          <p:cNvPr id="2" name="Text 0"/>
          <p:cNvSpPr txBox="1"/>
          <p:nvPr/>
        </p:nvSpPr>
        <p:spPr>
          <a:xfrm>
            <a:off x="566928" y="420624"/>
            <a:ext cx="10058400" cy="237744"/>
          </a:xfrm>
          <a:prstGeom prst="rect">
            <a:avLst/>
          </a:prstGeom>
          <a:noFill/>
          <a:ln/>
        </p:spPr>
        <p:txBody>
          <a:bodyPr wrap="square" lIns="0" tIns="0" rIns="0" bIns="0" rtlCol="0" anchor="ctr"/>
          <a:lstStyle/>
          <a:p>
            <a:pPr indent="0" marL="0">
              <a:buNone/>
            </a:pPr>
            <a:r>
              <a:rPr lang="en-US" sz="1100" b="1" spc="160" kern="0" dirty="0">
                <a:solidFill>
                  <a:srgbClr val="F4791F"/>
                </a:solidFill>
                <a:latin typeface="Calibri" pitchFamily="34" charset="0"/>
                <a:ea typeface="Calibri" pitchFamily="34" charset="-122"/>
                <a:cs typeface="Calibri" pitchFamily="34" charset="-120"/>
              </a:rPr>
              <a:t>DELIVERY DATES</a:t>
            </a:r>
            <a:endParaRPr lang="en-US" sz="1100" dirty="0"/>
          </a:p>
        </p:txBody>
      </p:sp>
      <p:sp>
        <p:nvSpPr>
          <p:cNvPr id="3" name="Text 1"/>
          <p:cNvSpPr txBox="1"/>
          <p:nvPr/>
        </p:nvSpPr>
        <p:spPr>
          <a:xfrm>
            <a:off x="566928" y="676656"/>
            <a:ext cx="11064240" cy="566928"/>
          </a:xfrm>
          <a:prstGeom prst="rect">
            <a:avLst/>
          </a:prstGeom>
          <a:noFill/>
          <a:ln/>
        </p:spPr>
        <p:txBody>
          <a:bodyPr wrap="square" lIns="0" tIns="0" rIns="0" bIns="0" rtlCol="0" anchor="ctr"/>
          <a:lstStyle/>
          <a:p>
            <a:pPr indent="0" marL="0">
              <a:buNone/>
            </a:pPr>
            <a:r>
              <a:rPr lang="en-US" sz="3200" b="1" dirty="0">
                <a:solidFill>
                  <a:srgbClr val="0F2A43"/>
                </a:solidFill>
                <a:latin typeface="Cambria" pitchFamily="34" charset="0"/>
                <a:ea typeface="Cambria" pitchFamily="34" charset="-122"/>
                <a:cs typeface="Cambria" pitchFamily="34" charset="-120"/>
              </a:rPr>
              <a:t>Promised only when the stock is there</a:t>
            </a:r>
            <a:endParaRPr lang="en-US" sz="3200" dirty="0"/>
          </a:p>
        </p:txBody>
      </p:sp>
      <p:sp>
        <p:nvSpPr>
          <p:cNvPr id="4" name="Text 2"/>
          <p:cNvSpPr txBox="1"/>
          <p:nvPr/>
        </p:nvSpPr>
        <p:spPr>
          <a:xfrm>
            <a:off x="566928" y="1481328"/>
            <a:ext cx="11064240" cy="457200"/>
          </a:xfrm>
          <a:prstGeom prst="rect">
            <a:avLst/>
          </a:prstGeom>
          <a:noFill/>
          <a:ln/>
        </p:spPr>
        <p:txBody>
          <a:bodyPr wrap="square" lIns="0" tIns="0" rIns="0" bIns="0" rtlCol="0" anchor="ctr"/>
          <a:lstStyle/>
          <a:p>
            <a:pPr indent="0" marL="0">
              <a:buNone/>
            </a:pPr>
            <a:r>
              <a:rPr lang="en-US" sz="1450" dirty="0">
                <a:solidFill>
                  <a:srgbClr val="1C2B3A"/>
                </a:solidFill>
                <a:latin typeface="Calibri" pitchFamily="34" charset="0"/>
                <a:ea typeface="Calibri" pitchFamily="34" charset="-122"/>
                <a:cs typeface="Calibri" pitchFamily="34" charset="-120"/>
              </a:rPr>
              <a:t>Each line of the order gets its own delivery date, decided by the stock actually available in the main store when the order is placed.</a:t>
            </a:r>
            <a:endParaRPr lang="en-US" sz="1450" dirty="0"/>
          </a:p>
        </p:txBody>
      </p:sp>
      <p:sp>
        <p:nvSpPr>
          <p:cNvPr id="5" name="Shape 3"/>
          <p:cNvSpPr/>
          <p:nvPr/>
        </p:nvSpPr>
        <p:spPr>
          <a:xfrm>
            <a:off x="566928" y="2194560"/>
            <a:ext cx="3529584" cy="3200400"/>
          </a:xfrm>
          <a:prstGeom prst="roundRect">
            <a:avLst>
              <a:gd name="adj" fmla="val 2571"/>
            </a:avLst>
          </a:prstGeom>
          <a:solidFill>
            <a:srgbClr val="FFFFFF"/>
          </a:solidFill>
          <a:ln w="12700">
            <a:solidFill>
              <a:srgbClr val="FFFFFF"/>
            </a:solidFill>
            <a:prstDash val="solid"/>
          </a:ln>
          <a:effectLst>
            <a:outerShdw sx="100000" sy="100000" kx="0" ky="0" algn="bl" rotWithShape="0" blurRad="177800" dist="38100" dir="5400000">
              <a:srgbClr val="0F2A43">
                <a:alpha val="13000"/>
              </a:srgbClr>
            </a:outerShdw>
          </a:effectLst>
        </p:spPr>
      </p:sp>
      <p:sp>
        <p:nvSpPr>
          <p:cNvPr id="6" name="Shape 4"/>
          <p:cNvSpPr/>
          <p:nvPr/>
        </p:nvSpPr>
        <p:spPr>
          <a:xfrm>
            <a:off x="841248" y="2450592"/>
            <a:ext cx="2103120" cy="347472"/>
          </a:xfrm>
          <a:prstGeom prst="roundRect">
            <a:avLst>
              <a:gd name="adj" fmla="val 50000"/>
            </a:avLst>
          </a:prstGeom>
          <a:solidFill>
            <a:srgbClr val="1E9E6A"/>
          </a:solidFill>
          <a:ln w="12700">
            <a:solidFill>
              <a:srgbClr val="1E9E6A"/>
            </a:solidFill>
            <a:prstDash val="solid"/>
          </a:ln>
        </p:spPr>
      </p:sp>
      <p:sp>
        <p:nvSpPr>
          <p:cNvPr id="7" name="Text 5"/>
          <p:cNvSpPr txBox="1"/>
          <p:nvPr/>
        </p:nvSpPr>
        <p:spPr>
          <a:xfrm>
            <a:off x="841248" y="2450592"/>
            <a:ext cx="2103120" cy="34747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Stock available</a:t>
            </a:r>
            <a:endParaRPr lang="en-US" sz="1150" dirty="0"/>
          </a:p>
        </p:txBody>
      </p:sp>
      <p:sp>
        <p:nvSpPr>
          <p:cNvPr id="8" name="Text 6"/>
          <p:cNvSpPr txBox="1"/>
          <p:nvPr/>
        </p:nvSpPr>
        <p:spPr>
          <a:xfrm>
            <a:off x="841248" y="3017520"/>
            <a:ext cx="3017520" cy="1371600"/>
          </a:xfrm>
          <a:prstGeom prst="rect">
            <a:avLst/>
          </a:prstGeom>
          <a:noFill/>
          <a:ln/>
        </p:spPr>
        <p:txBody>
          <a:bodyPr wrap="square" lIns="0" tIns="0" rIns="0" bIns="0" rtlCol="0" anchor="t"/>
          <a:lstStyle/>
          <a:p>
            <a:pPr indent="0" marL="0">
              <a:lnSpc>
                <a:spcPct val="120000"/>
              </a:lnSpc>
              <a:buNone/>
            </a:pPr>
            <a:r>
              <a:rPr lang="en-US" sz="1300" dirty="0">
                <a:solidFill>
                  <a:srgbClr val="1C2B3A"/>
                </a:solidFill>
                <a:latin typeface="Calibri" pitchFamily="34" charset="0"/>
                <a:ea typeface="Calibri" pitchFamily="34" charset="-122"/>
                <a:cs typeface="Calibri" pitchFamily="34" charset="-120"/>
              </a:rPr>
              <a:t>Delivery date = order date + the delivery period on the price list (currently two days).</a:t>
            </a:r>
            <a:endParaRPr lang="en-US" sz="1300" dirty="0"/>
          </a:p>
        </p:txBody>
      </p:sp>
      <p:sp>
        <p:nvSpPr>
          <p:cNvPr id="9" name="Text 7"/>
          <p:cNvSpPr txBox="1"/>
          <p:nvPr/>
        </p:nvSpPr>
        <p:spPr>
          <a:xfrm>
            <a:off x="841248" y="4526280"/>
            <a:ext cx="3017520" cy="731520"/>
          </a:xfrm>
          <a:prstGeom prst="rect">
            <a:avLst/>
          </a:prstGeom>
          <a:noFill/>
          <a:ln/>
        </p:spPr>
        <p:txBody>
          <a:bodyPr wrap="square" lIns="0" tIns="0" rIns="0" bIns="0" rtlCol="0" anchor="ctr"/>
          <a:lstStyle/>
          <a:p>
            <a:pPr indent="0" marL="0">
              <a:lnSpc>
                <a:spcPct val="110000"/>
              </a:lnSpc>
              <a:buNone/>
            </a:pPr>
            <a:r>
              <a:rPr lang="en-US" sz="1150" i="1" dirty="0">
                <a:solidFill>
                  <a:srgbClr val="6B7C8D"/>
                </a:solidFill>
                <a:latin typeface="Calibri" pitchFamily="34" charset="0"/>
                <a:ea typeface="Calibri" pitchFamily="34" charset="-122"/>
                <a:cs typeface="Calibri" pitchFamily="34" charset="-120"/>
              </a:rPr>
              <a:t>A firm date the employee can rely on.</a:t>
            </a:r>
            <a:endParaRPr lang="en-US" sz="1150" dirty="0"/>
          </a:p>
        </p:txBody>
      </p:sp>
      <p:sp>
        <p:nvSpPr>
          <p:cNvPr id="10" name="Shape 8"/>
          <p:cNvSpPr/>
          <p:nvPr/>
        </p:nvSpPr>
        <p:spPr>
          <a:xfrm>
            <a:off x="4334256" y="2194560"/>
            <a:ext cx="3529584" cy="3200400"/>
          </a:xfrm>
          <a:prstGeom prst="roundRect">
            <a:avLst>
              <a:gd name="adj" fmla="val 2571"/>
            </a:avLst>
          </a:prstGeom>
          <a:solidFill>
            <a:srgbClr val="FFFFFF"/>
          </a:solidFill>
          <a:ln w="12700">
            <a:solidFill>
              <a:srgbClr val="FFFFFF"/>
            </a:solidFill>
            <a:prstDash val="solid"/>
          </a:ln>
          <a:effectLst>
            <a:outerShdw sx="100000" sy="100000" kx="0" ky="0" algn="bl" rotWithShape="0" blurRad="177800" dist="38100" dir="5400000">
              <a:srgbClr val="0F2A43">
                <a:alpha val="13000"/>
              </a:srgbClr>
            </a:outerShdw>
          </a:effectLst>
        </p:spPr>
      </p:sp>
      <p:sp>
        <p:nvSpPr>
          <p:cNvPr id="11" name="Shape 9"/>
          <p:cNvSpPr/>
          <p:nvPr/>
        </p:nvSpPr>
        <p:spPr>
          <a:xfrm>
            <a:off x="4608576" y="2450592"/>
            <a:ext cx="2103120" cy="347472"/>
          </a:xfrm>
          <a:prstGeom prst="roundRect">
            <a:avLst>
              <a:gd name="adj" fmla="val 50000"/>
            </a:avLst>
          </a:prstGeom>
          <a:solidFill>
            <a:srgbClr val="E8A213"/>
          </a:solidFill>
          <a:ln w="12700">
            <a:solidFill>
              <a:srgbClr val="E8A213"/>
            </a:solidFill>
            <a:prstDash val="solid"/>
          </a:ln>
        </p:spPr>
      </p:sp>
      <p:sp>
        <p:nvSpPr>
          <p:cNvPr id="12" name="Text 10"/>
          <p:cNvSpPr txBox="1"/>
          <p:nvPr/>
        </p:nvSpPr>
        <p:spPr>
          <a:xfrm>
            <a:off x="4608576" y="2450592"/>
            <a:ext cx="2103120" cy="34747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No stock</a:t>
            </a:r>
            <a:endParaRPr lang="en-US" sz="1150" dirty="0"/>
          </a:p>
        </p:txBody>
      </p:sp>
      <p:sp>
        <p:nvSpPr>
          <p:cNvPr id="13" name="Text 11"/>
          <p:cNvSpPr txBox="1"/>
          <p:nvPr/>
        </p:nvSpPr>
        <p:spPr>
          <a:xfrm>
            <a:off x="4608576" y="3017520"/>
            <a:ext cx="3017520" cy="1371600"/>
          </a:xfrm>
          <a:prstGeom prst="rect">
            <a:avLst/>
          </a:prstGeom>
          <a:noFill/>
          <a:ln/>
        </p:spPr>
        <p:txBody>
          <a:bodyPr wrap="square" lIns="0" tIns="0" rIns="0" bIns="0" rtlCol="0" anchor="t"/>
          <a:lstStyle/>
          <a:p>
            <a:pPr indent="0" marL="0">
              <a:lnSpc>
                <a:spcPct val="120000"/>
              </a:lnSpc>
              <a:buNone/>
            </a:pPr>
            <a:r>
              <a:rPr lang="en-US" sz="1300" dirty="0">
                <a:solidFill>
                  <a:srgbClr val="1C2B3A"/>
                </a:solidFill>
                <a:latin typeface="Calibri" pitchFamily="34" charset="0"/>
                <a:ea typeface="Calibri" pitchFamily="34" charset="-122"/>
                <a:cs typeface="Calibri" pitchFamily="34" charset="-120"/>
              </a:rPr>
              <a:t>The line is marked “DOD to be advised” — no date is invented.</a:t>
            </a:r>
            <a:endParaRPr lang="en-US" sz="1300" dirty="0"/>
          </a:p>
        </p:txBody>
      </p:sp>
      <p:sp>
        <p:nvSpPr>
          <p:cNvPr id="14" name="Text 12"/>
          <p:cNvSpPr txBox="1"/>
          <p:nvPr/>
        </p:nvSpPr>
        <p:spPr>
          <a:xfrm>
            <a:off x="4608576" y="4526280"/>
            <a:ext cx="3017520" cy="731520"/>
          </a:xfrm>
          <a:prstGeom prst="rect">
            <a:avLst/>
          </a:prstGeom>
          <a:noFill/>
          <a:ln/>
        </p:spPr>
        <p:txBody>
          <a:bodyPr wrap="square" lIns="0" tIns="0" rIns="0" bIns="0" rtlCol="0" anchor="ctr"/>
          <a:lstStyle/>
          <a:p>
            <a:pPr indent="0" marL="0">
              <a:lnSpc>
                <a:spcPct val="110000"/>
              </a:lnSpc>
              <a:buNone/>
            </a:pPr>
            <a:r>
              <a:rPr lang="en-US" sz="1150" i="1" dirty="0">
                <a:solidFill>
                  <a:srgbClr val="6B7C8D"/>
                </a:solidFill>
                <a:latin typeface="Calibri" pitchFamily="34" charset="0"/>
                <a:ea typeface="Calibri" pitchFamily="34" charset="-122"/>
                <a:cs typeface="Calibri" pitchFamily="34" charset="-120"/>
              </a:rPr>
              <a:t>It is filled in later, when stock arrives.</a:t>
            </a:r>
            <a:endParaRPr lang="en-US" sz="1150" dirty="0"/>
          </a:p>
        </p:txBody>
      </p:sp>
      <p:sp>
        <p:nvSpPr>
          <p:cNvPr id="15" name="Shape 13"/>
          <p:cNvSpPr/>
          <p:nvPr/>
        </p:nvSpPr>
        <p:spPr>
          <a:xfrm>
            <a:off x="8101584" y="2194560"/>
            <a:ext cx="3529584" cy="3200400"/>
          </a:xfrm>
          <a:prstGeom prst="roundRect">
            <a:avLst>
              <a:gd name="adj" fmla="val 2571"/>
            </a:avLst>
          </a:prstGeom>
          <a:solidFill>
            <a:srgbClr val="FFFFFF"/>
          </a:solidFill>
          <a:ln w="12700">
            <a:solidFill>
              <a:srgbClr val="FFFFFF"/>
            </a:solidFill>
            <a:prstDash val="solid"/>
          </a:ln>
          <a:effectLst>
            <a:outerShdw sx="100000" sy="100000" kx="0" ky="0" algn="bl" rotWithShape="0" blurRad="177800" dist="38100" dir="5400000">
              <a:srgbClr val="0F2A43">
                <a:alpha val="13000"/>
              </a:srgbClr>
            </a:outerShdw>
          </a:effectLst>
        </p:spPr>
      </p:sp>
      <p:sp>
        <p:nvSpPr>
          <p:cNvPr id="16" name="Shape 14"/>
          <p:cNvSpPr/>
          <p:nvPr/>
        </p:nvSpPr>
        <p:spPr>
          <a:xfrm>
            <a:off x="8375904" y="2450592"/>
            <a:ext cx="2103120" cy="347472"/>
          </a:xfrm>
          <a:prstGeom prst="roundRect">
            <a:avLst>
              <a:gd name="adj" fmla="val 50000"/>
            </a:avLst>
          </a:prstGeom>
          <a:solidFill>
            <a:srgbClr val="2F6FB2"/>
          </a:solidFill>
          <a:ln w="12700">
            <a:solidFill>
              <a:srgbClr val="2F6FB2"/>
            </a:solidFill>
            <a:prstDash val="solid"/>
          </a:ln>
        </p:spPr>
      </p:sp>
      <p:sp>
        <p:nvSpPr>
          <p:cNvPr id="17" name="Text 15"/>
          <p:cNvSpPr txBox="1"/>
          <p:nvPr/>
        </p:nvSpPr>
        <p:spPr>
          <a:xfrm>
            <a:off x="8375904" y="2450592"/>
            <a:ext cx="2103120" cy="34747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Partial stock</a:t>
            </a:r>
            <a:endParaRPr lang="en-US" sz="1150" dirty="0"/>
          </a:p>
        </p:txBody>
      </p:sp>
      <p:sp>
        <p:nvSpPr>
          <p:cNvPr id="18" name="Text 16"/>
          <p:cNvSpPr txBox="1"/>
          <p:nvPr/>
        </p:nvSpPr>
        <p:spPr>
          <a:xfrm>
            <a:off x="8375904" y="3017520"/>
            <a:ext cx="3017520" cy="1371600"/>
          </a:xfrm>
          <a:prstGeom prst="rect">
            <a:avLst/>
          </a:prstGeom>
          <a:noFill/>
          <a:ln/>
        </p:spPr>
        <p:txBody>
          <a:bodyPr wrap="square" lIns="0" tIns="0" rIns="0" bIns="0" rtlCol="0" anchor="t"/>
          <a:lstStyle/>
          <a:p>
            <a:pPr indent="0" marL="0">
              <a:lnSpc>
                <a:spcPct val="120000"/>
              </a:lnSpc>
              <a:buNone/>
            </a:pPr>
            <a:r>
              <a:rPr lang="en-US" sz="1300" dirty="0">
                <a:solidFill>
                  <a:srgbClr val="1C2B3A"/>
                </a:solidFill>
                <a:latin typeface="Calibri" pitchFamily="34" charset="0"/>
                <a:ea typeface="Calibri" pitchFamily="34" charset="-122"/>
                <a:cs typeface="Calibri" pitchFamily="34" charset="-120"/>
              </a:rPr>
              <a:t>The line is split: the available quantity gets a date, the remainder becomes a DOD line.</a:t>
            </a:r>
            <a:endParaRPr lang="en-US" sz="1300" dirty="0"/>
          </a:p>
        </p:txBody>
      </p:sp>
      <p:sp>
        <p:nvSpPr>
          <p:cNvPr id="19" name="Text 17"/>
          <p:cNvSpPr txBox="1"/>
          <p:nvPr/>
        </p:nvSpPr>
        <p:spPr>
          <a:xfrm>
            <a:off x="8375904" y="4526280"/>
            <a:ext cx="3017520" cy="731520"/>
          </a:xfrm>
          <a:prstGeom prst="rect">
            <a:avLst/>
          </a:prstGeom>
          <a:noFill/>
          <a:ln/>
        </p:spPr>
        <p:txBody>
          <a:bodyPr wrap="square" lIns="0" tIns="0" rIns="0" bIns="0" rtlCol="0" anchor="ctr"/>
          <a:lstStyle/>
          <a:p>
            <a:pPr indent="0" marL="0">
              <a:lnSpc>
                <a:spcPct val="110000"/>
              </a:lnSpc>
              <a:buNone/>
            </a:pPr>
            <a:r>
              <a:rPr lang="en-US" sz="1150" i="1" dirty="0">
                <a:solidFill>
                  <a:srgbClr val="6B7C8D"/>
                </a:solidFill>
                <a:latin typeface="Calibri" pitchFamily="34" charset="0"/>
                <a:ea typeface="Calibri" pitchFamily="34" charset="-122"/>
                <a:cs typeface="Calibri" pitchFamily="34" charset="-120"/>
              </a:rPr>
              <a:t>The employee gets what exists now.</a:t>
            </a:r>
            <a:endParaRPr lang="en-US" sz="1150" dirty="0"/>
          </a:p>
        </p:txBody>
      </p:sp>
      <p:sp>
        <p:nvSpPr>
          <p:cNvPr id="20" name="Text 18"/>
          <p:cNvSpPr txBox="1"/>
          <p:nvPr/>
        </p:nvSpPr>
        <p:spPr>
          <a:xfrm>
            <a:off x="566928" y="5669280"/>
            <a:ext cx="11064240" cy="365760"/>
          </a:xfrm>
          <a:prstGeom prst="rect">
            <a:avLst/>
          </a:prstGeom>
          <a:noFill/>
          <a:ln/>
        </p:spPr>
        <p:txBody>
          <a:bodyPr wrap="square" lIns="0" tIns="0" rIns="0" bIns="0" rtlCol="0" anchor="ctr"/>
          <a:lstStyle/>
          <a:p>
            <a:pPr indent="0" marL="0">
              <a:buNone/>
            </a:pPr>
            <a:r>
              <a:rPr lang="en-US" sz="1300" b="1" dirty="0">
                <a:solidFill>
                  <a:srgbClr val="0F2A43"/>
                </a:solidFill>
                <a:latin typeface="Calibri" pitchFamily="34" charset="0"/>
                <a:ea typeface="Calibri" pitchFamily="34" charset="-122"/>
                <a:cs typeface="Calibri" pitchFamily="34" charset="-120"/>
              </a:rPr>
              <a:t>No line is ever given a delivery date the store cannot meet.</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2F5F9"/>
        </a:solidFill>
      </p:bgPr>
    </p:bg>
    <p:spTree>
      <p:nvGrpSpPr>
        <p:cNvPr id="1" name=""/>
        <p:cNvGrpSpPr/>
        <p:nvPr/>
      </p:nvGrpSpPr>
      <p:grpSpPr>
        <a:xfrm>
          <a:off x="0" y="0"/>
          <a:ext cx="0" cy="0"/>
          <a:chOff x="0" y="0"/>
          <a:chExt cx="0" cy="0"/>
        </a:xfrm>
      </p:grpSpPr>
      <p:sp>
        <p:nvSpPr>
          <p:cNvPr id="2" name="Text 0"/>
          <p:cNvSpPr txBox="1"/>
          <p:nvPr/>
        </p:nvSpPr>
        <p:spPr>
          <a:xfrm>
            <a:off x="566928" y="420624"/>
            <a:ext cx="10058400" cy="237744"/>
          </a:xfrm>
          <a:prstGeom prst="rect">
            <a:avLst/>
          </a:prstGeom>
          <a:noFill/>
          <a:ln/>
        </p:spPr>
        <p:txBody>
          <a:bodyPr wrap="square" lIns="0" tIns="0" rIns="0" bIns="0" rtlCol="0" anchor="ctr"/>
          <a:lstStyle/>
          <a:p>
            <a:pPr indent="0" marL="0">
              <a:buNone/>
            </a:pPr>
            <a:r>
              <a:rPr lang="en-US" sz="1100" b="1" spc="160" kern="0" dirty="0">
                <a:solidFill>
                  <a:srgbClr val="F4791F"/>
                </a:solidFill>
                <a:latin typeface="Calibri" pitchFamily="34" charset="0"/>
                <a:ea typeface="Calibri" pitchFamily="34" charset="-122"/>
                <a:cs typeface="Calibri" pitchFamily="34" charset="-120"/>
              </a:rPr>
              <a:t>APPROVAL</a:t>
            </a:r>
            <a:endParaRPr lang="en-US" sz="1100" dirty="0"/>
          </a:p>
        </p:txBody>
      </p:sp>
      <p:sp>
        <p:nvSpPr>
          <p:cNvPr id="3" name="Text 1"/>
          <p:cNvSpPr txBox="1"/>
          <p:nvPr/>
        </p:nvSpPr>
        <p:spPr>
          <a:xfrm>
            <a:off x="566928" y="676656"/>
            <a:ext cx="11064240" cy="566928"/>
          </a:xfrm>
          <a:prstGeom prst="rect">
            <a:avLst/>
          </a:prstGeom>
          <a:noFill/>
          <a:ln/>
        </p:spPr>
        <p:txBody>
          <a:bodyPr wrap="square" lIns="0" tIns="0" rIns="0" bIns="0" rtlCol="0" anchor="ctr"/>
          <a:lstStyle/>
          <a:p>
            <a:pPr indent="0" marL="0">
              <a:buNone/>
            </a:pPr>
            <a:r>
              <a:rPr lang="en-US" sz="3200" b="1" dirty="0">
                <a:solidFill>
                  <a:srgbClr val="0F2A43"/>
                </a:solidFill>
                <a:latin typeface="Cambria" pitchFamily="34" charset="0"/>
                <a:ea typeface="Cambria" pitchFamily="34" charset="-122"/>
                <a:cs typeface="Cambria" pitchFamily="34" charset="-120"/>
              </a:rPr>
              <a:t>EGA has three days</a:t>
            </a:r>
            <a:endParaRPr lang="en-US" sz="3200" dirty="0"/>
          </a:p>
        </p:txBody>
      </p:sp>
      <p:sp>
        <p:nvSpPr>
          <p:cNvPr id="4" name="Text 2"/>
          <p:cNvSpPr txBox="1"/>
          <p:nvPr/>
        </p:nvSpPr>
        <p:spPr>
          <a:xfrm>
            <a:off x="566928" y="1600200"/>
            <a:ext cx="5120640" cy="2377440"/>
          </a:xfrm>
          <a:prstGeom prst="rect">
            <a:avLst/>
          </a:prstGeom>
          <a:noFill/>
          <a:ln/>
        </p:spPr>
        <p:txBody>
          <a:bodyPr wrap="square" lIns="0" tIns="0" rIns="0" bIns="0" rtlCol="0" anchor="t"/>
          <a:lstStyle/>
          <a:p>
            <a:pPr marL="342900" indent="-342900">
              <a:lnSpc>
                <a:spcPct val="115000"/>
              </a:lnSpc>
              <a:spcAft>
                <a:spcPts val="700"/>
              </a:spcAft>
              <a:buSzPct val="100000"/>
              <a:buChar char="•"/>
            </a:pPr>
            <a:r>
              <a:rPr lang="en-US" sz="1400" dirty="0">
                <a:solidFill>
                  <a:srgbClr val="1C2B3A"/>
                </a:solidFill>
                <a:latin typeface="Calibri" pitchFamily="34" charset="0"/>
                <a:ea typeface="Calibri" pitchFamily="34" charset="-122"/>
                <a:cs typeface="Calibri" pitchFamily="34" charset="-120"/>
              </a:rPr>
              <a:t>An over-limit order sits in the Approver Module with a visible deadline.</a:t>
            </a:r>
            <a:endParaRPr lang="en-US" sz="1400" dirty="0"/>
          </a:p>
          <a:p>
            <a:pPr marL="342900" indent="-342900">
              <a:lnSpc>
                <a:spcPct val="115000"/>
              </a:lnSpc>
              <a:spcAft>
                <a:spcPts val="700"/>
              </a:spcAft>
              <a:buSzPct val="100000"/>
              <a:buChar char="•"/>
            </a:pPr>
            <a:r>
              <a:rPr lang="en-US" sz="1400" dirty="0">
                <a:solidFill>
                  <a:srgbClr val="1C2B3A"/>
                </a:solidFill>
                <a:latin typeface="Calibri" pitchFamily="34" charset="0"/>
                <a:ea typeface="Calibri" pitchFamily="34" charset="-122"/>
                <a:cs typeface="Calibri" pitchFamily="34" charset="-120"/>
              </a:rPr>
              <a:t>If nobody acts within three days the order cancels itself automatically.</a:t>
            </a:r>
            <a:endParaRPr lang="en-US" sz="1400" dirty="0"/>
          </a:p>
          <a:p>
            <a:pPr marL="342900" indent="-342900">
              <a:lnSpc>
                <a:spcPct val="115000"/>
              </a:lnSpc>
              <a:spcAft>
                <a:spcPts val="700"/>
              </a:spcAft>
              <a:buSzPct val="100000"/>
              <a:buChar char="•"/>
            </a:pPr>
            <a:r>
              <a:rPr lang="en-US" sz="1400" dirty="0">
                <a:solidFill>
                  <a:srgbClr val="1C2B3A"/>
                </a:solidFill>
                <a:latin typeface="Calibri" pitchFamily="34" charset="0"/>
                <a:ea typeface="Calibri" pitchFamily="34" charset="-122"/>
                <a:cs typeface="Calibri" pitchFamily="34" charset="-120"/>
              </a:rPr>
              <a:t>The allocation is credited back and the reserved stock returns to the main store.</a:t>
            </a:r>
            <a:endParaRPr lang="en-US" sz="1400" dirty="0"/>
          </a:p>
          <a:p>
            <a:pPr marL="342900" indent="-342900">
              <a:lnSpc>
                <a:spcPct val="115000"/>
              </a:lnSpc>
              <a:spcAft>
                <a:spcPts val="700"/>
              </a:spcAft>
              <a:buSzPct val="100000"/>
              <a:buChar char="•"/>
            </a:pPr>
            <a:r>
              <a:rPr lang="en-US" sz="1400" dirty="0">
                <a:solidFill>
                  <a:srgbClr val="1C2B3A"/>
                </a:solidFill>
                <a:latin typeface="Calibri" pitchFamily="34" charset="0"/>
                <a:ea typeface="Calibri" pitchFamily="34" charset="-122"/>
                <a:cs typeface="Calibri" pitchFamily="34" charset="-120"/>
              </a:rPr>
              <a:t>The employee is notified — nothing is left hanging.</a:t>
            </a:r>
            <a:endParaRPr lang="en-US" sz="1400" dirty="0"/>
          </a:p>
        </p:txBody>
      </p:sp>
      <p:sp>
        <p:nvSpPr>
          <p:cNvPr id="5" name="Shape 3"/>
          <p:cNvSpPr/>
          <p:nvPr/>
        </p:nvSpPr>
        <p:spPr>
          <a:xfrm>
            <a:off x="5943600" y="1600200"/>
            <a:ext cx="5715000" cy="1298448"/>
          </a:xfrm>
          <a:prstGeom prst="roundRect">
            <a:avLst>
              <a:gd name="adj" fmla="val 6338"/>
            </a:avLst>
          </a:prstGeom>
          <a:solidFill>
            <a:srgbClr val="FFFFFF"/>
          </a:solidFill>
          <a:ln w="12700">
            <a:solidFill>
              <a:srgbClr val="FFFFFF"/>
            </a:solidFill>
            <a:prstDash val="solid"/>
          </a:ln>
          <a:effectLst>
            <a:outerShdw sx="100000" sy="100000" kx="0" ky="0" algn="bl" rotWithShape="0" blurRad="177800" dist="38100" dir="5400000">
              <a:srgbClr val="0F2A43">
                <a:alpha val="13000"/>
              </a:srgbClr>
            </a:outerShdw>
          </a:effectLst>
        </p:spPr>
      </p:sp>
      <p:sp>
        <p:nvSpPr>
          <p:cNvPr id="6" name="Shape 4"/>
          <p:cNvSpPr/>
          <p:nvPr/>
        </p:nvSpPr>
        <p:spPr>
          <a:xfrm>
            <a:off x="6217920" y="2057400"/>
            <a:ext cx="384048" cy="384048"/>
          </a:xfrm>
          <a:prstGeom prst="ellipse">
            <a:avLst/>
          </a:prstGeom>
          <a:solidFill>
            <a:srgbClr val="1E9E6A"/>
          </a:solidFill>
          <a:ln w="12700">
            <a:solidFill>
              <a:srgbClr val="1E9E6A"/>
            </a:solidFill>
            <a:prstDash val="solid"/>
          </a:ln>
        </p:spPr>
      </p:sp>
      <p:sp>
        <p:nvSpPr>
          <p:cNvPr id="7" name="Text 5"/>
          <p:cNvSpPr txBox="1"/>
          <p:nvPr/>
        </p:nvSpPr>
        <p:spPr>
          <a:xfrm>
            <a:off x="6766560" y="1819656"/>
            <a:ext cx="4480560" cy="310896"/>
          </a:xfrm>
          <a:prstGeom prst="rect">
            <a:avLst/>
          </a:prstGeom>
          <a:noFill/>
          <a:ln/>
        </p:spPr>
        <p:txBody>
          <a:bodyPr wrap="square" lIns="0" tIns="0" rIns="0" bIns="0" rtlCol="0" anchor="ctr"/>
          <a:lstStyle/>
          <a:p>
            <a:pPr indent="0" marL="0">
              <a:buNone/>
            </a:pPr>
            <a:r>
              <a:rPr lang="en-US" sz="1700" b="1" dirty="0">
                <a:solidFill>
                  <a:srgbClr val="0F2A43"/>
                </a:solidFill>
                <a:latin typeface="Cambria" pitchFamily="34" charset="0"/>
                <a:ea typeface="Cambria" pitchFamily="34" charset="-122"/>
                <a:cs typeface="Cambria" pitchFamily="34" charset="-120"/>
              </a:rPr>
              <a:t>Approved</a:t>
            </a:r>
            <a:endParaRPr lang="en-US" sz="1700" dirty="0"/>
          </a:p>
        </p:txBody>
      </p:sp>
      <p:sp>
        <p:nvSpPr>
          <p:cNvPr id="8" name="Text 6"/>
          <p:cNvSpPr txBox="1"/>
          <p:nvPr/>
        </p:nvSpPr>
        <p:spPr>
          <a:xfrm>
            <a:off x="6766560" y="2167128"/>
            <a:ext cx="4572000" cy="640080"/>
          </a:xfrm>
          <a:prstGeom prst="rect">
            <a:avLst/>
          </a:prstGeom>
          <a:noFill/>
          <a:ln/>
        </p:spPr>
        <p:txBody>
          <a:bodyPr wrap="square" lIns="0" tIns="0" rIns="0" bIns="0" rtlCol="0" anchor="ctr"/>
          <a:lstStyle/>
          <a:p>
            <a:pPr indent="0" marL="0">
              <a:lnSpc>
                <a:spcPct val="110000"/>
              </a:lnSpc>
              <a:buNone/>
            </a:pPr>
            <a:r>
              <a:rPr lang="en-US" sz="1250" dirty="0">
                <a:solidFill>
                  <a:srgbClr val="6B7C8D"/>
                </a:solidFill>
                <a:latin typeface="Calibri" pitchFamily="34" charset="0"/>
                <a:ea typeface="Calibri" pitchFamily="34" charset="-122"/>
                <a:cs typeface="Calibri" pitchFamily="34" charset="-120"/>
              </a:rPr>
              <a:t>The sales order is raised and</a:t>
            </a:r>
            <a:endParaRPr lang="en-US" sz="1250" dirty="0"/>
          </a:p>
          <a:p>
            <a:pPr indent="0" marL="0">
              <a:lnSpc>
                <a:spcPct val="110000"/>
              </a:lnSpc>
              <a:buNone/>
            </a:pPr>
            <a:r>
              <a:rPr lang="en-US" sz="1250" dirty="0">
                <a:solidFill>
                  <a:srgbClr val="6B7C8D"/>
                </a:solidFill>
                <a:latin typeface="Calibri" pitchFamily="34" charset="0"/>
                <a:ea typeface="Calibri" pitchFamily="34" charset="-122"/>
                <a:cs typeface="Calibri" pitchFamily="34" charset="-120"/>
              </a:rPr>
              <a:t>the order moves to fulfilment.</a:t>
            </a:r>
            <a:endParaRPr lang="en-US" sz="1250" dirty="0"/>
          </a:p>
        </p:txBody>
      </p:sp>
      <p:sp>
        <p:nvSpPr>
          <p:cNvPr id="9" name="Shape 7"/>
          <p:cNvSpPr/>
          <p:nvPr/>
        </p:nvSpPr>
        <p:spPr>
          <a:xfrm>
            <a:off x="5943600" y="3063240"/>
            <a:ext cx="5715000" cy="1298448"/>
          </a:xfrm>
          <a:prstGeom prst="roundRect">
            <a:avLst>
              <a:gd name="adj" fmla="val 6338"/>
            </a:avLst>
          </a:prstGeom>
          <a:solidFill>
            <a:srgbClr val="FFFFFF"/>
          </a:solidFill>
          <a:ln w="12700">
            <a:solidFill>
              <a:srgbClr val="FFFFFF"/>
            </a:solidFill>
            <a:prstDash val="solid"/>
          </a:ln>
          <a:effectLst>
            <a:outerShdw sx="100000" sy="100000" kx="0" ky="0" algn="bl" rotWithShape="0" blurRad="177800" dist="38100" dir="5400000">
              <a:srgbClr val="0F2A43">
                <a:alpha val="13000"/>
              </a:srgbClr>
            </a:outerShdw>
          </a:effectLst>
        </p:spPr>
      </p:sp>
      <p:sp>
        <p:nvSpPr>
          <p:cNvPr id="10" name="Shape 8"/>
          <p:cNvSpPr/>
          <p:nvPr/>
        </p:nvSpPr>
        <p:spPr>
          <a:xfrm>
            <a:off x="6217920" y="3520440"/>
            <a:ext cx="384048" cy="384048"/>
          </a:xfrm>
          <a:prstGeom prst="ellipse">
            <a:avLst/>
          </a:prstGeom>
          <a:solidFill>
            <a:srgbClr val="D64545"/>
          </a:solidFill>
          <a:ln w="12700">
            <a:solidFill>
              <a:srgbClr val="D64545"/>
            </a:solidFill>
            <a:prstDash val="solid"/>
          </a:ln>
        </p:spPr>
      </p:sp>
      <p:sp>
        <p:nvSpPr>
          <p:cNvPr id="11" name="Text 9"/>
          <p:cNvSpPr txBox="1"/>
          <p:nvPr/>
        </p:nvSpPr>
        <p:spPr>
          <a:xfrm>
            <a:off x="6766560" y="3282696"/>
            <a:ext cx="4480560" cy="310896"/>
          </a:xfrm>
          <a:prstGeom prst="rect">
            <a:avLst/>
          </a:prstGeom>
          <a:noFill/>
          <a:ln/>
        </p:spPr>
        <p:txBody>
          <a:bodyPr wrap="square" lIns="0" tIns="0" rIns="0" bIns="0" rtlCol="0" anchor="ctr"/>
          <a:lstStyle/>
          <a:p>
            <a:pPr indent="0" marL="0">
              <a:buNone/>
            </a:pPr>
            <a:r>
              <a:rPr lang="en-US" sz="1700" b="1" dirty="0">
                <a:solidFill>
                  <a:srgbClr val="0F2A43"/>
                </a:solidFill>
                <a:latin typeface="Cambria" pitchFamily="34" charset="0"/>
                <a:ea typeface="Cambria" pitchFamily="34" charset="-122"/>
                <a:cs typeface="Cambria" pitchFamily="34" charset="-120"/>
              </a:rPr>
              <a:t>Rejected</a:t>
            </a:r>
            <a:endParaRPr lang="en-US" sz="1700" dirty="0"/>
          </a:p>
        </p:txBody>
      </p:sp>
      <p:sp>
        <p:nvSpPr>
          <p:cNvPr id="12" name="Text 10"/>
          <p:cNvSpPr txBox="1"/>
          <p:nvPr/>
        </p:nvSpPr>
        <p:spPr>
          <a:xfrm>
            <a:off x="6766560" y="3630168"/>
            <a:ext cx="4572000" cy="640080"/>
          </a:xfrm>
          <a:prstGeom prst="rect">
            <a:avLst/>
          </a:prstGeom>
          <a:noFill/>
          <a:ln/>
        </p:spPr>
        <p:txBody>
          <a:bodyPr wrap="square" lIns="0" tIns="0" rIns="0" bIns="0" rtlCol="0" anchor="ctr"/>
          <a:lstStyle/>
          <a:p>
            <a:pPr indent="0" marL="0">
              <a:lnSpc>
                <a:spcPct val="110000"/>
              </a:lnSpc>
              <a:buNone/>
            </a:pPr>
            <a:r>
              <a:rPr lang="en-US" sz="1250" dirty="0">
                <a:solidFill>
                  <a:srgbClr val="6B7C8D"/>
                </a:solidFill>
                <a:latin typeface="Calibri" pitchFamily="34" charset="0"/>
                <a:ea typeface="Calibri" pitchFamily="34" charset="-122"/>
                <a:cs typeface="Calibri" pitchFamily="34" charset="-120"/>
              </a:rPr>
              <a:t>The allocation and the stock</a:t>
            </a:r>
            <a:endParaRPr lang="en-US" sz="1250" dirty="0"/>
          </a:p>
          <a:p>
            <a:pPr indent="0" marL="0">
              <a:lnSpc>
                <a:spcPct val="110000"/>
              </a:lnSpc>
              <a:buNone/>
            </a:pPr>
            <a:r>
              <a:rPr lang="en-US" sz="1250" dirty="0">
                <a:solidFill>
                  <a:srgbClr val="6B7C8D"/>
                </a:solidFill>
                <a:latin typeface="Calibri" pitchFamily="34" charset="0"/>
                <a:ea typeface="Calibri" pitchFamily="34" charset="-122"/>
                <a:cs typeface="Calibri" pitchFamily="34" charset="-120"/>
              </a:rPr>
              <a:t>are both credited back.</a:t>
            </a:r>
            <a:endParaRPr lang="en-US" sz="1250" dirty="0"/>
          </a:p>
        </p:txBody>
      </p:sp>
      <p:sp>
        <p:nvSpPr>
          <p:cNvPr id="13" name="Shape 11"/>
          <p:cNvSpPr/>
          <p:nvPr/>
        </p:nvSpPr>
        <p:spPr>
          <a:xfrm>
            <a:off x="5943600" y="4526280"/>
            <a:ext cx="5715000" cy="1298448"/>
          </a:xfrm>
          <a:prstGeom prst="roundRect">
            <a:avLst>
              <a:gd name="adj" fmla="val 6338"/>
            </a:avLst>
          </a:prstGeom>
          <a:solidFill>
            <a:srgbClr val="FFFFFF"/>
          </a:solidFill>
          <a:ln w="12700">
            <a:solidFill>
              <a:srgbClr val="FFFFFF"/>
            </a:solidFill>
            <a:prstDash val="solid"/>
          </a:ln>
          <a:effectLst>
            <a:outerShdw sx="100000" sy="100000" kx="0" ky="0" algn="bl" rotWithShape="0" blurRad="177800" dist="38100" dir="5400000">
              <a:srgbClr val="0F2A43">
                <a:alpha val="13000"/>
              </a:srgbClr>
            </a:outerShdw>
          </a:effectLst>
        </p:spPr>
      </p:sp>
      <p:sp>
        <p:nvSpPr>
          <p:cNvPr id="14" name="Shape 12"/>
          <p:cNvSpPr/>
          <p:nvPr/>
        </p:nvSpPr>
        <p:spPr>
          <a:xfrm>
            <a:off x="6217920" y="4983480"/>
            <a:ext cx="384048" cy="384048"/>
          </a:xfrm>
          <a:prstGeom prst="ellipse">
            <a:avLst/>
          </a:prstGeom>
          <a:solidFill>
            <a:srgbClr val="E8A213"/>
          </a:solidFill>
          <a:ln w="12700">
            <a:solidFill>
              <a:srgbClr val="E8A213"/>
            </a:solidFill>
            <a:prstDash val="solid"/>
          </a:ln>
        </p:spPr>
      </p:sp>
      <p:sp>
        <p:nvSpPr>
          <p:cNvPr id="15" name="Text 13"/>
          <p:cNvSpPr txBox="1"/>
          <p:nvPr/>
        </p:nvSpPr>
        <p:spPr>
          <a:xfrm>
            <a:off x="6766560" y="4745736"/>
            <a:ext cx="4480560" cy="310896"/>
          </a:xfrm>
          <a:prstGeom prst="rect">
            <a:avLst/>
          </a:prstGeom>
          <a:noFill/>
          <a:ln/>
        </p:spPr>
        <p:txBody>
          <a:bodyPr wrap="square" lIns="0" tIns="0" rIns="0" bIns="0" rtlCol="0" anchor="ctr"/>
          <a:lstStyle/>
          <a:p>
            <a:pPr indent="0" marL="0">
              <a:buNone/>
            </a:pPr>
            <a:r>
              <a:rPr lang="en-US" sz="1700" b="1" dirty="0">
                <a:solidFill>
                  <a:srgbClr val="0F2A43"/>
                </a:solidFill>
                <a:latin typeface="Cambria" pitchFamily="34" charset="0"/>
                <a:ea typeface="Cambria" pitchFamily="34" charset="-122"/>
                <a:cs typeface="Cambria" pitchFamily="34" charset="-120"/>
              </a:rPr>
              <a:t>No decision in 3 days</a:t>
            </a:r>
            <a:endParaRPr lang="en-US" sz="1700" dirty="0"/>
          </a:p>
        </p:txBody>
      </p:sp>
      <p:sp>
        <p:nvSpPr>
          <p:cNvPr id="16" name="Text 14"/>
          <p:cNvSpPr txBox="1"/>
          <p:nvPr/>
        </p:nvSpPr>
        <p:spPr>
          <a:xfrm>
            <a:off x="6766560" y="5093208"/>
            <a:ext cx="4572000" cy="640080"/>
          </a:xfrm>
          <a:prstGeom prst="rect">
            <a:avLst/>
          </a:prstGeom>
          <a:noFill/>
          <a:ln/>
        </p:spPr>
        <p:txBody>
          <a:bodyPr wrap="square" lIns="0" tIns="0" rIns="0" bIns="0" rtlCol="0" anchor="ctr"/>
          <a:lstStyle/>
          <a:p>
            <a:pPr indent="0" marL="0">
              <a:lnSpc>
                <a:spcPct val="110000"/>
              </a:lnSpc>
              <a:buNone/>
            </a:pPr>
            <a:r>
              <a:rPr lang="en-US" sz="1250" dirty="0">
                <a:solidFill>
                  <a:srgbClr val="6B7C8D"/>
                </a:solidFill>
                <a:latin typeface="Calibri" pitchFamily="34" charset="0"/>
                <a:ea typeface="Calibri" pitchFamily="34" charset="-122"/>
                <a:cs typeface="Calibri" pitchFamily="34" charset="-120"/>
              </a:rPr>
              <a:t>Cancelled automatically,</a:t>
            </a:r>
            <a:endParaRPr lang="en-US" sz="1250" dirty="0"/>
          </a:p>
          <a:p>
            <a:pPr indent="0" marL="0">
              <a:lnSpc>
                <a:spcPct val="110000"/>
              </a:lnSpc>
              <a:buNone/>
            </a:pPr>
            <a:r>
              <a:rPr lang="en-US" sz="1250" dirty="0">
                <a:solidFill>
                  <a:srgbClr val="6B7C8D"/>
                </a:solidFill>
                <a:latin typeface="Calibri" pitchFamily="34" charset="0"/>
                <a:ea typeface="Calibri" pitchFamily="34" charset="-122"/>
                <a:cs typeface="Calibri" pitchFamily="34" charset="-120"/>
              </a:rPr>
              <a:t>with the same credits.</a:t>
            </a:r>
            <a:endParaRPr lang="en-US" sz="1250" dirty="0"/>
          </a:p>
        </p:txBody>
      </p:sp>
      <p:sp>
        <p:nvSpPr>
          <p:cNvPr id="17" name="Shape 15"/>
          <p:cNvSpPr/>
          <p:nvPr/>
        </p:nvSpPr>
        <p:spPr>
          <a:xfrm>
            <a:off x="566928" y="4251960"/>
            <a:ext cx="5120640" cy="1463040"/>
          </a:xfrm>
          <a:prstGeom prst="roundRect">
            <a:avLst>
              <a:gd name="adj" fmla="val 5625"/>
            </a:avLst>
          </a:prstGeom>
          <a:solidFill>
            <a:srgbClr val="0F2A43"/>
          </a:solidFill>
          <a:ln w="12700">
            <a:solidFill>
              <a:srgbClr val="0F2A43"/>
            </a:solidFill>
            <a:prstDash val="solid"/>
          </a:ln>
          <a:effectLst>
            <a:outerShdw sx="100000" sy="100000" kx="0" ky="0" algn="bl" rotWithShape="0" blurRad="177800" dist="38100" dir="5400000">
              <a:srgbClr val="0F2A43">
                <a:alpha val="13000"/>
              </a:srgbClr>
            </a:outerShdw>
          </a:effectLst>
        </p:spPr>
      </p:sp>
      <p:sp>
        <p:nvSpPr>
          <p:cNvPr id="18" name="Text 16"/>
          <p:cNvSpPr txBox="1"/>
          <p:nvPr/>
        </p:nvSpPr>
        <p:spPr>
          <a:xfrm>
            <a:off x="859536" y="4462272"/>
            <a:ext cx="4572000" cy="292608"/>
          </a:xfrm>
          <a:prstGeom prst="rect">
            <a:avLst/>
          </a:prstGeom>
          <a:noFill/>
          <a:ln/>
        </p:spPr>
        <p:txBody>
          <a:bodyPr wrap="square" lIns="0" tIns="0" rIns="0" bIns="0" rtlCol="0" anchor="ctr"/>
          <a:lstStyle/>
          <a:p>
            <a:pPr indent="0" marL="0">
              <a:buNone/>
            </a:pPr>
            <a:r>
              <a:rPr lang="en-US" sz="1100" b="1" spc="120" kern="0" dirty="0">
                <a:solidFill>
                  <a:srgbClr val="F4791F"/>
                </a:solidFill>
                <a:latin typeface="Calibri" pitchFamily="34" charset="0"/>
                <a:ea typeface="Calibri" pitchFamily="34" charset="-122"/>
                <a:cs typeface="Calibri" pitchFamily="34" charset="-120"/>
              </a:rPr>
              <a:t>Approval is line by line</a:t>
            </a:r>
            <a:endParaRPr lang="en-US" sz="1100" dirty="0"/>
          </a:p>
        </p:txBody>
      </p:sp>
      <p:sp>
        <p:nvSpPr>
          <p:cNvPr id="19" name="Text 17"/>
          <p:cNvSpPr txBox="1"/>
          <p:nvPr/>
        </p:nvSpPr>
        <p:spPr>
          <a:xfrm>
            <a:off x="859536" y="4773168"/>
            <a:ext cx="4617720" cy="822960"/>
          </a:xfrm>
          <a:prstGeom prst="rect">
            <a:avLst/>
          </a:prstGeom>
          <a:noFill/>
          <a:ln/>
        </p:spPr>
        <p:txBody>
          <a:bodyPr wrap="square" lIns="0" tIns="0" rIns="0" bIns="0" rtlCol="0" anchor="ctr"/>
          <a:lstStyle/>
          <a:p>
            <a:pPr indent="0" marL="0">
              <a:lnSpc>
                <a:spcPct val="115000"/>
              </a:lnSpc>
              <a:buNone/>
            </a:pPr>
            <a:r>
              <a:rPr lang="en-US" sz="1300" dirty="0">
                <a:solidFill>
                  <a:srgbClr val="CFE0EF"/>
                </a:solidFill>
                <a:latin typeface="Calibri" pitchFamily="34" charset="0"/>
                <a:ea typeface="Calibri" pitchFamily="34" charset="-122"/>
                <a:cs typeface="Calibri" pitchFamily="34" charset="-120"/>
              </a:rPr>
              <a:t>EGA can approve three of the five requested and reject the rest — the unapproved part is credited straight back.</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2F5F9"/>
        </a:solidFill>
      </p:bgPr>
    </p:bg>
    <p:spTree>
      <p:nvGrpSpPr>
        <p:cNvPr id="1" name=""/>
        <p:cNvGrpSpPr/>
        <p:nvPr/>
      </p:nvGrpSpPr>
      <p:grpSpPr>
        <a:xfrm>
          <a:off x="0" y="0"/>
          <a:ext cx="0" cy="0"/>
          <a:chOff x="0" y="0"/>
          <a:chExt cx="0" cy="0"/>
        </a:xfrm>
      </p:grpSpPr>
      <p:sp>
        <p:nvSpPr>
          <p:cNvPr id="2" name="Text 0"/>
          <p:cNvSpPr txBox="1"/>
          <p:nvPr/>
        </p:nvSpPr>
        <p:spPr>
          <a:xfrm>
            <a:off x="566928" y="420624"/>
            <a:ext cx="10058400" cy="237744"/>
          </a:xfrm>
          <a:prstGeom prst="rect">
            <a:avLst/>
          </a:prstGeom>
          <a:noFill/>
          <a:ln/>
        </p:spPr>
        <p:txBody>
          <a:bodyPr wrap="square" lIns="0" tIns="0" rIns="0" bIns="0" rtlCol="0" anchor="ctr"/>
          <a:lstStyle/>
          <a:p>
            <a:pPr indent="0" marL="0">
              <a:buNone/>
            </a:pPr>
            <a:r>
              <a:rPr lang="en-US" sz="1100" b="1" spc="160" kern="0" dirty="0">
                <a:solidFill>
                  <a:srgbClr val="F4791F"/>
                </a:solidFill>
                <a:latin typeface="Calibri" pitchFamily="34" charset="0"/>
                <a:ea typeface="Calibri" pitchFamily="34" charset="-122"/>
                <a:cs typeface="Calibri" pitchFamily="34" charset="-120"/>
              </a:rPr>
              <a:t>APPROVER MODULE</a:t>
            </a:r>
            <a:endParaRPr lang="en-US" sz="1100" dirty="0"/>
          </a:p>
        </p:txBody>
      </p:sp>
      <p:sp>
        <p:nvSpPr>
          <p:cNvPr id="3" name="Text 1"/>
          <p:cNvSpPr txBox="1"/>
          <p:nvPr/>
        </p:nvSpPr>
        <p:spPr>
          <a:xfrm>
            <a:off x="566928" y="676656"/>
            <a:ext cx="11064240" cy="566928"/>
          </a:xfrm>
          <a:prstGeom prst="rect">
            <a:avLst/>
          </a:prstGeom>
          <a:noFill/>
          <a:ln/>
        </p:spPr>
        <p:txBody>
          <a:bodyPr wrap="square" lIns="0" tIns="0" rIns="0" bIns="0" rtlCol="0" anchor="ctr"/>
          <a:lstStyle/>
          <a:p>
            <a:pPr indent="0" marL="0">
              <a:buNone/>
            </a:pPr>
            <a:r>
              <a:rPr lang="en-US" sz="3200" b="1" dirty="0">
                <a:solidFill>
                  <a:srgbClr val="0F2A43"/>
                </a:solidFill>
                <a:latin typeface="Cambria" pitchFamily="34" charset="0"/>
                <a:ea typeface="Cambria" pitchFamily="34" charset="-122"/>
                <a:cs typeface="Cambria" pitchFamily="34" charset="-120"/>
              </a:rPr>
              <a:t>Approving line by line</a:t>
            </a:r>
            <a:endParaRPr lang="en-US" sz="3200" dirty="0"/>
          </a:p>
        </p:txBody>
      </p:sp>
      <p:sp>
        <p:nvSpPr>
          <p:cNvPr id="4" name="Shape 2"/>
          <p:cNvSpPr/>
          <p:nvPr/>
        </p:nvSpPr>
        <p:spPr>
          <a:xfrm>
            <a:off x="1950275" y="1444752"/>
            <a:ext cx="8297546" cy="2596896"/>
          </a:xfrm>
          <a:prstGeom prst="roundRect">
            <a:avLst>
              <a:gd name="adj" fmla="val 2113"/>
            </a:avLst>
          </a:prstGeom>
          <a:solidFill>
            <a:srgbClr val="FFFFFF"/>
          </a:solidFill>
          <a:ln w="12700">
            <a:solidFill>
              <a:srgbClr val="DCE4EC"/>
            </a:solidFill>
            <a:prstDash val="solid"/>
          </a:ln>
          <a:effectLst>
            <a:outerShdw sx="100000" sy="100000" kx="0" ky="0" algn="bl" rotWithShape="0" blurRad="177800" dist="38100" dir="5400000">
              <a:srgbClr val="0F2A43">
                <a:alpha val="13000"/>
              </a:srgbClr>
            </a:outerShdw>
          </a:effectLst>
        </p:spPr>
      </p:sp>
      <p:pic>
        <p:nvPicPr>
          <p:cNvPr id="5" name="Image 0" descr="/tmp/deck/10-approvals-crop.png">    </p:cNvPr>
          <p:cNvPicPr>
            <a:picLocks noChangeAspect="1"/>
          </p:cNvPicPr>
          <p:nvPr/>
        </p:nvPicPr>
        <p:blipFill>
          <a:blip r:embed="rId1"/>
          <a:stretch>
            <a:fillRect/>
          </a:stretch>
        </p:blipFill>
        <p:spPr>
          <a:xfrm>
            <a:off x="2014283" y="1508760"/>
            <a:ext cx="8169530" cy="2468880"/>
          </a:xfrm>
          <a:prstGeom prst="rect">
            <a:avLst/>
          </a:prstGeom>
        </p:spPr>
      </p:pic>
      <p:sp>
        <p:nvSpPr>
          <p:cNvPr id="6" name="Shape 3"/>
          <p:cNvSpPr/>
          <p:nvPr/>
        </p:nvSpPr>
        <p:spPr>
          <a:xfrm>
            <a:off x="566928" y="4343400"/>
            <a:ext cx="3529584" cy="1417320"/>
          </a:xfrm>
          <a:prstGeom prst="roundRect">
            <a:avLst>
              <a:gd name="adj" fmla="val 5806"/>
            </a:avLst>
          </a:prstGeom>
          <a:solidFill>
            <a:srgbClr val="FFFFFF"/>
          </a:solidFill>
          <a:ln w="12700">
            <a:solidFill>
              <a:srgbClr val="FFFFFF"/>
            </a:solidFill>
            <a:prstDash val="solid"/>
          </a:ln>
          <a:effectLst>
            <a:outerShdw sx="100000" sy="100000" kx="0" ky="0" algn="bl" rotWithShape="0" blurRad="177800" dist="38100" dir="5400000">
              <a:srgbClr val="0F2A43">
                <a:alpha val="13000"/>
              </a:srgbClr>
            </a:outerShdw>
          </a:effectLst>
        </p:spPr>
      </p:sp>
      <p:sp>
        <p:nvSpPr>
          <p:cNvPr id="7" name="Text 4"/>
          <p:cNvSpPr txBox="1"/>
          <p:nvPr/>
        </p:nvSpPr>
        <p:spPr>
          <a:xfrm>
            <a:off x="841248" y="4553712"/>
            <a:ext cx="3017520" cy="292608"/>
          </a:xfrm>
          <a:prstGeom prst="rect">
            <a:avLst/>
          </a:prstGeom>
          <a:noFill/>
          <a:ln/>
        </p:spPr>
        <p:txBody>
          <a:bodyPr wrap="square" lIns="0" tIns="0" rIns="0" bIns="0" rtlCol="0" anchor="ctr"/>
          <a:lstStyle/>
          <a:p>
            <a:pPr indent="0" marL="0">
              <a:buNone/>
            </a:pPr>
            <a:r>
              <a:rPr lang="en-US" sz="1350" b="1" dirty="0">
                <a:solidFill>
                  <a:srgbClr val="0F2A43"/>
                </a:solidFill>
                <a:latin typeface="Calibri" pitchFamily="34" charset="0"/>
                <a:ea typeface="Calibri" pitchFamily="34" charset="-122"/>
                <a:cs typeface="Calibri" pitchFamily="34" charset="-120"/>
              </a:rPr>
              <a:t>Every line, every figure</a:t>
            </a:r>
            <a:endParaRPr lang="en-US" sz="1350" dirty="0"/>
          </a:p>
        </p:txBody>
      </p:sp>
      <p:sp>
        <p:nvSpPr>
          <p:cNvPr id="8" name="Text 5"/>
          <p:cNvSpPr txBox="1"/>
          <p:nvPr/>
        </p:nvSpPr>
        <p:spPr>
          <a:xfrm>
            <a:off x="841248" y="4864608"/>
            <a:ext cx="3063240" cy="777240"/>
          </a:xfrm>
          <a:prstGeom prst="rect">
            <a:avLst/>
          </a:prstGeom>
          <a:noFill/>
          <a:ln/>
        </p:spPr>
        <p:txBody>
          <a:bodyPr wrap="square" lIns="0" tIns="0" rIns="0" bIns="0" rtlCol="0" anchor="ctr"/>
          <a:lstStyle/>
          <a:p>
            <a:pPr indent="0" marL="0">
              <a:lnSpc>
                <a:spcPct val="110000"/>
              </a:lnSpc>
              <a:buNone/>
            </a:pPr>
            <a:r>
              <a:rPr lang="en-US" sz="1200" dirty="0">
                <a:solidFill>
                  <a:srgbClr val="6B7C8D"/>
                </a:solidFill>
                <a:latin typeface="Calibri" pitchFamily="34" charset="0"/>
                <a:ea typeface="Calibri" pitchFamily="34" charset="-122"/>
                <a:cs typeface="Calibri" pitchFamily="34" charset="-120"/>
              </a:rPr>
              <a:t>Ordered quantity, unit price, allocated and used balance are all on screen.</a:t>
            </a:r>
            <a:endParaRPr lang="en-US" sz="1200" dirty="0"/>
          </a:p>
        </p:txBody>
      </p:sp>
      <p:sp>
        <p:nvSpPr>
          <p:cNvPr id="9" name="Shape 6"/>
          <p:cNvSpPr/>
          <p:nvPr/>
        </p:nvSpPr>
        <p:spPr>
          <a:xfrm>
            <a:off x="4334256" y="4343400"/>
            <a:ext cx="3529584" cy="1417320"/>
          </a:xfrm>
          <a:prstGeom prst="roundRect">
            <a:avLst>
              <a:gd name="adj" fmla="val 5806"/>
            </a:avLst>
          </a:prstGeom>
          <a:solidFill>
            <a:srgbClr val="FFFFFF"/>
          </a:solidFill>
          <a:ln w="12700">
            <a:solidFill>
              <a:srgbClr val="FFFFFF"/>
            </a:solidFill>
            <a:prstDash val="solid"/>
          </a:ln>
          <a:effectLst>
            <a:outerShdw sx="100000" sy="100000" kx="0" ky="0" algn="bl" rotWithShape="0" blurRad="177800" dist="38100" dir="5400000">
              <a:srgbClr val="0F2A43">
                <a:alpha val="13000"/>
              </a:srgbClr>
            </a:outerShdw>
          </a:effectLst>
        </p:spPr>
      </p:sp>
      <p:sp>
        <p:nvSpPr>
          <p:cNvPr id="10" name="Text 7"/>
          <p:cNvSpPr txBox="1"/>
          <p:nvPr/>
        </p:nvSpPr>
        <p:spPr>
          <a:xfrm>
            <a:off x="4608576" y="4553712"/>
            <a:ext cx="3017520" cy="292608"/>
          </a:xfrm>
          <a:prstGeom prst="rect">
            <a:avLst/>
          </a:prstGeom>
          <a:noFill/>
          <a:ln/>
        </p:spPr>
        <p:txBody>
          <a:bodyPr wrap="square" lIns="0" tIns="0" rIns="0" bIns="0" rtlCol="0" anchor="ctr"/>
          <a:lstStyle/>
          <a:p>
            <a:pPr indent="0" marL="0">
              <a:buNone/>
            </a:pPr>
            <a:r>
              <a:rPr lang="en-US" sz="1350" b="1" dirty="0">
                <a:solidFill>
                  <a:srgbClr val="0F2A43"/>
                </a:solidFill>
                <a:latin typeface="Calibri" pitchFamily="34" charset="0"/>
                <a:ea typeface="Calibri" pitchFamily="34" charset="-122"/>
                <a:cs typeface="Calibri" pitchFamily="34" charset="-120"/>
              </a:rPr>
              <a:t>Change the quantity</a:t>
            </a:r>
            <a:endParaRPr lang="en-US" sz="1350" dirty="0"/>
          </a:p>
        </p:txBody>
      </p:sp>
      <p:sp>
        <p:nvSpPr>
          <p:cNvPr id="11" name="Text 8"/>
          <p:cNvSpPr txBox="1"/>
          <p:nvPr/>
        </p:nvSpPr>
        <p:spPr>
          <a:xfrm>
            <a:off x="4608576" y="4864608"/>
            <a:ext cx="3063240" cy="777240"/>
          </a:xfrm>
          <a:prstGeom prst="rect">
            <a:avLst/>
          </a:prstGeom>
          <a:noFill/>
          <a:ln/>
        </p:spPr>
        <p:txBody>
          <a:bodyPr wrap="square" lIns="0" tIns="0" rIns="0" bIns="0" rtlCol="0" anchor="ctr"/>
          <a:lstStyle/>
          <a:p>
            <a:pPr indent="0" marL="0">
              <a:lnSpc>
                <a:spcPct val="110000"/>
              </a:lnSpc>
              <a:buNone/>
            </a:pPr>
            <a:r>
              <a:rPr lang="en-US" sz="1200" dirty="0">
                <a:solidFill>
                  <a:srgbClr val="6B7C8D"/>
                </a:solidFill>
                <a:latin typeface="Calibri" pitchFamily="34" charset="0"/>
                <a:ea typeface="Calibri" pitchFamily="34" charset="-122"/>
                <a:cs typeface="Calibri" pitchFamily="34" charset="-120"/>
              </a:rPr>
              <a:t>The approver types the quantity they will allow on each line.</a:t>
            </a:r>
            <a:endParaRPr lang="en-US" sz="1200" dirty="0"/>
          </a:p>
        </p:txBody>
      </p:sp>
      <p:sp>
        <p:nvSpPr>
          <p:cNvPr id="12" name="Shape 9"/>
          <p:cNvSpPr/>
          <p:nvPr/>
        </p:nvSpPr>
        <p:spPr>
          <a:xfrm>
            <a:off x="8101584" y="4343400"/>
            <a:ext cx="3529584" cy="1417320"/>
          </a:xfrm>
          <a:prstGeom prst="roundRect">
            <a:avLst>
              <a:gd name="adj" fmla="val 5806"/>
            </a:avLst>
          </a:prstGeom>
          <a:solidFill>
            <a:srgbClr val="FFFFFF"/>
          </a:solidFill>
          <a:ln w="12700">
            <a:solidFill>
              <a:srgbClr val="FFFFFF"/>
            </a:solidFill>
            <a:prstDash val="solid"/>
          </a:ln>
          <a:effectLst>
            <a:outerShdw sx="100000" sy="100000" kx="0" ky="0" algn="bl" rotWithShape="0" blurRad="177800" dist="38100" dir="5400000">
              <a:srgbClr val="0F2A43">
                <a:alpha val="13000"/>
              </a:srgbClr>
            </a:outerShdw>
          </a:effectLst>
        </p:spPr>
      </p:sp>
      <p:sp>
        <p:nvSpPr>
          <p:cNvPr id="13" name="Text 10"/>
          <p:cNvSpPr txBox="1"/>
          <p:nvPr/>
        </p:nvSpPr>
        <p:spPr>
          <a:xfrm>
            <a:off x="8375904" y="4553712"/>
            <a:ext cx="3017520" cy="292608"/>
          </a:xfrm>
          <a:prstGeom prst="rect">
            <a:avLst/>
          </a:prstGeom>
          <a:noFill/>
          <a:ln/>
        </p:spPr>
        <p:txBody>
          <a:bodyPr wrap="square" lIns="0" tIns="0" rIns="0" bIns="0" rtlCol="0" anchor="ctr"/>
          <a:lstStyle/>
          <a:p>
            <a:pPr indent="0" marL="0">
              <a:buNone/>
            </a:pPr>
            <a:r>
              <a:rPr lang="en-US" sz="1350" b="1" dirty="0">
                <a:solidFill>
                  <a:srgbClr val="0F2A43"/>
                </a:solidFill>
                <a:latin typeface="Calibri" pitchFamily="34" charset="0"/>
                <a:ea typeface="Calibri" pitchFamily="34" charset="-122"/>
                <a:cs typeface="Calibri" pitchFamily="34" charset="-120"/>
              </a:rPr>
              <a:t>Reject with a reason</a:t>
            </a:r>
            <a:endParaRPr lang="en-US" sz="1350" dirty="0"/>
          </a:p>
        </p:txBody>
      </p:sp>
      <p:sp>
        <p:nvSpPr>
          <p:cNvPr id="14" name="Text 11"/>
          <p:cNvSpPr txBox="1"/>
          <p:nvPr/>
        </p:nvSpPr>
        <p:spPr>
          <a:xfrm>
            <a:off x="8375904" y="4864608"/>
            <a:ext cx="3063240" cy="777240"/>
          </a:xfrm>
          <a:prstGeom prst="rect">
            <a:avLst/>
          </a:prstGeom>
          <a:noFill/>
          <a:ln/>
        </p:spPr>
        <p:txBody>
          <a:bodyPr wrap="square" lIns="0" tIns="0" rIns="0" bIns="0" rtlCol="0" anchor="ctr"/>
          <a:lstStyle/>
          <a:p>
            <a:pPr indent="0" marL="0">
              <a:lnSpc>
                <a:spcPct val="110000"/>
              </a:lnSpc>
              <a:buNone/>
            </a:pPr>
            <a:r>
              <a:rPr lang="en-US" sz="1200" dirty="0">
                <a:solidFill>
                  <a:srgbClr val="6B7C8D"/>
                </a:solidFill>
                <a:latin typeface="Calibri" pitchFamily="34" charset="0"/>
                <a:ea typeface="Calibri" pitchFamily="34" charset="-122"/>
                <a:cs typeface="Calibri" pitchFamily="34" charset="-120"/>
              </a:rPr>
              <a:t>A rejected order returns the allocation and the stock immediately.</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2F5F9"/>
        </a:solidFill>
      </p:bgPr>
    </p:bg>
    <p:spTree>
      <p:nvGrpSpPr>
        <p:cNvPr id="1" name=""/>
        <p:cNvGrpSpPr/>
        <p:nvPr/>
      </p:nvGrpSpPr>
      <p:grpSpPr>
        <a:xfrm>
          <a:off x="0" y="0"/>
          <a:ext cx="0" cy="0"/>
          <a:chOff x="0" y="0"/>
          <a:chExt cx="0" cy="0"/>
        </a:xfrm>
      </p:grpSpPr>
      <p:sp>
        <p:nvSpPr>
          <p:cNvPr id="2" name="Text 0"/>
          <p:cNvSpPr txBox="1"/>
          <p:nvPr/>
        </p:nvSpPr>
        <p:spPr>
          <a:xfrm>
            <a:off x="566928" y="420624"/>
            <a:ext cx="10058400" cy="237744"/>
          </a:xfrm>
          <a:prstGeom prst="rect">
            <a:avLst/>
          </a:prstGeom>
          <a:noFill/>
          <a:ln/>
        </p:spPr>
        <p:txBody>
          <a:bodyPr wrap="square" lIns="0" tIns="0" rIns="0" bIns="0" rtlCol="0" anchor="ctr"/>
          <a:lstStyle/>
          <a:p>
            <a:pPr indent="0" marL="0">
              <a:buNone/>
            </a:pPr>
            <a:r>
              <a:rPr lang="en-US" sz="1100" b="1" spc="160" kern="0" dirty="0">
                <a:solidFill>
                  <a:srgbClr val="F4791F"/>
                </a:solidFill>
                <a:latin typeface="Calibri" pitchFamily="34" charset="0"/>
                <a:ea typeface="Calibri" pitchFamily="34" charset="-122"/>
                <a:cs typeface="Calibri" pitchFamily="34" charset="-120"/>
              </a:rPr>
              <a:t>APPROVER MODULE</a:t>
            </a:r>
            <a:endParaRPr lang="en-US" sz="1100" dirty="0"/>
          </a:p>
        </p:txBody>
      </p:sp>
      <p:sp>
        <p:nvSpPr>
          <p:cNvPr id="3" name="Text 1"/>
          <p:cNvSpPr txBox="1"/>
          <p:nvPr/>
        </p:nvSpPr>
        <p:spPr>
          <a:xfrm>
            <a:off x="566928" y="676656"/>
            <a:ext cx="11064240" cy="566928"/>
          </a:xfrm>
          <a:prstGeom prst="rect">
            <a:avLst/>
          </a:prstGeom>
          <a:noFill/>
          <a:ln/>
        </p:spPr>
        <p:txBody>
          <a:bodyPr wrap="square" lIns="0" tIns="0" rIns="0" bIns="0" rtlCol="0" anchor="ctr"/>
          <a:lstStyle/>
          <a:p>
            <a:pPr indent="0" marL="0">
              <a:buNone/>
            </a:pPr>
            <a:r>
              <a:rPr lang="en-US" sz="3200" b="1" dirty="0">
                <a:solidFill>
                  <a:srgbClr val="0F2A43"/>
                </a:solidFill>
                <a:latin typeface="Cambria" pitchFamily="34" charset="0"/>
                <a:ea typeface="Cambria" pitchFamily="34" charset="-122"/>
                <a:cs typeface="Cambria" pitchFamily="34" charset="-120"/>
              </a:rPr>
              <a:t>Three buckets, nothing else</a:t>
            </a:r>
            <a:endParaRPr lang="en-US" sz="3200" dirty="0"/>
          </a:p>
        </p:txBody>
      </p:sp>
      <p:sp>
        <p:nvSpPr>
          <p:cNvPr id="4" name="Shape 2"/>
          <p:cNvSpPr/>
          <p:nvPr/>
        </p:nvSpPr>
        <p:spPr>
          <a:xfrm>
            <a:off x="502920" y="1534125"/>
            <a:ext cx="11192256" cy="2418151"/>
          </a:xfrm>
          <a:prstGeom prst="roundRect">
            <a:avLst>
              <a:gd name="adj" fmla="val 2269"/>
            </a:avLst>
          </a:prstGeom>
          <a:solidFill>
            <a:srgbClr val="FFFFFF"/>
          </a:solidFill>
          <a:ln w="12700">
            <a:solidFill>
              <a:srgbClr val="DCE4EC"/>
            </a:solidFill>
            <a:prstDash val="solid"/>
          </a:ln>
          <a:effectLst>
            <a:outerShdw sx="100000" sy="100000" kx="0" ky="0" algn="bl" rotWithShape="0" blurRad="177800" dist="38100" dir="5400000">
              <a:srgbClr val="0F2A43">
                <a:alpha val="13000"/>
              </a:srgbClr>
            </a:outerShdw>
          </a:effectLst>
        </p:spPr>
      </p:sp>
      <p:pic>
        <p:nvPicPr>
          <p:cNvPr id="5" name="Image 0" descr="/tmp/deck/11-approver-buckets-crop.png">    </p:cNvPr>
          <p:cNvPicPr>
            <a:picLocks noChangeAspect="1"/>
          </p:cNvPicPr>
          <p:nvPr/>
        </p:nvPicPr>
        <p:blipFill>
          <a:blip r:embed="rId1"/>
          <a:stretch>
            <a:fillRect/>
          </a:stretch>
        </p:blipFill>
        <p:spPr>
          <a:xfrm>
            <a:off x="566928" y="1598133"/>
            <a:ext cx="11064240" cy="2290135"/>
          </a:xfrm>
          <a:prstGeom prst="rect">
            <a:avLst/>
          </a:prstGeom>
        </p:spPr>
      </p:pic>
      <p:sp>
        <p:nvSpPr>
          <p:cNvPr id="6" name="Shape 3"/>
          <p:cNvSpPr/>
          <p:nvPr/>
        </p:nvSpPr>
        <p:spPr>
          <a:xfrm>
            <a:off x="566928" y="4343400"/>
            <a:ext cx="3529584" cy="1417320"/>
          </a:xfrm>
          <a:prstGeom prst="roundRect">
            <a:avLst>
              <a:gd name="adj" fmla="val 5806"/>
            </a:avLst>
          </a:prstGeom>
          <a:solidFill>
            <a:srgbClr val="FFFFFF"/>
          </a:solidFill>
          <a:ln w="12700">
            <a:solidFill>
              <a:srgbClr val="FFFFFF"/>
            </a:solidFill>
            <a:prstDash val="solid"/>
          </a:ln>
          <a:effectLst>
            <a:outerShdw sx="100000" sy="100000" kx="0" ky="0" algn="bl" rotWithShape="0" blurRad="177800" dist="38100" dir="5400000">
              <a:srgbClr val="0F2A43">
                <a:alpha val="13000"/>
              </a:srgbClr>
            </a:outerShdw>
          </a:effectLst>
        </p:spPr>
      </p:sp>
      <p:sp>
        <p:nvSpPr>
          <p:cNvPr id="7" name="Shape 4"/>
          <p:cNvSpPr/>
          <p:nvPr/>
        </p:nvSpPr>
        <p:spPr>
          <a:xfrm>
            <a:off x="841248" y="4590288"/>
            <a:ext cx="182880" cy="182880"/>
          </a:xfrm>
          <a:prstGeom prst="ellipse">
            <a:avLst/>
          </a:prstGeom>
          <a:solidFill>
            <a:srgbClr val="E8A213"/>
          </a:solidFill>
          <a:ln w="12700">
            <a:solidFill>
              <a:srgbClr val="E8A213"/>
            </a:solidFill>
            <a:prstDash val="solid"/>
          </a:ln>
        </p:spPr>
      </p:sp>
      <p:sp>
        <p:nvSpPr>
          <p:cNvPr id="8" name="Text 5"/>
          <p:cNvSpPr txBox="1"/>
          <p:nvPr/>
        </p:nvSpPr>
        <p:spPr>
          <a:xfrm>
            <a:off x="1133856" y="4517136"/>
            <a:ext cx="2834640" cy="292608"/>
          </a:xfrm>
          <a:prstGeom prst="rect">
            <a:avLst/>
          </a:prstGeom>
          <a:noFill/>
          <a:ln/>
        </p:spPr>
        <p:txBody>
          <a:bodyPr wrap="square" lIns="0" tIns="0" rIns="0" bIns="0" rtlCol="0" anchor="ctr"/>
          <a:lstStyle/>
          <a:p>
            <a:pPr indent="0" marL="0">
              <a:buNone/>
            </a:pPr>
            <a:r>
              <a:rPr lang="en-US" sz="1350" b="1" dirty="0">
                <a:solidFill>
                  <a:srgbClr val="0F2A43"/>
                </a:solidFill>
                <a:latin typeface="Calibri" pitchFamily="34" charset="0"/>
                <a:ea typeface="Calibri" pitchFamily="34" charset="-122"/>
                <a:cs typeface="Calibri" pitchFamily="34" charset="-120"/>
              </a:rPr>
              <a:t>Orders for Approval</a:t>
            </a:r>
            <a:endParaRPr lang="en-US" sz="1350" dirty="0"/>
          </a:p>
        </p:txBody>
      </p:sp>
      <p:sp>
        <p:nvSpPr>
          <p:cNvPr id="9" name="Text 6"/>
          <p:cNvSpPr txBox="1"/>
          <p:nvPr/>
        </p:nvSpPr>
        <p:spPr>
          <a:xfrm>
            <a:off x="1133856" y="4846320"/>
            <a:ext cx="2834640" cy="777240"/>
          </a:xfrm>
          <a:prstGeom prst="rect">
            <a:avLst/>
          </a:prstGeom>
          <a:noFill/>
          <a:ln/>
        </p:spPr>
        <p:txBody>
          <a:bodyPr wrap="square" lIns="0" tIns="0" rIns="0" bIns="0" rtlCol="0" anchor="ctr"/>
          <a:lstStyle/>
          <a:p>
            <a:pPr indent="0" marL="0">
              <a:lnSpc>
                <a:spcPct val="110000"/>
              </a:lnSpc>
              <a:buNone/>
            </a:pPr>
            <a:r>
              <a:rPr lang="en-US" sz="1200" dirty="0">
                <a:solidFill>
                  <a:srgbClr val="6B7C8D"/>
                </a:solidFill>
                <a:latin typeface="Calibri" pitchFamily="34" charset="0"/>
                <a:ea typeface="Calibri" pitchFamily="34" charset="-122"/>
                <a:cs typeface="Calibri" pitchFamily="34" charset="-120"/>
              </a:rPr>
              <a:t>Waiting on EGA right now.</a:t>
            </a:r>
            <a:endParaRPr lang="en-US" sz="1200" dirty="0"/>
          </a:p>
        </p:txBody>
      </p:sp>
      <p:sp>
        <p:nvSpPr>
          <p:cNvPr id="10" name="Shape 7"/>
          <p:cNvSpPr/>
          <p:nvPr/>
        </p:nvSpPr>
        <p:spPr>
          <a:xfrm>
            <a:off x="4334256" y="4343400"/>
            <a:ext cx="3529584" cy="1417320"/>
          </a:xfrm>
          <a:prstGeom prst="roundRect">
            <a:avLst>
              <a:gd name="adj" fmla="val 5806"/>
            </a:avLst>
          </a:prstGeom>
          <a:solidFill>
            <a:srgbClr val="FFFFFF"/>
          </a:solidFill>
          <a:ln w="12700">
            <a:solidFill>
              <a:srgbClr val="FFFFFF"/>
            </a:solidFill>
            <a:prstDash val="solid"/>
          </a:ln>
          <a:effectLst>
            <a:outerShdw sx="100000" sy="100000" kx="0" ky="0" algn="bl" rotWithShape="0" blurRad="177800" dist="38100" dir="5400000">
              <a:srgbClr val="0F2A43">
                <a:alpha val="13000"/>
              </a:srgbClr>
            </a:outerShdw>
          </a:effectLst>
        </p:spPr>
      </p:sp>
      <p:sp>
        <p:nvSpPr>
          <p:cNvPr id="11" name="Shape 8"/>
          <p:cNvSpPr/>
          <p:nvPr/>
        </p:nvSpPr>
        <p:spPr>
          <a:xfrm>
            <a:off x="4608576" y="4590288"/>
            <a:ext cx="182880" cy="182880"/>
          </a:xfrm>
          <a:prstGeom prst="ellipse">
            <a:avLst/>
          </a:prstGeom>
          <a:solidFill>
            <a:srgbClr val="1E9E6A"/>
          </a:solidFill>
          <a:ln w="12700">
            <a:solidFill>
              <a:srgbClr val="1E9E6A"/>
            </a:solidFill>
            <a:prstDash val="solid"/>
          </a:ln>
        </p:spPr>
      </p:sp>
      <p:sp>
        <p:nvSpPr>
          <p:cNvPr id="12" name="Text 9"/>
          <p:cNvSpPr txBox="1"/>
          <p:nvPr/>
        </p:nvSpPr>
        <p:spPr>
          <a:xfrm>
            <a:off x="4901184" y="4517136"/>
            <a:ext cx="2834640" cy="292608"/>
          </a:xfrm>
          <a:prstGeom prst="rect">
            <a:avLst/>
          </a:prstGeom>
          <a:noFill/>
          <a:ln/>
        </p:spPr>
        <p:txBody>
          <a:bodyPr wrap="square" lIns="0" tIns="0" rIns="0" bIns="0" rtlCol="0" anchor="ctr"/>
          <a:lstStyle/>
          <a:p>
            <a:pPr indent="0" marL="0">
              <a:buNone/>
            </a:pPr>
            <a:r>
              <a:rPr lang="en-US" sz="1350" b="1" dirty="0">
                <a:solidFill>
                  <a:srgbClr val="0F2A43"/>
                </a:solidFill>
                <a:latin typeface="Calibri" pitchFamily="34" charset="0"/>
                <a:ea typeface="Calibri" pitchFamily="34" charset="-122"/>
                <a:cs typeface="Calibri" pitchFamily="34" charset="-120"/>
              </a:rPr>
              <a:t>Approved Orders</a:t>
            </a:r>
            <a:endParaRPr lang="en-US" sz="1350" dirty="0"/>
          </a:p>
        </p:txBody>
      </p:sp>
      <p:sp>
        <p:nvSpPr>
          <p:cNvPr id="13" name="Text 10"/>
          <p:cNvSpPr txBox="1"/>
          <p:nvPr/>
        </p:nvSpPr>
        <p:spPr>
          <a:xfrm>
            <a:off x="4901184" y="4846320"/>
            <a:ext cx="2834640" cy="777240"/>
          </a:xfrm>
          <a:prstGeom prst="rect">
            <a:avLst/>
          </a:prstGeom>
          <a:noFill/>
          <a:ln/>
        </p:spPr>
        <p:txBody>
          <a:bodyPr wrap="square" lIns="0" tIns="0" rIns="0" bIns="0" rtlCol="0" anchor="ctr"/>
          <a:lstStyle/>
          <a:p>
            <a:pPr indent="0" marL="0">
              <a:lnSpc>
                <a:spcPct val="110000"/>
              </a:lnSpc>
              <a:buNone/>
            </a:pPr>
            <a:r>
              <a:rPr lang="en-US" sz="1200" dirty="0">
                <a:solidFill>
                  <a:srgbClr val="6B7C8D"/>
                </a:solidFill>
                <a:latin typeface="Calibri" pitchFamily="34" charset="0"/>
                <a:ea typeface="Calibri" pitchFamily="34" charset="-122"/>
                <a:cs typeface="Calibri" pitchFamily="34" charset="-120"/>
              </a:rPr>
              <a:t>Everything EGA has released, whatever happened to it afterwards.</a:t>
            </a:r>
            <a:endParaRPr lang="en-US" sz="1200" dirty="0"/>
          </a:p>
        </p:txBody>
      </p:sp>
      <p:sp>
        <p:nvSpPr>
          <p:cNvPr id="14" name="Shape 11"/>
          <p:cNvSpPr/>
          <p:nvPr/>
        </p:nvSpPr>
        <p:spPr>
          <a:xfrm>
            <a:off x="8101584" y="4343400"/>
            <a:ext cx="3529584" cy="1417320"/>
          </a:xfrm>
          <a:prstGeom prst="roundRect">
            <a:avLst>
              <a:gd name="adj" fmla="val 5806"/>
            </a:avLst>
          </a:prstGeom>
          <a:solidFill>
            <a:srgbClr val="FFFFFF"/>
          </a:solidFill>
          <a:ln w="12700">
            <a:solidFill>
              <a:srgbClr val="FFFFFF"/>
            </a:solidFill>
            <a:prstDash val="solid"/>
          </a:ln>
          <a:effectLst>
            <a:outerShdw sx="100000" sy="100000" kx="0" ky="0" algn="bl" rotWithShape="0" blurRad="177800" dist="38100" dir="5400000">
              <a:srgbClr val="0F2A43">
                <a:alpha val="13000"/>
              </a:srgbClr>
            </a:outerShdw>
          </a:effectLst>
        </p:spPr>
      </p:sp>
      <p:sp>
        <p:nvSpPr>
          <p:cNvPr id="15" name="Shape 12"/>
          <p:cNvSpPr/>
          <p:nvPr/>
        </p:nvSpPr>
        <p:spPr>
          <a:xfrm>
            <a:off x="8375904" y="4590288"/>
            <a:ext cx="182880" cy="182880"/>
          </a:xfrm>
          <a:prstGeom prst="ellipse">
            <a:avLst/>
          </a:prstGeom>
          <a:solidFill>
            <a:srgbClr val="D64545"/>
          </a:solidFill>
          <a:ln w="12700">
            <a:solidFill>
              <a:srgbClr val="D64545"/>
            </a:solidFill>
            <a:prstDash val="solid"/>
          </a:ln>
        </p:spPr>
      </p:sp>
      <p:sp>
        <p:nvSpPr>
          <p:cNvPr id="16" name="Text 13"/>
          <p:cNvSpPr txBox="1"/>
          <p:nvPr/>
        </p:nvSpPr>
        <p:spPr>
          <a:xfrm>
            <a:off x="8668512" y="4517136"/>
            <a:ext cx="2834640" cy="292608"/>
          </a:xfrm>
          <a:prstGeom prst="rect">
            <a:avLst/>
          </a:prstGeom>
          <a:noFill/>
          <a:ln/>
        </p:spPr>
        <p:txBody>
          <a:bodyPr wrap="square" lIns="0" tIns="0" rIns="0" bIns="0" rtlCol="0" anchor="ctr"/>
          <a:lstStyle/>
          <a:p>
            <a:pPr indent="0" marL="0">
              <a:buNone/>
            </a:pPr>
            <a:r>
              <a:rPr lang="en-US" sz="1350" b="1" dirty="0">
                <a:solidFill>
                  <a:srgbClr val="0F2A43"/>
                </a:solidFill>
                <a:latin typeface="Calibri" pitchFamily="34" charset="0"/>
                <a:ea typeface="Calibri" pitchFamily="34" charset="-122"/>
                <a:cs typeface="Calibri" pitchFamily="34" charset="-120"/>
              </a:rPr>
              <a:t>Orders Rejected</a:t>
            </a:r>
            <a:endParaRPr lang="en-US" sz="1350" dirty="0"/>
          </a:p>
        </p:txBody>
      </p:sp>
      <p:sp>
        <p:nvSpPr>
          <p:cNvPr id="17" name="Text 14"/>
          <p:cNvSpPr txBox="1"/>
          <p:nvPr/>
        </p:nvSpPr>
        <p:spPr>
          <a:xfrm>
            <a:off x="8668512" y="4846320"/>
            <a:ext cx="2834640" cy="777240"/>
          </a:xfrm>
          <a:prstGeom prst="rect">
            <a:avLst/>
          </a:prstGeom>
          <a:noFill/>
          <a:ln/>
        </p:spPr>
        <p:txBody>
          <a:bodyPr wrap="square" lIns="0" tIns="0" rIns="0" bIns="0" rtlCol="0" anchor="ctr"/>
          <a:lstStyle/>
          <a:p>
            <a:pPr indent="0" marL="0">
              <a:lnSpc>
                <a:spcPct val="110000"/>
              </a:lnSpc>
              <a:buNone/>
            </a:pPr>
            <a:r>
              <a:rPr lang="en-US" sz="1200" dirty="0">
                <a:solidFill>
                  <a:srgbClr val="6B7C8D"/>
                </a:solidFill>
                <a:latin typeface="Calibri" pitchFamily="34" charset="0"/>
                <a:ea typeface="Calibri" pitchFamily="34" charset="-122"/>
                <a:cs typeface="Calibri" pitchFamily="34" charset="-120"/>
              </a:rPr>
              <a:t>Turned down, with the reason recorded.</a:t>
            </a:r>
            <a:endParaRPr lang="en-US" sz="1200" dirty="0"/>
          </a:p>
        </p:txBody>
      </p:sp>
      <p:sp>
        <p:nvSpPr>
          <p:cNvPr id="18" name="Text 15"/>
          <p:cNvSpPr txBox="1"/>
          <p:nvPr/>
        </p:nvSpPr>
        <p:spPr>
          <a:xfrm>
            <a:off x="566928" y="5943600"/>
            <a:ext cx="11064240" cy="365760"/>
          </a:xfrm>
          <a:prstGeom prst="rect">
            <a:avLst/>
          </a:prstGeom>
          <a:noFill/>
          <a:ln/>
        </p:spPr>
        <p:txBody>
          <a:bodyPr wrap="square" lIns="0" tIns="0" rIns="0" bIns="0" rtlCol="0" anchor="ctr"/>
          <a:lstStyle/>
          <a:p>
            <a:pPr indent="0" marL="0">
              <a:buNone/>
            </a:pPr>
            <a:r>
              <a:rPr lang="en-US" sz="1250" i="1" dirty="0">
                <a:solidFill>
                  <a:srgbClr val="6B7C8D"/>
                </a:solidFill>
                <a:latin typeface="Calibri" pitchFamily="34" charset="0"/>
                <a:ea typeface="Calibri" pitchFamily="34" charset="-122"/>
                <a:cs typeface="Calibri" pitchFamily="34" charset="-120"/>
              </a:rPr>
              <a:t>The approver's screen carries only the approval cycle — fulfilment and inventory belong to the Store Module.</a:t>
            </a:r>
            <a:endParaRPr lang="en-US" sz="12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F2A43"/>
        </a:solidFill>
      </p:bgPr>
    </p:bg>
    <p:spTree>
      <p:nvGrpSpPr>
        <p:cNvPr id="1" name=""/>
        <p:cNvGrpSpPr/>
        <p:nvPr/>
      </p:nvGrpSpPr>
      <p:grpSpPr>
        <a:xfrm>
          <a:off x="0" y="0"/>
          <a:ext cx="0" cy="0"/>
          <a:chOff x="0" y="0"/>
          <a:chExt cx="0" cy="0"/>
        </a:xfrm>
      </p:grpSpPr>
      <p:sp>
        <p:nvSpPr>
          <p:cNvPr id="2" name="Shape 0"/>
          <p:cNvSpPr/>
          <p:nvPr/>
        </p:nvSpPr>
        <p:spPr>
          <a:xfrm>
            <a:off x="9418320" y="-1463040"/>
            <a:ext cx="4937760" cy="4937760"/>
          </a:xfrm>
          <a:prstGeom prst="ellipse">
            <a:avLst/>
          </a:prstGeom>
          <a:solidFill>
            <a:srgbClr val="16385A"/>
          </a:solidFill>
          <a:ln w="12700">
            <a:solidFill>
              <a:srgbClr val="16385A"/>
            </a:solidFill>
            <a:prstDash val="solid"/>
          </a:ln>
        </p:spPr>
      </p:sp>
      <p:sp>
        <p:nvSpPr>
          <p:cNvPr id="3" name="Text 1"/>
          <p:cNvSpPr txBox="1"/>
          <p:nvPr/>
        </p:nvSpPr>
        <p:spPr>
          <a:xfrm>
            <a:off x="566928" y="2148840"/>
            <a:ext cx="1828800" cy="1005840"/>
          </a:xfrm>
          <a:prstGeom prst="rect">
            <a:avLst/>
          </a:prstGeom>
          <a:noFill/>
          <a:ln/>
        </p:spPr>
        <p:txBody>
          <a:bodyPr wrap="square" lIns="0" tIns="0" rIns="0" bIns="0" rtlCol="0" anchor="ctr"/>
          <a:lstStyle/>
          <a:p>
            <a:pPr indent="0" marL="0">
              <a:buNone/>
            </a:pPr>
            <a:r>
              <a:rPr lang="en-US" sz="5600" b="1" dirty="0">
                <a:solidFill>
                  <a:srgbClr val="F4791F"/>
                </a:solidFill>
                <a:latin typeface="Cambria" pitchFamily="34" charset="0"/>
                <a:ea typeface="Cambria" pitchFamily="34" charset="-122"/>
                <a:cs typeface="Cambria" pitchFamily="34" charset="-120"/>
              </a:rPr>
              <a:t>05</a:t>
            </a:r>
            <a:endParaRPr lang="en-US" sz="5600" dirty="0"/>
          </a:p>
        </p:txBody>
      </p:sp>
      <p:sp>
        <p:nvSpPr>
          <p:cNvPr id="4" name="Text 2"/>
          <p:cNvSpPr txBox="1"/>
          <p:nvPr/>
        </p:nvSpPr>
        <p:spPr>
          <a:xfrm>
            <a:off x="566928" y="3154680"/>
            <a:ext cx="9144000" cy="73152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Fulfilment</a:t>
            </a:r>
            <a:endParaRPr lang="en-US" sz="3800" dirty="0"/>
          </a:p>
        </p:txBody>
      </p:sp>
      <p:sp>
        <p:nvSpPr>
          <p:cNvPr id="5" name="Text 3"/>
          <p:cNvSpPr txBox="1"/>
          <p:nvPr/>
        </p:nvSpPr>
        <p:spPr>
          <a:xfrm>
            <a:off x="566928" y="3977640"/>
            <a:ext cx="8595360" cy="457200"/>
          </a:xfrm>
          <a:prstGeom prst="rect">
            <a:avLst/>
          </a:prstGeom>
          <a:noFill/>
          <a:ln/>
        </p:spPr>
        <p:txBody>
          <a:bodyPr wrap="square" lIns="0" tIns="0" rIns="0" bIns="0" rtlCol="0" anchor="ctr"/>
          <a:lstStyle/>
          <a:p>
            <a:pPr indent="0" marL="0">
              <a:buNone/>
            </a:pPr>
            <a:r>
              <a:rPr lang="en-US" sz="1500" dirty="0">
                <a:solidFill>
                  <a:srgbClr val="A9C3DA"/>
                </a:solidFill>
                <a:latin typeface="Calibri" pitchFamily="34" charset="0"/>
                <a:ea typeface="Calibri" pitchFamily="34" charset="-122"/>
                <a:cs typeface="Calibri" pitchFamily="34" charset="-120"/>
              </a:rPr>
              <a:t>Delivery, acknowledgement, returns and invoicing</a:t>
            </a:r>
            <a:endParaRPr lang="en-US" sz="15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2F5F9"/>
        </a:solidFill>
      </p:bgPr>
    </p:bg>
    <p:spTree>
      <p:nvGrpSpPr>
        <p:cNvPr id="1" name=""/>
        <p:cNvGrpSpPr/>
        <p:nvPr/>
      </p:nvGrpSpPr>
      <p:grpSpPr>
        <a:xfrm>
          <a:off x="0" y="0"/>
          <a:ext cx="0" cy="0"/>
          <a:chOff x="0" y="0"/>
          <a:chExt cx="0" cy="0"/>
        </a:xfrm>
      </p:grpSpPr>
      <p:sp>
        <p:nvSpPr>
          <p:cNvPr id="2" name="Text 0"/>
          <p:cNvSpPr txBox="1"/>
          <p:nvPr/>
        </p:nvSpPr>
        <p:spPr>
          <a:xfrm>
            <a:off x="566928" y="420624"/>
            <a:ext cx="10058400" cy="237744"/>
          </a:xfrm>
          <a:prstGeom prst="rect">
            <a:avLst/>
          </a:prstGeom>
          <a:noFill/>
          <a:ln/>
        </p:spPr>
        <p:txBody>
          <a:bodyPr wrap="square" lIns="0" tIns="0" rIns="0" bIns="0" rtlCol="0" anchor="ctr"/>
          <a:lstStyle/>
          <a:p>
            <a:pPr indent="0" marL="0">
              <a:buNone/>
            </a:pPr>
            <a:r>
              <a:rPr lang="en-US" sz="1100" b="1" spc="160" kern="0" dirty="0">
                <a:solidFill>
                  <a:srgbClr val="F4791F"/>
                </a:solidFill>
                <a:latin typeface="Calibri" pitchFamily="34" charset="0"/>
                <a:ea typeface="Calibri" pitchFamily="34" charset="-122"/>
                <a:cs typeface="Calibri" pitchFamily="34" charset="-120"/>
              </a:rPr>
              <a:t>STORE MODULE</a:t>
            </a:r>
            <a:endParaRPr lang="en-US" sz="1100" dirty="0"/>
          </a:p>
        </p:txBody>
      </p:sp>
      <p:sp>
        <p:nvSpPr>
          <p:cNvPr id="3" name="Text 1"/>
          <p:cNvSpPr txBox="1"/>
          <p:nvPr/>
        </p:nvSpPr>
        <p:spPr>
          <a:xfrm>
            <a:off x="566928" y="676656"/>
            <a:ext cx="11064240" cy="566928"/>
          </a:xfrm>
          <a:prstGeom prst="rect">
            <a:avLst/>
          </a:prstGeom>
          <a:noFill/>
          <a:ln/>
        </p:spPr>
        <p:txBody>
          <a:bodyPr wrap="square" lIns="0" tIns="0" rIns="0" bIns="0" rtlCol="0" anchor="ctr"/>
          <a:lstStyle/>
          <a:p>
            <a:pPr indent="0" marL="0">
              <a:buNone/>
            </a:pPr>
            <a:r>
              <a:rPr lang="en-US" sz="3200" b="1" dirty="0">
                <a:solidFill>
                  <a:srgbClr val="0F2A43"/>
                </a:solidFill>
                <a:latin typeface="Cambria" pitchFamily="34" charset="0"/>
                <a:ea typeface="Cambria" pitchFamily="34" charset="-122"/>
                <a:cs typeface="Cambria" pitchFamily="34" charset="-120"/>
              </a:rPr>
              <a:t>One screen for the whole store day</a:t>
            </a:r>
            <a:endParaRPr lang="en-US" sz="3200" dirty="0"/>
          </a:p>
        </p:txBody>
      </p:sp>
      <p:sp>
        <p:nvSpPr>
          <p:cNvPr id="4" name="Shape 2"/>
          <p:cNvSpPr/>
          <p:nvPr/>
        </p:nvSpPr>
        <p:spPr>
          <a:xfrm>
            <a:off x="502920" y="1525434"/>
            <a:ext cx="6803136" cy="4447211"/>
          </a:xfrm>
          <a:prstGeom prst="roundRect">
            <a:avLst>
              <a:gd name="adj" fmla="val 1234"/>
            </a:avLst>
          </a:prstGeom>
          <a:solidFill>
            <a:srgbClr val="FFFFFF"/>
          </a:solidFill>
          <a:ln w="12700">
            <a:solidFill>
              <a:srgbClr val="DCE4EC"/>
            </a:solidFill>
            <a:prstDash val="solid"/>
          </a:ln>
          <a:effectLst>
            <a:outerShdw sx="100000" sy="100000" kx="0" ky="0" algn="bl" rotWithShape="0" blurRad="177800" dist="38100" dir="5400000">
              <a:srgbClr val="0F2A43">
                <a:alpha val="13000"/>
              </a:srgbClr>
            </a:outerShdw>
          </a:effectLst>
        </p:spPr>
      </p:sp>
      <p:pic>
        <p:nvPicPr>
          <p:cNvPr id="5" name="Image 0" descr="/tmp/deck/12-fulfilment-crop.png">    </p:cNvPr>
          <p:cNvPicPr>
            <a:picLocks noChangeAspect="1"/>
          </p:cNvPicPr>
          <p:nvPr/>
        </p:nvPicPr>
        <p:blipFill>
          <a:blip r:embed="rId1"/>
          <a:stretch>
            <a:fillRect/>
          </a:stretch>
        </p:blipFill>
        <p:spPr>
          <a:xfrm>
            <a:off x="566928" y="1589442"/>
            <a:ext cx="6675120" cy="4319195"/>
          </a:xfrm>
          <a:prstGeom prst="rect">
            <a:avLst/>
          </a:prstGeom>
        </p:spPr>
      </p:pic>
      <p:sp>
        <p:nvSpPr>
          <p:cNvPr id="6" name="Shape 3"/>
          <p:cNvSpPr/>
          <p:nvPr/>
        </p:nvSpPr>
        <p:spPr>
          <a:xfrm>
            <a:off x="7680960" y="1618488"/>
            <a:ext cx="146304" cy="146304"/>
          </a:xfrm>
          <a:prstGeom prst="ellipse">
            <a:avLst/>
          </a:prstGeom>
          <a:solidFill>
            <a:srgbClr val="F4791F"/>
          </a:solidFill>
          <a:ln w="12700">
            <a:solidFill>
              <a:srgbClr val="F4791F"/>
            </a:solidFill>
            <a:prstDash val="solid"/>
          </a:ln>
        </p:spPr>
      </p:sp>
      <p:sp>
        <p:nvSpPr>
          <p:cNvPr id="7" name="Text 4"/>
          <p:cNvSpPr txBox="1"/>
          <p:nvPr/>
        </p:nvSpPr>
        <p:spPr>
          <a:xfrm>
            <a:off x="7955280" y="1572768"/>
            <a:ext cx="3749040" cy="237744"/>
          </a:xfrm>
          <a:prstGeom prst="rect">
            <a:avLst/>
          </a:prstGeom>
          <a:noFill/>
          <a:ln/>
        </p:spPr>
        <p:txBody>
          <a:bodyPr wrap="square" lIns="0" tIns="0" rIns="0" bIns="0" rtlCol="0" anchor="ctr"/>
          <a:lstStyle/>
          <a:p>
            <a:pPr indent="0" marL="0">
              <a:buNone/>
            </a:pPr>
            <a:r>
              <a:rPr lang="en-US" sz="1250" b="1" dirty="0">
                <a:solidFill>
                  <a:srgbClr val="0F2A43"/>
                </a:solidFill>
                <a:latin typeface="Calibri" pitchFamily="34" charset="0"/>
                <a:ea typeface="Calibri" pitchFamily="34" charset="-122"/>
                <a:cs typeface="Calibri" pitchFamily="34" charset="-120"/>
              </a:rPr>
              <a:t>Ready for delivery note</a:t>
            </a:r>
            <a:endParaRPr lang="en-US" sz="1250" dirty="0"/>
          </a:p>
        </p:txBody>
      </p:sp>
      <p:sp>
        <p:nvSpPr>
          <p:cNvPr id="8" name="Text 5"/>
          <p:cNvSpPr txBox="1"/>
          <p:nvPr/>
        </p:nvSpPr>
        <p:spPr>
          <a:xfrm>
            <a:off x="7955280" y="1828800"/>
            <a:ext cx="3794760" cy="457200"/>
          </a:xfrm>
          <a:prstGeom prst="rect">
            <a:avLst/>
          </a:prstGeom>
          <a:noFill/>
          <a:ln/>
        </p:spPr>
        <p:txBody>
          <a:bodyPr wrap="square" lIns="0" tIns="0" rIns="0" bIns="0" rtlCol="0" anchor="ctr"/>
          <a:lstStyle/>
          <a:p>
            <a:pPr indent="0" marL="0">
              <a:lnSpc>
                <a:spcPct val="110000"/>
              </a:lnSpc>
              <a:buNone/>
            </a:pPr>
            <a:r>
              <a:rPr lang="en-US" sz="1100" dirty="0">
                <a:solidFill>
                  <a:srgbClr val="6B7C8D"/>
                </a:solidFill>
                <a:latin typeface="Calibri" pitchFamily="34" charset="0"/>
                <a:ea typeface="Calibri" pitchFamily="34" charset="-122"/>
                <a:cs typeface="Calibri" pitchFamily="34" charset="-120"/>
              </a:rPr>
              <a:t>Orders with stock reserved and waiting to ship.</a:t>
            </a:r>
            <a:endParaRPr lang="en-US" sz="1100" dirty="0"/>
          </a:p>
        </p:txBody>
      </p:sp>
      <p:sp>
        <p:nvSpPr>
          <p:cNvPr id="9" name="Shape 6"/>
          <p:cNvSpPr/>
          <p:nvPr/>
        </p:nvSpPr>
        <p:spPr>
          <a:xfrm>
            <a:off x="7680960" y="2395728"/>
            <a:ext cx="146304" cy="146304"/>
          </a:xfrm>
          <a:prstGeom prst="ellipse">
            <a:avLst/>
          </a:prstGeom>
          <a:solidFill>
            <a:srgbClr val="F4791F"/>
          </a:solidFill>
          <a:ln w="12700">
            <a:solidFill>
              <a:srgbClr val="F4791F"/>
            </a:solidFill>
            <a:prstDash val="solid"/>
          </a:ln>
        </p:spPr>
      </p:sp>
      <p:sp>
        <p:nvSpPr>
          <p:cNvPr id="10" name="Text 7"/>
          <p:cNvSpPr txBox="1"/>
          <p:nvPr/>
        </p:nvSpPr>
        <p:spPr>
          <a:xfrm>
            <a:off x="7955280" y="2350008"/>
            <a:ext cx="3749040" cy="237744"/>
          </a:xfrm>
          <a:prstGeom prst="rect">
            <a:avLst/>
          </a:prstGeom>
          <a:noFill/>
          <a:ln/>
        </p:spPr>
        <p:txBody>
          <a:bodyPr wrap="square" lIns="0" tIns="0" rIns="0" bIns="0" rtlCol="0" anchor="ctr"/>
          <a:lstStyle/>
          <a:p>
            <a:pPr indent="0" marL="0">
              <a:buNone/>
            </a:pPr>
            <a:r>
              <a:rPr lang="en-US" sz="1250" b="1" dirty="0">
                <a:solidFill>
                  <a:srgbClr val="0F2A43"/>
                </a:solidFill>
                <a:latin typeface="Calibri" pitchFamily="34" charset="0"/>
                <a:ea typeface="Calibri" pitchFamily="34" charset="-122"/>
                <a:cs typeface="Calibri" pitchFamily="34" charset="-120"/>
              </a:rPr>
              <a:t>Re-save</a:t>
            </a:r>
            <a:endParaRPr lang="en-US" sz="1250" dirty="0"/>
          </a:p>
        </p:txBody>
      </p:sp>
      <p:sp>
        <p:nvSpPr>
          <p:cNvPr id="11" name="Text 8"/>
          <p:cNvSpPr txBox="1"/>
          <p:nvPr/>
        </p:nvSpPr>
        <p:spPr>
          <a:xfrm>
            <a:off x="7955280" y="2606040"/>
            <a:ext cx="3794760" cy="457200"/>
          </a:xfrm>
          <a:prstGeom prst="rect">
            <a:avLst/>
          </a:prstGeom>
          <a:noFill/>
          <a:ln/>
        </p:spPr>
        <p:txBody>
          <a:bodyPr wrap="square" lIns="0" tIns="0" rIns="0" bIns="0" rtlCol="0" anchor="ctr"/>
          <a:lstStyle/>
          <a:p>
            <a:pPr indent="0" marL="0">
              <a:lnSpc>
                <a:spcPct val="110000"/>
              </a:lnSpc>
              <a:buNone/>
            </a:pPr>
            <a:r>
              <a:rPr lang="en-US" sz="1100" dirty="0">
                <a:solidFill>
                  <a:srgbClr val="6B7C8D"/>
                </a:solidFill>
                <a:latin typeface="Calibri" pitchFamily="34" charset="0"/>
                <a:ea typeface="Calibri" pitchFamily="34" charset="-122"/>
                <a:cs typeface="Calibri" pitchFamily="34" charset="-120"/>
              </a:rPr>
              <a:t>Fill the DOD lines the moment stock arrives.</a:t>
            </a:r>
            <a:endParaRPr lang="en-US" sz="1100" dirty="0"/>
          </a:p>
        </p:txBody>
      </p:sp>
      <p:sp>
        <p:nvSpPr>
          <p:cNvPr id="12" name="Shape 9"/>
          <p:cNvSpPr/>
          <p:nvPr/>
        </p:nvSpPr>
        <p:spPr>
          <a:xfrm>
            <a:off x="7680960" y="3172968"/>
            <a:ext cx="146304" cy="146304"/>
          </a:xfrm>
          <a:prstGeom prst="ellipse">
            <a:avLst/>
          </a:prstGeom>
          <a:solidFill>
            <a:srgbClr val="F4791F"/>
          </a:solidFill>
          <a:ln w="12700">
            <a:solidFill>
              <a:srgbClr val="F4791F"/>
            </a:solidFill>
            <a:prstDash val="solid"/>
          </a:ln>
        </p:spPr>
      </p:sp>
      <p:sp>
        <p:nvSpPr>
          <p:cNvPr id="13" name="Text 10"/>
          <p:cNvSpPr txBox="1"/>
          <p:nvPr/>
        </p:nvSpPr>
        <p:spPr>
          <a:xfrm>
            <a:off x="7955280" y="3127248"/>
            <a:ext cx="3749040" cy="237744"/>
          </a:xfrm>
          <a:prstGeom prst="rect">
            <a:avLst/>
          </a:prstGeom>
          <a:noFill/>
          <a:ln/>
        </p:spPr>
        <p:txBody>
          <a:bodyPr wrap="square" lIns="0" tIns="0" rIns="0" bIns="0" rtlCol="0" anchor="ctr"/>
          <a:lstStyle/>
          <a:p>
            <a:pPr indent="0" marL="0">
              <a:buNone/>
            </a:pPr>
            <a:r>
              <a:rPr lang="en-US" sz="1250" b="1" dirty="0">
                <a:solidFill>
                  <a:srgbClr val="0F2A43"/>
                </a:solidFill>
                <a:latin typeface="Calibri" pitchFamily="34" charset="0"/>
                <a:ea typeface="Calibri" pitchFamily="34" charset="-122"/>
                <a:cs typeface="Calibri" pitchFamily="34" charset="-120"/>
              </a:rPr>
              <a:t>Returns to confirm</a:t>
            </a:r>
            <a:endParaRPr lang="en-US" sz="1250" dirty="0"/>
          </a:p>
        </p:txBody>
      </p:sp>
      <p:sp>
        <p:nvSpPr>
          <p:cNvPr id="14" name="Text 11"/>
          <p:cNvSpPr txBox="1"/>
          <p:nvPr/>
        </p:nvSpPr>
        <p:spPr>
          <a:xfrm>
            <a:off x="7955280" y="3383280"/>
            <a:ext cx="3794760" cy="457200"/>
          </a:xfrm>
          <a:prstGeom prst="rect">
            <a:avLst/>
          </a:prstGeom>
          <a:noFill/>
          <a:ln/>
        </p:spPr>
        <p:txBody>
          <a:bodyPr wrap="square" lIns="0" tIns="0" rIns="0" bIns="0" rtlCol="0" anchor="ctr"/>
          <a:lstStyle/>
          <a:p>
            <a:pPr indent="0" marL="0">
              <a:lnSpc>
                <a:spcPct val="110000"/>
              </a:lnSpc>
              <a:buNone/>
            </a:pPr>
            <a:r>
              <a:rPr lang="en-US" sz="1100" dirty="0">
                <a:solidFill>
                  <a:srgbClr val="6B7C8D"/>
                </a:solidFill>
                <a:latin typeface="Calibri" pitchFamily="34" charset="0"/>
                <a:ea typeface="Calibri" pitchFamily="34" charset="-122"/>
                <a:cs typeface="Calibri" pitchFamily="34" charset="-120"/>
              </a:rPr>
              <a:t>Employee returns awaiting the store's check.</a:t>
            </a:r>
            <a:endParaRPr lang="en-US" sz="1100" dirty="0"/>
          </a:p>
        </p:txBody>
      </p:sp>
      <p:sp>
        <p:nvSpPr>
          <p:cNvPr id="15" name="Shape 12"/>
          <p:cNvSpPr/>
          <p:nvPr/>
        </p:nvSpPr>
        <p:spPr>
          <a:xfrm>
            <a:off x="7680960" y="3950208"/>
            <a:ext cx="146304" cy="146304"/>
          </a:xfrm>
          <a:prstGeom prst="ellipse">
            <a:avLst/>
          </a:prstGeom>
          <a:solidFill>
            <a:srgbClr val="F4791F"/>
          </a:solidFill>
          <a:ln w="12700">
            <a:solidFill>
              <a:srgbClr val="F4791F"/>
            </a:solidFill>
            <a:prstDash val="solid"/>
          </a:ln>
        </p:spPr>
      </p:sp>
      <p:sp>
        <p:nvSpPr>
          <p:cNvPr id="16" name="Text 13"/>
          <p:cNvSpPr txBox="1"/>
          <p:nvPr/>
        </p:nvSpPr>
        <p:spPr>
          <a:xfrm>
            <a:off x="7955280" y="3904488"/>
            <a:ext cx="3749040" cy="237744"/>
          </a:xfrm>
          <a:prstGeom prst="rect">
            <a:avLst/>
          </a:prstGeom>
          <a:noFill/>
          <a:ln/>
        </p:spPr>
        <p:txBody>
          <a:bodyPr wrap="square" lIns="0" tIns="0" rIns="0" bIns="0" rtlCol="0" anchor="ctr"/>
          <a:lstStyle/>
          <a:p>
            <a:pPr indent="0" marL="0">
              <a:buNone/>
            </a:pPr>
            <a:r>
              <a:rPr lang="en-US" sz="1250" b="1" dirty="0">
                <a:solidFill>
                  <a:srgbClr val="0F2A43"/>
                </a:solidFill>
                <a:latin typeface="Calibri" pitchFamily="34" charset="0"/>
                <a:ea typeface="Calibri" pitchFamily="34" charset="-122"/>
                <a:cs typeface="Calibri" pitchFamily="34" charset="-120"/>
              </a:rPr>
              <a:t>Awaiting acknowledgement</a:t>
            </a:r>
            <a:endParaRPr lang="en-US" sz="1250" dirty="0"/>
          </a:p>
        </p:txBody>
      </p:sp>
      <p:sp>
        <p:nvSpPr>
          <p:cNvPr id="17" name="Text 14"/>
          <p:cNvSpPr txBox="1"/>
          <p:nvPr/>
        </p:nvSpPr>
        <p:spPr>
          <a:xfrm>
            <a:off x="7955280" y="4160520"/>
            <a:ext cx="3794760" cy="457200"/>
          </a:xfrm>
          <a:prstGeom prst="rect">
            <a:avLst/>
          </a:prstGeom>
          <a:noFill/>
          <a:ln/>
        </p:spPr>
        <p:txBody>
          <a:bodyPr wrap="square" lIns="0" tIns="0" rIns="0" bIns="0" rtlCol="0" anchor="ctr"/>
          <a:lstStyle/>
          <a:p>
            <a:pPr indent="0" marL="0">
              <a:lnSpc>
                <a:spcPct val="110000"/>
              </a:lnSpc>
              <a:buNone/>
            </a:pPr>
            <a:r>
              <a:rPr lang="en-US" sz="1100" dirty="0">
                <a:solidFill>
                  <a:srgbClr val="6B7C8D"/>
                </a:solidFill>
                <a:latin typeface="Calibri" pitchFamily="34" charset="0"/>
                <a:ea typeface="Calibri" pitchFamily="34" charset="-122"/>
                <a:cs typeface="Calibri" pitchFamily="34" charset="-120"/>
              </a:rPr>
              <a:t>Delivered, not yet confirmed received.</a:t>
            </a:r>
            <a:endParaRPr lang="en-US" sz="1100" dirty="0"/>
          </a:p>
        </p:txBody>
      </p:sp>
      <p:sp>
        <p:nvSpPr>
          <p:cNvPr id="18" name="Shape 15"/>
          <p:cNvSpPr/>
          <p:nvPr/>
        </p:nvSpPr>
        <p:spPr>
          <a:xfrm>
            <a:off x="7680960" y="4727448"/>
            <a:ext cx="146304" cy="146304"/>
          </a:xfrm>
          <a:prstGeom prst="ellipse">
            <a:avLst/>
          </a:prstGeom>
          <a:solidFill>
            <a:srgbClr val="F4791F"/>
          </a:solidFill>
          <a:ln w="12700">
            <a:solidFill>
              <a:srgbClr val="F4791F"/>
            </a:solidFill>
            <a:prstDash val="solid"/>
          </a:ln>
        </p:spPr>
      </p:sp>
      <p:sp>
        <p:nvSpPr>
          <p:cNvPr id="19" name="Text 16"/>
          <p:cNvSpPr txBox="1"/>
          <p:nvPr/>
        </p:nvSpPr>
        <p:spPr>
          <a:xfrm>
            <a:off x="7955280" y="4681728"/>
            <a:ext cx="3749040" cy="237744"/>
          </a:xfrm>
          <a:prstGeom prst="rect">
            <a:avLst/>
          </a:prstGeom>
          <a:noFill/>
          <a:ln/>
        </p:spPr>
        <p:txBody>
          <a:bodyPr wrap="square" lIns="0" tIns="0" rIns="0" bIns="0" rtlCol="0" anchor="ctr"/>
          <a:lstStyle/>
          <a:p>
            <a:pPr indent="0" marL="0">
              <a:buNone/>
            </a:pPr>
            <a:r>
              <a:rPr lang="en-US" sz="1250" b="1" dirty="0">
                <a:solidFill>
                  <a:srgbClr val="0F2A43"/>
                </a:solidFill>
                <a:latin typeface="Calibri" pitchFamily="34" charset="0"/>
                <a:ea typeface="Calibri" pitchFamily="34" charset="-122"/>
                <a:cs typeface="Calibri" pitchFamily="34" charset="-120"/>
              </a:rPr>
              <a:t>Consolidate and invoice</a:t>
            </a:r>
            <a:endParaRPr lang="en-US" sz="1250" dirty="0"/>
          </a:p>
        </p:txBody>
      </p:sp>
      <p:sp>
        <p:nvSpPr>
          <p:cNvPr id="20" name="Text 17"/>
          <p:cNvSpPr txBox="1"/>
          <p:nvPr/>
        </p:nvSpPr>
        <p:spPr>
          <a:xfrm>
            <a:off x="7955280" y="4937760"/>
            <a:ext cx="3794760" cy="457200"/>
          </a:xfrm>
          <a:prstGeom prst="rect">
            <a:avLst/>
          </a:prstGeom>
          <a:noFill/>
          <a:ln/>
        </p:spPr>
        <p:txBody>
          <a:bodyPr wrap="square" lIns="0" tIns="0" rIns="0" bIns="0" rtlCol="0" anchor="ctr"/>
          <a:lstStyle/>
          <a:p>
            <a:pPr indent="0" marL="0">
              <a:lnSpc>
                <a:spcPct val="110000"/>
              </a:lnSpc>
              <a:buNone/>
            </a:pPr>
            <a:r>
              <a:rPr lang="en-US" sz="1100" dirty="0">
                <a:solidFill>
                  <a:srgbClr val="6B7C8D"/>
                </a:solidFill>
                <a:latin typeface="Calibri" pitchFamily="34" charset="0"/>
                <a:ea typeface="Calibri" pitchFamily="34" charset="-122"/>
                <a:cs typeface="Calibri" pitchFamily="34" charset="-120"/>
              </a:rPr>
              <a:t>Turn delivery notes into an invoice to EGA.</a:t>
            </a:r>
            <a:endParaRPr lang="en-US" sz="1100" dirty="0"/>
          </a:p>
        </p:txBody>
      </p:sp>
      <p:sp>
        <p:nvSpPr>
          <p:cNvPr id="21" name="Shape 18"/>
          <p:cNvSpPr/>
          <p:nvPr/>
        </p:nvSpPr>
        <p:spPr>
          <a:xfrm>
            <a:off x="7680960" y="5504688"/>
            <a:ext cx="146304" cy="146304"/>
          </a:xfrm>
          <a:prstGeom prst="ellipse">
            <a:avLst/>
          </a:prstGeom>
          <a:solidFill>
            <a:srgbClr val="F4791F"/>
          </a:solidFill>
          <a:ln w="12700">
            <a:solidFill>
              <a:srgbClr val="F4791F"/>
            </a:solidFill>
            <a:prstDash val="solid"/>
          </a:ln>
        </p:spPr>
      </p:sp>
      <p:sp>
        <p:nvSpPr>
          <p:cNvPr id="22" name="Text 19"/>
          <p:cNvSpPr txBox="1"/>
          <p:nvPr/>
        </p:nvSpPr>
        <p:spPr>
          <a:xfrm>
            <a:off x="7955280" y="5458968"/>
            <a:ext cx="3749040" cy="237744"/>
          </a:xfrm>
          <a:prstGeom prst="rect">
            <a:avLst/>
          </a:prstGeom>
          <a:noFill/>
          <a:ln/>
        </p:spPr>
        <p:txBody>
          <a:bodyPr wrap="square" lIns="0" tIns="0" rIns="0" bIns="0" rtlCol="0" anchor="ctr"/>
          <a:lstStyle/>
          <a:p>
            <a:pPr indent="0" marL="0">
              <a:buNone/>
            </a:pPr>
            <a:r>
              <a:rPr lang="en-US" sz="1250" b="1" dirty="0">
                <a:solidFill>
                  <a:srgbClr val="0F2A43"/>
                </a:solidFill>
                <a:latin typeface="Calibri" pitchFamily="34" charset="0"/>
                <a:ea typeface="Calibri" pitchFamily="34" charset="-122"/>
                <a:cs typeface="Calibri" pitchFamily="34" charset="-120"/>
              </a:rPr>
              <a:t>ERP documents</a:t>
            </a:r>
            <a:endParaRPr lang="en-US" sz="1250" dirty="0"/>
          </a:p>
        </p:txBody>
      </p:sp>
      <p:sp>
        <p:nvSpPr>
          <p:cNvPr id="23" name="Text 20"/>
          <p:cNvSpPr txBox="1"/>
          <p:nvPr/>
        </p:nvSpPr>
        <p:spPr>
          <a:xfrm>
            <a:off x="7955280" y="5715000"/>
            <a:ext cx="3794760" cy="457200"/>
          </a:xfrm>
          <a:prstGeom prst="rect">
            <a:avLst/>
          </a:prstGeom>
          <a:noFill/>
          <a:ln/>
        </p:spPr>
        <p:txBody>
          <a:bodyPr wrap="square" lIns="0" tIns="0" rIns="0" bIns="0" rtlCol="0" anchor="ctr"/>
          <a:lstStyle/>
          <a:p>
            <a:pPr indent="0" marL="0">
              <a:lnSpc>
                <a:spcPct val="110000"/>
              </a:lnSpc>
              <a:buNone/>
            </a:pPr>
            <a:r>
              <a:rPr lang="en-US" sz="1100" dirty="0">
                <a:solidFill>
                  <a:srgbClr val="6B7C8D"/>
                </a:solidFill>
                <a:latin typeface="Calibri" pitchFamily="34" charset="0"/>
                <a:ea typeface="Calibri" pitchFamily="34" charset="-122"/>
                <a:cs typeface="Calibri" pitchFamily="34" charset="-120"/>
              </a:rPr>
              <a:t>Every sales order, delivery note and voucher raised.</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2F5F9"/>
        </a:solidFill>
      </p:bgPr>
    </p:bg>
    <p:spTree>
      <p:nvGrpSpPr>
        <p:cNvPr id="1" name=""/>
        <p:cNvGrpSpPr/>
        <p:nvPr/>
      </p:nvGrpSpPr>
      <p:grpSpPr>
        <a:xfrm>
          <a:off x="0" y="0"/>
          <a:ext cx="0" cy="0"/>
          <a:chOff x="0" y="0"/>
          <a:chExt cx="0" cy="0"/>
        </a:xfrm>
      </p:grpSpPr>
      <p:sp>
        <p:nvSpPr>
          <p:cNvPr id="2" name="Text 0"/>
          <p:cNvSpPr txBox="1"/>
          <p:nvPr/>
        </p:nvSpPr>
        <p:spPr>
          <a:xfrm>
            <a:off x="566928" y="420624"/>
            <a:ext cx="10058400" cy="237744"/>
          </a:xfrm>
          <a:prstGeom prst="rect">
            <a:avLst/>
          </a:prstGeom>
          <a:noFill/>
          <a:ln/>
        </p:spPr>
        <p:txBody>
          <a:bodyPr wrap="square" lIns="0" tIns="0" rIns="0" bIns="0" rtlCol="0" anchor="ctr"/>
          <a:lstStyle/>
          <a:p>
            <a:pPr indent="0" marL="0">
              <a:buNone/>
            </a:pPr>
            <a:r>
              <a:rPr lang="en-US" sz="1100" b="1" spc="160" kern="0" dirty="0">
                <a:solidFill>
                  <a:srgbClr val="F4791F"/>
                </a:solidFill>
                <a:latin typeface="Calibri" pitchFamily="34" charset="0"/>
                <a:ea typeface="Calibri" pitchFamily="34" charset="-122"/>
                <a:cs typeface="Calibri" pitchFamily="34" charset="-120"/>
              </a:rPr>
              <a:t>RE-SAVE</a:t>
            </a:r>
            <a:endParaRPr lang="en-US" sz="1100" dirty="0"/>
          </a:p>
        </p:txBody>
      </p:sp>
      <p:sp>
        <p:nvSpPr>
          <p:cNvPr id="3" name="Text 1"/>
          <p:cNvSpPr txBox="1"/>
          <p:nvPr/>
        </p:nvSpPr>
        <p:spPr>
          <a:xfrm>
            <a:off x="566928" y="676656"/>
            <a:ext cx="11064240" cy="566928"/>
          </a:xfrm>
          <a:prstGeom prst="rect">
            <a:avLst/>
          </a:prstGeom>
          <a:noFill/>
          <a:ln/>
        </p:spPr>
        <p:txBody>
          <a:bodyPr wrap="square" lIns="0" tIns="0" rIns="0" bIns="0" rtlCol="0" anchor="ctr"/>
          <a:lstStyle/>
          <a:p>
            <a:pPr indent="0" marL="0">
              <a:buNone/>
            </a:pPr>
            <a:r>
              <a:rPr lang="en-US" sz="3200" b="1" dirty="0">
                <a:solidFill>
                  <a:srgbClr val="0F2A43"/>
                </a:solidFill>
                <a:latin typeface="Cambria" pitchFamily="34" charset="0"/>
                <a:ea typeface="Cambria" pitchFamily="34" charset="-122"/>
                <a:cs typeface="Cambria" pitchFamily="34" charset="-120"/>
              </a:rPr>
              <a:t>Turning “DOD to be advised” into a real date</a:t>
            </a:r>
            <a:endParaRPr lang="en-US" sz="3200" dirty="0"/>
          </a:p>
        </p:txBody>
      </p:sp>
      <p:sp>
        <p:nvSpPr>
          <p:cNvPr id="4" name="Text 2"/>
          <p:cNvSpPr txBox="1"/>
          <p:nvPr/>
        </p:nvSpPr>
        <p:spPr>
          <a:xfrm>
            <a:off x="566928" y="1481328"/>
            <a:ext cx="11064240" cy="457200"/>
          </a:xfrm>
          <a:prstGeom prst="rect">
            <a:avLst/>
          </a:prstGeom>
          <a:noFill/>
          <a:ln/>
        </p:spPr>
        <p:txBody>
          <a:bodyPr wrap="square" lIns="0" tIns="0" rIns="0" bIns="0" rtlCol="0" anchor="ctr"/>
          <a:lstStyle/>
          <a:p>
            <a:pPr indent="0" marL="0">
              <a:buNone/>
            </a:pPr>
            <a:r>
              <a:rPr lang="en-US" sz="1450" dirty="0">
                <a:solidFill>
                  <a:srgbClr val="1C2B3A"/>
                </a:solidFill>
                <a:latin typeface="Calibri" pitchFamily="34" charset="0"/>
                <a:ea typeface="Calibri" pitchFamily="34" charset="-122"/>
                <a:cs typeface="Calibri" pitchFamily="34" charset="-120"/>
              </a:rPr>
              <a:t>When a delivery lands in the main store, the lines that had no date can be filled in — one order at a time, or every waiting order at once.</a:t>
            </a:r>
            <a:endParaRPr lang="en-US" sz="1450" dirty="0"/>
          </a:p>
        </p:txBody>
      </p:sp>
      <p:sp>
        <p:nvSpPr>
          <p:cNvPr id="5" name="Shape 3"/>
          <p:cNvSpPr/>
          <p:nvPr/>
        </p:nvSpPr>
        <p:spPr>
          <a:xfrm>
            <a:off x="566928" y="2194560"/>
            <a:ext cx="2578608" cy="2331720"/>
          </a:xfrm>
          <a:prstGeom prst="roundRect">
            <a:avLst>
              <a:gd name="adj" fmla="val 3529"/>
            </a:avLst>
          </a:prstGeom>
          <a:solidFill>
            <a:srgbClr val="FFFFFF"/>
          </a:solidFill>
          <a:ln w="12700">
            <a:solidFill>
              <a:srgbClr val="FFFFFF"/>
            </a:solidFill>
            <a:prstDash val="solid"/>
          </a:ln>
          <a:effectLst>
            <a:outerShdw sx="100000" sy="100000" kx="0" ky="0" algn="bl" rotWithShape="0" blurRad="177800" dist="38100" dir="5400000">
              <a:srgbClr val="0F2A43">
                <a:alpha val="13000"/>
              </a:srgbClr>
            </a:outerShdw>
          </a:effectLst>
        </p:spPr>
      </p:sp>
      <p:sp>
        <p:nvSpPr>
          <p:cNvPr id="6" name="Shape 4"/>
          <p:cNvSpPr/>
          <p:nvPr/>
        </p:nvSpPr>
        <p:spPr>
          <a:xfrm>
            <a:off x="786384" y="2432304"/>
            <a:ext cx="384048" cy="384048"/>
          </a:xfrm>
          <a:prstGeom prst="ellipse">
            <a:avLst/>
          </a:prstGeom>
          <a:solidFill>
            <a:srgbClr val="F4791F"/>
          </a:solidFill>
          <a:ln w="12700">
            <a:solidFill>
              <a:srgbClr val="F4791F"/>
            </a:solidFill>
            <a:prstDash val="solid"/>
          </a:ln>
        </p:spPr>
      </p:sp>
      <p:sp>
        <p:nvSpPr>
          <p:cNvPr id="7" name="Text 5"/>
          <p:cNvSpPr txBox="1"/>
          <p:nvPr/>
        </p:nvSpPr>
        <p:spPr>
          <a:xfrm>
            <a:off x="786384" y="243230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txBox="1"/>
          <p:nvPr/>
        </p:nvSpPr>
        <p:spPr>
          <a:xfrm>
            <a:off x="786384" y="2926080"/>
            <a:ext cx="2194560" cy="310896"/>
          </a:xfrm>
          <a:prstGeom prst="rect">
            <a:avLst/>
          </a:prstGeom>
          <a:noFill/>
          <a:ln/>
        </p:spPr>
        <p:txBody>
          <a:bodyPr wrap="square" lIns="0" tIns="0" rIns="0" bIns="0" rtlCol="0" anchor="ctr"/>
          <a:lstStyle/>
          <a:p>
            <a:pPr indent="0" marL="0">
              <a:buNone/>
            </a:pPr>
            <a:r>
              <a:rPr lang="en-US" sz="1550" b="1" dirty="0">
                <a:solidFill>
                  <a:srgbClr val="0F2A43"/>
                </a:solidFill>
                <a:latin typeface="Cambria" pitchFamily="34" charset="0"/>
                <a:ea typeface="Cambria" pitchFamily="34" charset="-122"/>
                <a:cs typeface="Cambria" pitchFamily="34" charset="-120"/>
              </a:rPr>
              <a:t>Stock arrives</a:t>
            </a:r>
            <a:endParaRPr lang="en-US" sz="1550" dirty="0"/>
          </a:p>
        </p:txBody>
      </p:sp>
      <p:sp>
        <p:nvSpPr>
          <p:cNvPr id="9" name="Text 7"/>
          <p:cNvSpPr txBox="1"/>
          <p:nvPr/>
        </p:nvSpPr>
        <p:spPr>
          <a:xfrm>
            <a:off x="786384" y="3273552"/>
            <a:ext cx="2240280" cy="1097280"/>
          </a:xfrm>
          <a:prstGeom prst="rect">
            <a:avLst/>
          </a:prstGeom>
          <a:noFill/>
          <a:ln/>
        </p:spPr>
        <p:txBody>
          <a:bodyPr wrap="square" lIns="0" tIns="0" rIns="0" bIns="0" rtlCol="0" anchor="t"/>
          <a:lstStyle/>
          <a:p>
            <a:pPr indent="0" marL="0">
              <a:lnSpc>
                <a:spcPct val="115000"/>
              </a:lnSpc>
              <a:buNone/>
            </a:pPr>
            <a:r>
              <a:rPr lang="en-US" sz="1200" dirty="0">
                <a:solidFill>
                  <a:srgbClr val="6B7C8D"/>
                </a:solidFill>
                <a:latin typeface="Calibri" pitchFamily="34" charset="0"/>
                <a:ea typeface="Calibri" pitchFamily="34" charset="-122"/>
                <a:cs typeface="Calibri" pitchFamily="34" charset="-120"/>
              </a:rPr>
              <a:t>New quantities are received into the main store.</a:t>
            </a:r>
            <a:endParaRPr lang="en-US" sz="1200" dirty="0"/>
          </a:p>
        </p:txBody>
      </p:sp>
      <p:sp>
        <p:nvSpPr>
          <p:cNvPr id="10" name="Text 8"/>
          <p:cNvSpPr txBox="1"/>
          <p:nvPr/>
        </p:nvSpPr>
        <p:spPr>
          <a:xfrm>
            <a:off x="3108960" y="3063240"/>
            <a:ext cx="310896" cy="365760"/>
          </a:xfrm>
          <a:prstGeom prst="rect">
            <a:avLst/>
          </a:prstGeom>
          <a:noFill/>
          <a:ln/>
        </p:spPr>
        <p:txBody>
          <a:bodyPr wrap="square" lIns="0" tIns="0" rIns="0" bIns="0" rtlCol="0" anchor="ctr"/>
          <a:lstStyle/>
          <a:p>
            <a:pPr algn="ctr" indent="0" marL="0">
              <a:buNone/>
            </a:pPr>
            <a:r>
              <a:rPr lang="en-US" sz="2000" dirty="0">
                <a:solidFill>
                  <a:srgbClr val="F4791F"/>
                </a:solidFill>
                <a:latin typeface="Calibri" pitchFamily="34" charset="0"/>
                <a:ea typeface="Calibri" pitchFamily="34" charset="-122"/>
                <a:cs typeface="Calibri" pitchFamily="34" charset="-120"/>
              </a:rPr>
              <a:t>→</a:t>
            </a:r>
            <a:endParaRPr lang="en-US" sz="2000" dirty="0"/>
          </a:p>
        </p:txBody>
      </p:sp>
      <p:sp>
        <p:nvSpPr>
          <p:cNvPr id="11" name="Shape 9"/>
          <p:cNvSpPr/>
          <p:nvPr/>
        </p:nvSpPr>
        <p:spPr>
          <a:xfrm>
            <a:off x="3364992" y="2194560"/>
            <a:ext cx="2578608" cy="2331720"/>
          </a:xfrm>
          <a:prstGeom prst="roundRect">
            <a:avLst>
              <a:gd name="adj" fmla="val 3529"/>
            </a:avLst>
          </a:prstGeom>
          <a:solidFill>
            <a:srgbClr val="FFFFFF"/>
          </a:solidFill>
          <a:ln w="12700">
            <a:solidFill>
              <a:srgbClr val="FFFFFF"/>
            </a:solidFill>
            <a:prstDash val="solid"/>
          </a:ln>
          <a:effectLst>
            <a:outerShdw sx="100000" sy="100000" kx="0" ky="0" algn="bl" rotWithShape="0" blurRad="177800" dist="38100" dir="5400000">
              <a:srgbClr val="0F2A43">
                <a:alpha val="13000"/>
              </a:srgbClr>
            </a:outerShdw>
          </a:effectLst>
        </p:spPr>
      </p:sp>
      <p:sp>
        <p:nvSpPr>
          <p:cNvPr id="12" name="Shape 10"/>
          <p:cNvSpPr/>
          <p:nvPr/>
        </p:nvSpPr>
        <p:spPr>
          <a:xfrm>
            <a:off x="3584448" y="2432304"/>
            <a:ext cx="384048" cy="384048"/>
          </a:xfrm>
          <a:prstGeom prst="ellipse">
            <a:avLst/>
          </a:prstGeom>
          <a:solidFill>
            <a:srgbClr val="F4791F"/>
          </a:solidFill>
          <a:ln w="12700">
            <a:solidFill>
              <a:srgbClr val="F4791F"/>
            </a:solidFill>
            <a:prstDash val="solid"/>
          </a:ln>
        </p:spPr>
      </p:sp>
      <p:sp>
        <p:nvSpPr>
          <p:cNvPr id="13" name="Text 11"/>
          <p:cNvSpPr txBox="1"/>
          <p:nvPr/>
        </p:nvSpPr>
        <p:spPr>
          <a:xfrm>
            <a:off x="3584448" y="243230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4" name="Text 12"/>
          <p:cNvSpPr txBox="1"/>
          <p:nvPr/>
        </p:nvSpPr>
        <p:spPr>
          <a:xfrm>
            <a:off x="3584448" y="2926080"/>
            <a:ext cx="2194560" cy="310896"/>
          </a:xfrm>
          <a:prstGeom prst="rect">
            <a:avLst/>
          </a:prstGeom>
          <a:noFill/>
          <a:ln/>
        </p:spPr>
        <p:txBody>
          <a:bodyPr wrap="square" lIns="0" tIns="0" rIns="0" bIns="0" rtlCol="0" anchor="ctr"/>
          <a:lstStyle/>
          <a:p>
            <a:pPr indent="0" marL="0">
              <a:buNone/>
            </a:pPr>
            <a:r>
              <a:rPr lang="en-US" sz="1550" b="1" dirty="0">
                <a:solidFill>
                  <a:srgbClr val="0F2A43"/>
                </a:solidFill>
                <a:latin typeface="Cambria" pitchFamily="34" charset="0"/>
                <a:ea typeface="Cambria" pitchFamily="34" charset="-122"/>
                <a:cs typeface="Cambria" pitchFamily="34" charset="-120"/>
              </a:rPr>
              <a:t>Store re-saves</a:t>
            </a:r>
            <a:endParaRPr lang="en-US" sz="1550" dirty="0"/>
          </a:p>
        </p:txBody>
      </p:sp>
      <p:sp>
        <p:nvSpPr>
          <p:cNvPr id="15" name="Text 13"/>
          <p:cNvSpPr txBox="1"/>
          <p:nvPr/>
        </p:nvSpPr>
        <p:spPr>
          <a:xfrm>
            <a:off x="3584448" y="3273552"/>
            <a:ext cx="2240280" cy="1097280"/>
          </a:xfrm>
          <a:prstGeom prst="rect">
            <a:avLst/>
          </a:prstGeom>
          <a:noFill/>
          <a:ln/>
        </p:spPr>
        <p:txBody>
          <a:bodyPr wrap="square" lIns="0" tIns="0" rIns="0" bIns="0" rtlCol="0" anchor="t"/>
          <a:lstStyle/>
          <a:p>
            <a:pPr indent="0" marL="0">
              <a:lnSpc>
                <a:spcPct val="115000"/>
              </a:lnSpc>
              <a:buNone/>
            </a:pPr>
            <a:r>
              <a:rPr lang="en-US" sz="1200" dirty="0">
                <a:solidFill>
                  <a:srgbClr val="6B7C8D"/>
                </a:solidFill>
                <a:latin typeface="Calibri" pitchFamily="34" charset="0"/>
                <a:ea typeface="Calibri" pitchFamily="34" charset="-122"/>
                <a:cs typeface="Calibri" pitchFamily="34" charset="-120"/>
              </a:rPr>
              <a:t>One order, or “Re-save all Orders” for every waiting order.</a:t>
            </a:r>
            <a:endParaRPr lang="en-US" sz="1200" dirty="0"/>
          </a:p>
        </p:txBody>
      </p:sp>
      <p:sp>
        <p:nvSpPr>
          <p:cNvPr id="16" name="Text 14"/>
          <p:cNvSpPr txBox="1"/>
          <p:nvPr/>
        </p:nvSpPr>
        <p:spPr>
          <a:xfrm>
            <a:off x="5907024" y="3063240"/>
            <a:ext cx="310896" cy="365760"/>
          </a:xfrm>
          <a:prstGeom prst="rect">
            <a:avLst/>
          </a:prstGeom>
          <a:noFill/>
          <a:ln/>
        </p:spPr>
        <p:txBody>
          <a:bodyPr wrap="square" lIns="0" tIns="0" rIns="0" bIns="0" rtlCol="0" anchor="ctr"/>
          <a:lstStyle/>
          <a:p>
            <a:pPr algn="ctr" indent="0" marL="0">
              <a:buNone/>
            </a:pPr>
            <a:r>
              <a:rPr lang="en-US" sz="2000" dirty="0">
                <a:solidFill>
                  <a:srgbClr val="F4791F"/>
                </a:solidFill>
                <a:latin typeface="Calibri" pitchFamily="34" charset="0"/>
                <a:ea typeface="Calibri" pitchFamily="34" charset="-122"/>
                <a:cs typeface="Calibri" pitchFamily="34" charset="-120"/>
              </a:rPr>
              <a:t>→</a:t>
            </a:r>
            <a:endParaRPr lang="en-US" sz="2000" dirty="0"/>
          </a:p>
        </p:txBody>
      </p:sp>
      <p:sp>
        <p:nvSpPr>
          <p:cNvPr id="17" name="Shape 15"/>
          <p:cNvSpPr/>
          <p:nvPr/>
        </p:nvSpPr>
        <p:spPr>
          <a:xfrm>
            <a:off x="6163056" y="2194560"/>
            <a:ext cx="2578608" cy="2331720"/>
          </a:xfrm>
          <a:prstGeom prst="roundRect">
            <a:avLst>
              <a:gd name="adj" fmla="val 3529"/>
            </a:avLst>
          </a:prstGeom>
          <a:solidFill>
            <a:srgbClr val="FFFFFF"/>
          </a:solidFill>
          <a:ln w="12700">
            <a:solidFill>
              <a:srgbClr val="FFFFFF"/>
            </a:solidFill>
            <a:prstDash val="solid"/>
          </a:ln>
          <a:effectLst>
            <a:outerShdw sx="100000" sy="100000" kx="0" ky="0" algn="bl" rotWithShape="0" blurRad="177800" dist="38100" dir="5400000">
              <a:srgbClr val="0F2A43">
                <a:alpha val="13000"/>
              </a:srgbClr>
            </a:outerShdw>
          </a:effectLst>
        </p:spPr>
      </p:sp>
      <p:sp>
        <p:nvSpPr>
          <p:cNvPr id="18" name="Shape 16"/>
          <p:cNvSpPr/>
          <p:nvPr/>
        </p:nvSpPr>
        <p:spPr>
          <a:xfrm>
            <a:off x="6382512" y="2432304"/>
            <a:ext cx="384048" cy="384048"/>
          </a:xfrm>
          <a:prstGeom prst="ellipse">
            <a:avLst/>
          </a:prstGeom>
          <a:solidFill>
            <a:srgbClr val="F4791F"/>
          </a:solidFill>
          <a:ln w="12700">
            <a:solidFill>
              <a:srgbClr val="F4791F"/>
            </a:solidFill>
            <a:prstDash val="solid"/>
          </a:ln>
        </p:spPr>
      </p:sp>
      <p:sp>
        <p:nvSpPr>
          <p:cNvPr id="19" name="Text 17"/>
          <p:cNvSpPr txBox="1"/>
          <p:nvPr/>
        </p:nvSpPr>
        <p:spPr>
          <a:xfrm>
            <a:off x="6382512" y="243230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0" name="Text 18"/>
          <p:cNvSpPr txBox="1"/>
          <p:nvPr/>
        </p:nvSpPr>
        <p:spPr>
          <a:xfrm>
            <a:off x="6382512" y="2926080"/>
            <a:ext cx="2194560" cy="310896"/>
          </a:xfrm>
          <a:prstGeom prst="rect">
            <a:avLst/>
          </a:prstGeom>
          <a:noFill/>
          <a:ln/>
        </p:spPr>
        <p:txBody>
          <a:bodyPr wrap="square" lIns="0" tIns="0" rIns="0" bIns="0" rtlCol="0" anchor="ctr"/>
          <a:lstStyle/>
          <a:p>
            <a:pPr indent="0" marL="0">
              <a:buNone/>
            </a:pPr>
            <a:r>
              <a:rPr lang="en-US" sz="1550" b="1" dirty="0">
                <a:solidFill>
                  <a:srgbClr val="0F2A43"/>
                </a:solidFill>
                <a:latin typeface="Cambria" pitchFamily="34" charset="0"/>
                <a:ea typeface="Cambria" pitchFamily="34" charset="-122"/>
                <a:cs typeface="Cambria" pitchFamily="34" charset="-120"/>
              </a:rPr>
              <a:t>Stock is secured</a:t>
            </a:r>
            <a:endParaRPr lang="en-US" sz="1550" dirty="0"/>
          </a:p>
        </p:txBody>
      </p:sp>
      <p:sp>
        <p:nvSpPr>
          <p:cNvPr id="21" name="Text 19"/>
          <p:cNvSpPr txBox="1"/>
          <p:nvPr/>
        </p:nvSpPr>
        <p:spPr>
          <a:xfrm>
            <a:off x="6382512" y="3273552"/>
            <a:ext cx="2240280" cy="1097280"/>
          </a:xfrm>
          <a:prstGeom prst="rect">
            <a:avLst/>
          </a:prstGeom>
          <a:noFill/>
          <a:ln/>
        </p:spPr>
        <p:txBody>
          <a:bodyPr wrap="square" lIns="0" tIns="0" rIns="0" bIns="0" rtlCol="0" anchor="t"/>
          <a:lstStyle/>
          <a:p>
            <a:pPr indent="0" marL="0">
              <a:lnSpc>
                <a:spcPct val="115000"/>
              </a:lnSpc>
              <a:buNone/>
            </a:pPr>
            <a:r>
              <a:rPr lang="en-US" sz="1200" dirty="0">
                <a:solidFill>
                  <a:srgbClr val="6B7C8D"/>
                </a:solidFill>
                <a:latin typeface="Calibri" pitchFamily="34" charset="0"/>
                <a:ea typeface="Calibri" pitchFamily="34" charset="-122"/>
                <a:cs typeface="Calibri" pitchFamily="34" charset="-120"/>
              </a:rPr>
              <a:t>The quantity transfers to the reservation store against that order.</a:t>
            </a:r>
            <a:endParaRPr lang="en-US" sz="1200" dirty="0"/>
          </a:p>
        </p:txBody>
      </p:sp>
      <p:sp>
        <p:nvSpPr>
          <p:cNvPr id="22" name="Text 20"/>
          <p:cNvSpPr txBox="1"/>
          <p:nvPr/>
        </p:nvSpPr>
        <p:spPr>
          <a:xfrm>
            <a:off x="8705088" y="3063240"/>
            <a:ext cx="310896" cy="365760"/>
          </a:xfrm>
          <a:prstGeom prst="rect">
            <a:avLst/>
          </a:prstGeom>
          <a:noFill/>
          <a:ln/>
        </p:spPr>
        <p:txBody>
          <a:bodyPr wrap="square" lIns="0" tIns="0" rIns="0" bIns="0" rtlCol="0" anchor="ctr"/>
          <a:lstStyle/>
          <a:p>
            <a:pPr algn="ctr" indent="0" marL="0">
              <a:buNone/>
            </a:pPr>
            <a:r>
              <a:rPr lang="en-US" sz="2000" dirty="0">
                <a:solidFill>
                  <a:srgbClr val="F4791F"/>
                </a:solidFill>
                <a:latin typeface="Calibri" pitchFamily="34" charset="0"/>
                <a:ea typeface="Calibri" pitchFamily="34" charset="-122"/>
                <a:cs typeface="Calibri" pitchFamily="34" charset="-120"/>
              </a:rPr>
              <a:t>→</a:t>
            </a:r>
            <a:endParaRPr lang="en-US" sz="2000" dirty="0"/>
          </a:p>
        </p:txBody>
      </p:sp>
      <p:sp>
        <p:nvSpPr>
          <p:cNvPr id="23" name="Shape 21"/>
          <p:cNvSpPr/>
          <p:nvPr/>
        </p:nvSpPr>
        <p:spPr>
          <a:xfrm>
            <a:off x="8961120" y="2194560"/>
            <a:ext cx="2578608" cy="2331720"/>
          </a:xfrm>
          <a:prstGeom prst="roundRect">
            <a:avLst>
              <a:gd name="adj" fmla="val 3529"/>
            </a:avLst>
          </a:prstGeom>
          <a:solidFill>
            <a:srgbClr val="FFFFFF"/>
          </a:solidFill>
          <a:ln w="12700">
            <a:solidFill>
              <a:srgbClr val="FFFFFF"/>
            </a:solidFill>
            <a:prstDash val="solid"/>
          </a:ln>
          <a:effectLst>
            <a:outerShdw sx="100000" sy="100000" kx="0" ky="0" algn="bl" rotWithShape="0" blurRad="177800" dist="38100" dir="5400000">
              <a:srgbClr val="0F2A43">
                <a:alpha val="13000"/>
              </a:srgbClr>
            </a:outerShdw>
          </a:effectLst>
        </p:spPr>
      </p:sp>
      <p:sp>
        <p:nvSpPr>
          <p:cNvPr id="24" name="Shape 22"/>
          <p:cNvSpPr/>
          <p:nvPr/>
        </p:nvSpPr>
        <p:spPr>
          <a:xfrm>
            <a:off x="9180576" y="2432304"/>
            <a:ext cx="384048" cy="384048"/>
          </a:xfrm>
          <a:prstGeom prst="ellipse">
            <a:avLst/>
          </a:prstGeom>
          <a:solidFill>
            <a:srgbClr val="F4791F"/>
          </a:solidFill>
          <a:ln w="12700">
            <a:solidFill>
              <a:srgbClr val="F4791F"/>
            </a:solidFill>
            <a:prstDash val="solid"/>
          </a:ln>
        </p:spPr>
      </p:sp>
      <p:sp>
        <p:nvSpPr>
          <p:cNvPr id="25" name="Text 23"/>
          <p:cNvSpPr txBox="1"/>
          <p:nvPr/>
        </p:nvSpPr>
        <p:spPr>
          <a:xfrm>
            <a:off x="9180576" y="243230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6" name="Text 24"/>
          <p:cNvSpPr txBox="1"/>
          <p:nvPr/>
        </p:nvSpPr>
        <p:spPr>
          <a:xfrm>
            <a:off x="9180576" y="2926080"/>
            <a:ext cx="2194560" cy="310896"/>
          </a:xfrm>
          <a:prstGeom prst="rect">
            <a:avLst/>
          </a:prstGeom>
          <a:noFill/>
          <a:ln/>
        </p:spPr>
        <p:txBody>
          <a:bodyPr wrap="square" lIns="0" tIns="0" rIns="0" bIns="0" rtlCol="0" anchor="ctr"/>
          <a:lstStyle/>
          <a:p>
            <a:pPr indent="0" marL="0">
              <a:buNone/>
            </a:pPr>
            <a:r>
              <a:rPr lang="en-US" sz="1550" b="1" dirty="0">
                <a:solidFill>
                  <a:srgbClr val="0F2A43"/>
                </a:solidFill>
                <a:latin typeface="Cambria" pitchFamily="34" charset="0"/>
                <a:ea typeface="Cambria" pitchFamily="34" charset="-122"/>
                <a:cs typeface="Cambria" pitchFamily="34" charset="-120"/>
              </a:rPr>
              <a:t>Date is set</a:t>
            </a:r>
            <a:endParaRPr lang="en-US" sz="1550" dirty="0"/>
          </a:p>
        </p:txBody>
      </p:sp>
      <p:sp>
        <p:nvSpPr>
          <p:cNvPr id="27" name="Text 25"/>
          <p:cNvSpPr txBox="1"/>
          <p:nvPr/>
        </p:nvSpPr>
        <p:spPr>
          <a:xfrm>
            <a:off x="9180576" y="3273552"/>
            <a:ext cx="2240280" cy="1097280"/>
          </a:xfrm>
          <a:prstGeom prst="rect">
            <a:avLst/>
          </a:prstGeom>
          <a:noFill/>
          <a:ln/>
        </p:spPr>
        <p:txBody>
          <a:bodyPr wrap="square" lIns="0" tIns="0" rIns="0" bIns="0" rtlCol="0" anchor="t"/>
          <a:lstStyle/>
          <a:p>
            <a:pPr indent="0" marL="0">
              <a:lnSpc>
                <a:spcPct val="115000"/>
              </a:lnSpc>
              <a:buNone/>
            </a:pPr>
            <a:r>
              <a:rPr lang="en-US" sz="1200" dirty="0">
                <a:solidFill>
                  <a:srgbClr val="6B7C8D"/>
                </a:solidFill>
                <a:latin typeface="Calibri" pitchFamily="34" charset="0"/>
                <a:ea typeface="Calibri" pitchFamily="34" charset="-122"/>
                <a:cs typeface="Calibri" pitchFamily="34" charset="-120"/>
              </a:rPr>
              <a:t>The line gets a real delivery date and the employee is notified.</a:t>
            </a:r>
            <a:endParaRPr lang="en-US" sz="1200" dirty="0"/>
          </a:p>
        </p:txBody>
      </p:sp>
      <p:sp>
        <p:nvSpPr>
          <p:cNvPr id="28" name="Shape 26"/>
          <p:cNvSpPr/>
          <p:nvPr/>
        </p:nvSpPr>
        <p:spPr>
          <a:xfrm>
            <a:off x="566928" y="4892040"/>
            <a:ext cx="11064240" cy="1051560"/>
          </a:xfrm>
          <a:prstGeom prst="roundRect">
            <a:avLst>
              <a:gd name="adj" fmla="val 7826"/>
            </a:avLst>
          </a:prstGeom>
          <a:solidFill>
            <a:srgbClr val="0F2A43"/>
          </a:solidFill>
          <a:ln w="12700">
            <a:solidFill>
              <a:srgbClr val="0F2A43"/>
            </a:solidFill>
            <a:prstDash val="solid"/>
          </a:ln>
          <a:effectLst>
            <a:outerShdw sx="100000" sy="100000" kx="0" ky="0" algn="bl" rotWithShape="0" blurRad="177800" dist="38100" dir="5400000">
              <a:srgbClr val="0F2A43">
                <a:alpha val="13000"/>
              </a:srgbClr>
            </a:outerShdw>
          </a:effectLst>
        </p:spPr>
      </p:sp>
      <p:sp>
        <p:nvSpPr>
          <p:cNvPr id="29" name="Text 27"/>
          <p:cNvSpPr txBox="1"/>
          <p:nvPr/>
        </p:nvSpPr>
        <p:spPr>
          <a:xfrm>
            <a:off x="886968" y="5120640"/>
            <a:ext cx="10424160" cy="640080"/>
          </a:xfrm>
          <a:prstGeom prst="rect">
            <a:avLst/>
          </a:prstGeom>
          <a:noFill/>
          <a:ln/>
        </p:spPr>
        <p:txBody>
          <a:bodyPr wrap="square" lIns="0" tIns="0" rIns="0" bIns="0" rtlCol="0" anchor="ctr"/>
          <a:lstStyle/>
          <a:p>
            <a:pPr indent="0" marL="0">
              <a:lnSpc>
                <a:spcPct val="115000"/>
              </a:lnSpc>
              <a:buNone/>
            </a:pPr>
            <a:r>
              <a:rPr lang="en-US" sz="1350" dirty="0">
                <a:solidFill>
                  <a:srgbClr val="CFE0EF"/>
                </a:solidFill>
                <a:latin typeface="Calibri" pitchFamily="34" charset="0"/>
                <a:ea typeface="Calibri" pitchFamily="34" charset="-122"/>
                <a:cs typeface="Calibri" pitchFamily="34" charset="-120"/>
              </a:rPr>
              <a:t>Nobody has to remember which orders were short. The store sees the count of waiting orders and clears them in one action.</a:t>
            </a:r>
            <a:endParaRPr lang="en-US" sz="13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2F5F9"/>
        </a:solidFill>
      </p:bgPr>
    </p:bg>
    <p:spTree>
      <p:nvGrpSpPr>
        <p:cNvPr id="1" name=""/>
        <p:cNvGrpSpPr/>
        <p:nvPr/>
      </p:nvGrpSpPr>
      <p:grpSpPr>
        <a:xfrm>
          <a:off x="0" y="0"/>
          <a:ext cx="0" cy="0"/>
          <a:chOff x="0" y="0"/>
          <a:chExt cx="0" cy="0"/>
        </a:xfrm>
      </p:grpSpPr>
      <p:sp>
        <p:nvSpPr>
          <p:cNvPr id="2" name="Text 0"/>
          <p:cNvSpPr txBox="1"/>
          <p:nvPr/>
        </p:nvSpPr>
        <p:spPr>
          <a:xfrm>
            <a:off x="566928" y="420624"/>
            <a:ext cx="10058400" cy="237744"/>
          </a:xfrm>
          <a:prstGeom prst="rect">
            <a:avLst/>
          </a:prstGeom>
          <a:noFill/>
          <a:ln/>
        </p:spPr>
        <p:txBody>
          <a:bodyPr wrap="square" lIns="0" tIns="0" rIns="0" bIns="0" rtlCol="0" anchor="ctr"/>
          <a:lstStyle/>
          <a:p>
            <a:pPr indent="0" marL="0">
              <a:buNone/>
            </a:pPr>
            <a:r>
              <a:rPr lang="en-US" sz="1100" b="1" spc="160" kern="0" dirty="0">
                <a:solidFill>
                  <a:srgbClr val="F4791F"/>
                </a:solidFill>
                <a:latin typeface="Calibri" pitchFamily="34" charset="0"/>
                <a:ea typeface="Calibri" pitchFamily="34" charset="-122"/>
                <a:cs typeface="Calibri" pitchFamily="34" charset="-120"/>
              </a:rPr>
              <a:t>DELIVERY</a:t>
            </a:r>
            <a:endParaRPr lang="en-US" sz="1100" dirty="0"/>
          </a:p>
        </p:txBody>
      </p:sp>
      <p:sp>
        <p:nvSpPr>
          <p:cNvPr id="3" name="Text 1"/>
          <p:cNvSpPr txBox="1"/>
          <p:nvPr/>
        </p:nvSpPr>
        <p:spPr>
          <a:xfrm>
            <a:off x="566928" y="676656"/>
            <a:ext cx="11064240" cy="566928"/>
          </a:xfrm>
          <a:prstGeom prst="rect">
            <a:avLst/>
          </a:prstGeom>
          <a:noFill/>
          <a:ln/>
        </p:spPr>
        <p:txBody>
          <a:bodyPr wrap="square" lIns="0" tIns="0" rIns="0" bIns="0" rtlCol="0" anchor="ctr"/>
          <a:lstStyle/>
          <a:p>
            <a:pPr indent="0" marL="0">
              <a:buNone/>
            </a:pPr>
            <a:r>
              <a:rPr lang="en-US" sz="3200" b="1" dirty="0">
                <a:solidFill>
                  <a:srgbClr val="0F2A43"/>
                </a:solidFill>
                <a:latin typeface="Cambria" pitchFamily="34" charset="0"/>
                <a:ea typeface="Cambria" pitchFamily="34" charset="-122"/>
                <a:cs typeface="Cambria" pitchFamily="34" charset="-120"/>
              </a:rPr>
              <a:t>Issued from the store, confirmed by the employee</a:t>
            </a:r>
            <a:endParaRPr lang="en-US" sz="3200" dirty="0"/>
          </a:p>
        </p:txBody>
      </p:sp>
      <p:sp>
        <p:nvSpPr>
          <p:cNvPr id="4" name="Shape 2"/>
          <p:cNvSpPr/>
          <p:nvPr/>
        </p:nvSpPr>
        <p:spPr>
          <a:xfrm>
            <a:off x="1207462" y="1444752"/>
            <a:ext cx="9783171" cy="2414016"/>
          </a:xfrm>
          <a:prstGeom prst="roundRect">
            <a:avLst>
              <a:gd name="adj" fmla="val 2273"/>
            </a:avLst>
          </a:prstGeom>
          <a:solidFill>
            <a:srgbClr val="FFFFFF"/>
          </a:solidFill>
          <a:ln w="12700">
            <a:solidFill>
              <a:srgbClr val="DCE4EC"/>
            </a:solidFill>
            <a:prstDash val="solid"/>
          </a:ln>
          <a:effectLst>
            <a:outerShdw sx="100000" sy="100000" kx="0" ky="0" algn="bl" rotWithShape="0" blurRad="177800" dist="38100" dir="5400000">
              <a:srgbClr val="0F2A43">
                <a:alpha val="13000"/>
              </a:srgbClr>
            </a:outerShdw>
          </a:effectLst>
        </p:spPr>
      </p:sp>
      <p:pic>
        <p:nvPicPr>
          <p:cNvPr id="5" name="Image 0" descr="/tmp/deck/07-my-orders-crop.png">    </p:cNvPr>
          <p:cNvPicPr>
            <a:picLocks noChangeAspect="1"/>
          </p:cNvPicPr>
          <p:nvPr/>
        </p:nvPicPr>
        <p:blipFill>
          <a:blip r:embed="rId1"/>
          <a:stretch>
            <a:fillRect/>
          </a:stretch>
        </p:blipFill>
        <p:spPr>
          <a:xfrm>
            <a:off x="1271470" y="1508760"/>
            <a:ext cx="9655155" cy="2286000"/>
          </a:xfrm>
          <a:prstGeom prst="rect">
            <a:avLst/>
          </a:prstGeom>
        </p:spPr>
      </p:pic>
      <p:sp>
        <p:nvSpPr>
          <p:cNvPr id="6" name="Shape 3"/>
          <p:cNvSpPr/>
          <p:nvPr/>
        </p:nvSpPr>
        <p:spPr>
          <a:xfrm>
            <a:off x="566928" y="4160520"/>
            <a:ext cx="3529584" cy="1691640"/>
          </a:xfrm>
          <a:prstGeom prst="roundRect">
            <a:avLst>
              <a:gd name="adj" fmla="val 4865"/>
            </a:avLst>
          </a:prstGeom>
          <a:solidFill>
            <a:srgbClr val="FFFFFF"/>
          </a:solidFill>
          <a:ln w="12700">
            <a:solidFill>
              <a:srgbClr val="FFFFFF"/>
            </a:solidFill>
            <a:prstDash val="solid"/>
          </a:ln>
          <a:effectLst>
            <a:outerShdw sx="100000" sy="100000" kx="0" ky="0" algn="bl" rotWithShape="0" blurRad="177800" dist="38100" dir="5400000">
              <a:srgbClr val="0F2A43">
                <a:alpha val="13000"/>
              </a:srgbClr>
            </a:outerShdw>
          </a:effectLst>
        </p:spPr>
      </p:sp>
      <p:sp>
        <p:nvSpPr>
          <p:cNvPr id="7" name="Shape 4"/>
          <p:cNvSpPr/>
          <p:nvPr/>
        </p:nvSpPr>
        <p:spPr>
          <a:xfrm>
            <a:off x="822960" y="4389120"/>
            <a:ext cx="365760" cy="365760"/>
          </a:xfrm>
          <a:prstGeom prst="ellipse">
            <a:avLst/>
          </a:prstGeom>
          <a:solidFill>
            <a:srgbClr val="F4791F"/>
          </a:solidFill>
          <a:ln w="12700">
            <a:solidFill>
              <a:srgbClr val="F4791F"/>
            </a:solidFill>
            <a:prstDash val="solid"/>
          </a:ln>
        </p:spPr>
      </p:sp>
      <p:sp>
        <p:nvSpPr>
          <p:cNvPr id="8" name="Text 5"/>
          <p:cNvSpPr txBox="1"/>
          <p:nvPr/>
        </p:nvSpPr>
        <p:spPr>
          <a:xfrm>
            <a:off x="822960" y="438912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9" name="Text 6"/>
          <p:cNvSpPr txBox="1"/>
          <p:nvPr/>
        </p:nvSpPr>
        <p:spPr>
          <a:xfrm>
            <a:off x="822960" y="4828032"/>
            <a:ext cx="3017520" cy="274320"/>
          </a:xfrm>
          <a:prstGeom prst="rect">
            <a:avLst/>
          </a:prstGeom>
          <a:noFill/>
          <a:ln/>
        </p:spPr>
        <p:txBody>
          <a:bodyPr wrap="square" lIns="0" tIns="0" rIns="0" bIns="0" rtlCol="0" anchor="ctr"/>
          <a:lstStyle/>
          <a:p>
            <a:pPr indent="0" marL="0">
              <a:buNone/>
            </a:pPr>
            <a:r>
              <a:rPr lang="en-US" sz="1300" b="1" dirty="0">
                <a:solidFill>
                  <a:srgbClr val="0F2A43"/>
                </a:solidFill>
                <a:latin typeface="Calibri" pitchFamily="34" charset="0"/>
                <a:ea typeface="Calibri" pitchFamily="34" charset="-122"/>
                <a:cs typeface="Calibri" pitchFamily="34" charset="-120"/>
              </a:rPr>
              <a:t>Store issues the delivery note</a:t>
            </a:r>
            <a:endParaRPr lang="en-US" sz="1300" dirty="0"/>
          </a:p>
        </p:txBody>
      </p:sp>
      <p:sp>
        <p:nvSpPr>
          <p:cNvPr id="10" name="Text 7"/>
          <p:cNvSpPr txBox="1"/>
          <p:nvPr/>
        </p:nvSpPr>
        <p:spPr>
          <a:xfrm>
            <a:off x="822960" y="5120640"/>
            <a:ext cx="3063240" cy="685800"/>
          </a:xfrm>
          <a:prstGeom prst="rect">
            <a:avLst/>
          </a:prstGeom>
          <a:noFill/>
          <a:ln/>
        </p:spPr>
        <p:txBody>
          <a:bodyPr wrap="square" lIns="0" tIns="0" rIns="0" bIns="0" rtlCol="0" anchor="ctr"/>
          <a:lstStyle/>
          <a:p>
            <a:pPr indent="0" marL="0">
              <a:lnSpc>
                <a:spcPct val="110000"/>
              </a:lnSpc>
              <a:buNone/>
            </a:pPr>
            <a:r>
              <a:rPr lang="en-US" sz="1150" dirty="0">
                <a:solidFill>
                  <a:srgbClr val="6B7C8D"/>
                </a:solidFill>
                <a:latin typeface="Calibri" pitchFamily="34" charset="0"/>
                <a:ea typeface="Calibri" pitchFamily="34" charset="-122"/>
                <a:cs typeface="Calibri" pitchFamily="34" charset="-120"/>
              </a:rPr>
              <a:t>Only quantities actually reserved for that order can be shipped, and it is issued from the reservation store.</a:t>
            </a:r>
            <a:endParaRPr lang="en-US" sz="1150" dirty="0"/>
          </a:p>
        </p:txBody>
      </p:sp>
      <p:sp>
        <p:nvSpPr>
          <p:cNvPr id="11" name="Shape 8"/>
          <p:cNvSpPr/>
          <p:nvPr/>
        </p:nvSpPr>
        <p:spPr>
          <a:xfrm>
            <a:off x="4334256" y="4160520"/>
            <a:ext cx="3529584" cy="1691640"/>
          </a:xfrm>
          <a:prstGeom prst="roundRect">
            <a:avLst>
              <a:gd name="adj" fmla="val 4865"/>
            </a:avLst>
          </a:prstGeom>
          <a:solidFill>
            <a:srgbClr val="FFFFFF"/>
          </a:solidFill>
          <a:ln w="12700">
            <a:solidFill>
              <a:srgbClr val="FFFFFF"/>
            </a:solidFill>
            <a:prstDash val="solid"/>
          </a:ln>
          <a:effectLst>
            <a:outerShdw sx="100000" sy="100000" kx="0" ky="0" algn="bl" rotWithShape="0" blurRad="177800" dist="38100" dir="5400000">
              <a:srgbClr val="0F2A43">
                <a:alpha val="13000"/>
              </a:srgbClr>
            </a:outerShdw>
          </a:effectLst>
        </p:spPr>
      </p:sp>
      <p:sp>
        <p:nvSpPr>
          <p:cNvPr id="12" name="Shape 9"/>
          <p:cNvSpPr/>
          <p:nvPr/>
        </p:nvSpPr>
        <p:spPr>
          <a:xfrm>
            <a:off x="4590288" y="4389120"/>
            <a:ext cx="365760" cy="365760"/>
          </a:xfrm>
          <a:prstGeom prst="ellipse">
            <a:avLst/>
          </a:prstGeom>
          <a:solidFill>
            <a:srgbClr val="F4791F"/>
          </a:solidFill>
          <a:ln w="12700">
            <a:solidFill>
              <a:srgbClr val="F4791F"/>
            </a:solidFill>
            <a:prstDash val="solid"/>
          </a:ln>
        </p:spPr>
      </p:sp>
      <p:sp>
        <p:nvSpPr>
          <p:cNvPr id="13" name="Text 10"/>
          <p:cNvSpPr txBox="1"/>
          <p:nvPr/>
        </p:nvSpPr>
        <p:spPr>
          <a:xfrm>
            <a:off x="4590288" y="438912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4" name="Text 11"/>
          <p:cNvSpPr txBox="1"/>
          <p:nvPr/>
        </p:nvSpPr>
        <p:spPr>
          <a:xfrm>
            <a:off x="4590288" y="4828032"/>
            <a:ext cx="3017520" cy="274320"/>
          </a:xfrm>
          <a:prstGeom prst="rect">
            <a:avLst/>
          </a:prstGeom>
          <a:noFill/>
          <a:ln/>
        </p:spPr>
        <p:txBody>
          <a:bodyPr wrap="square" lIns="0" tIns="0" rIns="0" bIns="0" rtlCol="0" anchor="ctr"/>
          <a:lstStyle/>
          <a:p>
            <a:pPr indent="0" marL="0">
              <a:buNone/>
            </a:pPr>
            <a:r>
              <a:rPr lang="en-US" sz="1300" b="1" dirty="0">
                <a:solidFill>
                  <a:srgbClr val="0F2A43"/>
                </a:solidFill>
                <a:latin typeface="Calibri" pitchFamily="34" charset="0"/>
                <a:ea typeface="Calibri" pitchFamily="34" charset="-122"/>
                <a:cs typeface="Calibri" pitchFamily="34" charset="-120"/>
              </a:rPr>
              <a:t>Employee acknowledges receipt</a:t>
            </a:r>
            <a:endParaRPr lang="en-US" sz="1300" dirty="0"/>
          </a:p>
        </p:txBody>
      </p:sp>
      <p:sp>
        <p:nvSpPr>
          <p:cNvPr id="15" name="Text 12"/>
          <p:cNvSpPr txBox="1"/>
          <p:nvPr/>
        </p:nvSpPr>
        <p:spPr>
          <a:xfrm>
            <a:off x="4590288" y="5120640"/>
            <a:ext cx="3063240" cy="685800"/>
          </a:xfrm>
          <a:prstGeom prst="rect">
            <a:avLst/>
          </a:prstGeom>
          <a:noFill/>
          <a:ln/>
        </p:spPr>
        <p:txBody>
          <a:bodyPr wrap="square" lIns="0" tIns="0" rIns="0" bIns="0" rtlCol="0" anchor="ctr"/>
          <a:lstStyle/>
          <a:p>
            <a:pPr indent="0" marL="0">
              <a:lnSpc>
                <a:spcPct val="110000"/>
              </a:lnSpc>
              <a:buNone/>
            </a:pPr>
            <a:r>
              <a:rPr lang="en-US" sz="1150" dirty="0">
                <a:solidFill>
                  <a:srgbClr val="6B7C8D"/>
                </a:solidFill>
                <a:latin typeface="Calibri" pitchFamily="34" charset="0"/>
                <a:ea typeface="Calibri" pitchFamily="34" charset="-122"/>
                <a:cs typeface="Calibri" pitchFamily="34" charset="-120"/>
              </a:rPr>
              <a:t>They confirm what arrived on their own screen — the old receipt-voucher step is gone.</a:t>
            </a:r>
            <a:endParaRPr lang="en-US" sz="1150" dirty="0"/>
          </a:p>
        </p:txBody>
      </p:sp>
      <p:sp>
        <p:nvSpPr>
          <p:cNvPr id="16" name="Shape 13"/>
          <p:cNvSpPr/>
          <p:nvPr/>
        </p:nvSpPr>
        <p:spPr>
          <a:xfrm>
            <a:off x="8101584" y="4160520"/>
            <a:ext cx="3529584" cy="1691640"/>
          </a:xfrm>
          <a:prstGeom prst="roundRect">
            <a:avLst>
              <a:gd name="adj" fmla="val 4865"/>
            </a:avLst>
          </a:prstGeom>
          <a:solidFill>
            <a:srgbClr val="FFFFFF"/>
          </a:solidFill>
          <a:ln w="12700">
            <a:solidFill>
              <a:srgbClr val="FFFFFF"/>
            </a:solidFill>
            <a:prstDash val="solid"/>
          </a:ln>
          <a:effectLst>
            <a:outerShdw sx="100000" sy="100000" kx="0" ky="0" algn="bl" rotWithShape="0" blurRad="177800" dist="38100" dir="5400000">
              <a:srgbClr val="0F2A43">
                <a:alpha val="13000"/>
              </a:srgbClr>
            </a:outerShdw>
          </a:effectLst>
        </p:spPr>
      </p:sp>
      <p:sp>
        <p:nvSpPr>
          <p:cNvPr id="17" name="Shape 14"/>
          <p:cNvSpPr/>
          <p:nvPr/>
        </p:nvSpPr>
        <p:spPr>
          <a:xfrm>
            <a:off x="8357616" y="4389120"/>
            <a:ext cx="365760" cy="365760"/>
          </a:xfrm>
          <a:prstGeom prst="ellipse">
            <a:avLst/>
          </a:prstGeom>
          <a:solidFill>
            <a:srgbClr val="F4791F"/>
          </a:solidFill>
          <a:ln w="12700">
            <a:solidFill>
              <a:srgbClr val="F4791F"/>
            </a:solidFill>
            <a:prstDash val="solid"/>
          </a:ln>
        </p:spPr>
      </p:sp>
      <p:sp>
        <p:nvSpPr>
          <p:cNvPr id="18" name="Text 15"/>
          <p:cNvSpPr txBox="1"/>
          <p:nvPr/>
        </p:nvSpPr>
        <p:spPr>
          <a:xfrm>
            <a:off x="8357616" y="438912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6"/>
          <p:cNvSpPr txBox="1"/>
          <p:nvPr/>
        </p:nvSpPr>
        <p:spPr>
          <a:xfrm>
            <a:off x="8357616" y="4828032"/>
            <a:ext cx="3017520" cy="274320"/>
          </a:xfrm>
          <a:prstGeom prst="rect">
            <a:avLst/>
          </a:prstGeom>
          <a:noFill/>
          <a:ln/>
        </p:spPr>
        <p:txBody>
          <a:bodyPr wrap="square" lIns="0" tIns="0" rIns="0" bIns="0" rtlCol="0" anchor="ctr"/>
          <a:lstStyle/>
          <a:p>
            <a:pPr indent="0" marL="0">
              <a:buNone/>
            </a:pPr>
            <a:r>
              <a:rPr lang="en-US" sz="1300" b="1" dirty="0">
                <a:solidFill>
                  <a:srgbClr val="0F2A43"/>
                </a:solidFill>
                <a:latin typeface="Calibri" pitchFamily="34" charset="0"/>
                <a:ea typeface="Calibri" pitchFamily="34" charset="-122"/>
                <a:cs typeface="Calibri" pitchFamily="34" charset="-120"/>
              </a:rPr>
              <a:t>The order updates itself</a:t>
            </a:r>
            <a:endParaRPr lang="en-US" sz="1300" dirty="0"/>
          </a:p>
        </p:txBody>
      </p:sp>
      <p:sp>
        <p:nvSpPr>
          <p:cNvPr id="20" name="Text 17"/>
          <p:cNvSpPr txBox="1"/>
          <p:nvPr/>
        </p:nvSpPr>
        <p:spPr>
          <a:xfrm>
            <a:off x="8357616" y="5120640"/>
            <a:ext cx="3063240" cy="685800"/>
          </a:xfrm>
          <a:prstGeom prst="rect">
            <a:avLst/>
          </a:prstGeom>
          <a:noFill/>
          <a:ln/>
        </p:spPr>
        <p:txBody>
          <a:bodyPr wrap="square" lIns="0" tIns="0" rIns="0" bIns="0" rtlCol="0" anchor="ctr"/>
          <a:lstStyle/>
          <a:p>
            <a:pPr indent="0" marL="0">
              <a:lnSpc>
                <a:spcPct val="110000"/>
              </a:lnSpc>
              <a:buNone/>
            </a:pPr>
            <a:r>
              <a:rPr lang="en-US" sz="1150" dirty="0">
                <a:solidFill>
                  <a:srgbClr val="6B7C8D"/>
                </a:solidFill>
                <a:latin typeface="Calibri" pitchFamily="34" charset="0"/>
                <a:ea typeface="Calibri" pitchFamily="34" charset="-122"/>
                <a:cs typeface="Calibri" pitchFamily="34" charset="-120"/>
              </a:rPr>
              <a:t>Partially delivered, partially received or complete, with nothing keyed twice.</a:t>
            </a:r>
            <a:endParaRPr lang="en-US" sz="11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2F5F9"/>
        </a:solidFill>
      </p:bgPr>
    </p:bg>
    <p:spTree>
      <p:nvGrpSpPr>
        <p:cNvPr id="1" name=""/>
        <p:cNvGrpSpPr/>
        <p:nvPr/>
      </p:nvGrpSpPr>
      <p:grpSpPr>
        <a:xfrm>
          <a:off x="0" y="0"/>
          <a:ext cx="0" cy="0"/>
          <a:chOff x="0" y="0"/>
          <a:chExt cx="0" cy="0"/>
        </a:xfrm>
      </p:grpSpPr>
      <p:sp>
        <p:nvSpPr>
          <p:cNvPr id="2" name="Text 0"/>
          <p:cNvSpPr txBox="1"/>
          <p:nvPr/>
        </p:nvSpPr>
        <p:spPr>
          <a:xfrm>
            <a:off x="566928" y="420624"/>
            <a:ext cx="10058400" cy="237744"/>
          </a:xfrm>
          <a:prstGeom prst="rect">
            <a:avLst/>
          </a:prstGeom>
          <a:noFill/>
          <a:ln/>
        </p:spPr>
        <p:txBody>
          <a:bodyPr wrap="square" lIns="0" tIns="0" rIns="0" bIns="0" rtlCol="0" anchor="ctr"/>
          <a:lstStyle/>
          <a:p>
            <a:pPr indent="0" marL="0">
              <a:buNone/>
            </a:pPr>
            <a:r>
              <a:rPr lang="en-US" sz="1100" b="1" spc="160" kern="0" dirty="0">
                <a:solidFill>
                  <a:srgbClr val="F4791F"/>
                </a:solidFill>
                <a:latin typeface="Calibri" pitchFamily="34" charset="0"/>
                <a:ea typeface="Calibri" pitchFamily="34" charset="-122"/>
                <a:cs typeface="Calibri" pitchFamily="34" charset="-120"/>
              </a:rPr>
              <a:t>RETURNS</a:t>
            </a:r>
            <a:endParaRPr lang="en-US" sz="1100" dirty="0"/>
          </a:p>
        </p:txBody>
      </p:sp>
      <p:sp>
        <p:nvSpPr>
          <p:cNvPr id="3" name="Text 1"/>
          <p:cNvSpPr txBox="1"/>
          <p:nvPr/>
        </p:nvSpPr>
        <p:spPr>
          <a:xfrm>
            <a:off x="566928" y="676656"/>
            <a:ext cx="11064240" cy="566928"/>
          </a:xfrm>
          <a:prstGeom prst="rect">
            <a:avLst/>
          </a:prstGeom>
          <a:noFill/>
          <a:ln/>
        </p:spPr>
        <p:txBody>
          <a:bodyPr wrap="square" lIns="0" tIns="0" rIns="0" bIns="0" rtlCol="0" anchor="ctr"/>
          <a:lstStyle/>
          <a:p>
            <a:pPr indent="0" marL="0">
              <a:buNone/>
            </a:pPr>
            <a:r>
              <a:rPr lang="en-US" sz="3200" b="1" dirty="0">
                <a:solidFill>
                  <a:srgbClr val="0F2A43"/>
                </a:solidFill>
                <a:latin typeface="Cambria" pitchFamily="34" charset="0"/>
                <a:ea typeface="Cambria" pitchFamily="34" charset="-122"/>
                <a:cs typeface="Cambria" pitchFamily="34" charset="-120"/>
              </a:rPr>
              <a:t>Three days, and the store has the last word</a:t>
            </a:r>
            <a:endParaRPr lang="en-US" sz="3200" dirty="0"/>
          </a:p>
        </p:txBody>
      </p:sp>
      <p:sp>
        <p:nvSpPr>
          <p:cNvPr id="4" name="Shape 2"/>
          <p:cNvSpPr/>
          <p:nvPr/>
        </p:nvSpPr>
        <p:spPr>
          <a:xfrm>
            <a:off x="566928" y="1645920"/>
            <a:ext cx="11064240" cy="1234440"/>
          </a:xfrm>
          <a:prstGeom prst="roundRect">
            <a:avLst>
              <a:gd name="adj" fmla="val 6667"/>
            </a:avLst>
          </a:prstGeom>
          <a:solidFill>
            <a:srgbClr val="FFFFFF"/>
          </a:solidFill>
          <a:ln w="12700">
            <a:solidFill>
              <a:srgbClr val="FFFFFF"/>
            </a:solidFill>
            <a:prstDash val="solid"/>
          </a:ln>
          <a:effectLst>
            <a:outerShdw sx="100000" sy="100000" kx="0" ky="0" algn="bl" rotWithShape="0" blurRad="177800" dist="38100" dir="5400000">
              <a:srgbClr val="0F2A43">
                <a:alpha val="13000"/>
              </a:srgbClr>
            </a:outerShdw>
          </a:effectLst>
        </p:spPr>
      </p:sp>
      <p:sp>
        <p:nvSpPr>
          <p:cNvPr id="5" name="Shape 3"/>
          <p:cNvSpPr/>
          <p:nvPr/>
        </p:nvSpPr>
        <p:spPr>
          <a:xfrm>
            <a:off x="886968" y="2029968"/>
            <a:ext cx="457200" cy="457200"/>
          </a:xfrm>
          <a:prstGeom prst="ellipse">
            <a:avLst/>
          </a:prstGeom>
          <a:solidFill>
            <a:srgbClr val="2F6FB2"/>
          </a:solidFill>
          <a:ln w="12700">
            <a:solidFill>
              <a:srgbClr val="2F6FB2"/>
            </a:solidFill>
            <a:prstDash val="solid"/>
          </a:ln>
        </p:spPr>
      </p:sp>
      <p:sp>
        <p:nvSpPr>
          <p:cNvPr id="6" name="Text 4"/>
          <p:cNvSpPr txBox="1"/>
          <p:nvPr/>
        </p:nvSpPr>
        <p:spPr>
          <a:xfrm>
            <a:off x="886968" y="202996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1527048" y="1865376"/>
            <a:ext cx="4023360" cy="329184"/>
          </a:xfrm>
          <a:prstGeom prst="rect">
            <a:avLst/>
          </a:prstGeom>
          <a:noFill/>
          <a:ln/>
        </p:spPr>
        <p:txBody>
          <a:bodyPr wrap="square" lIns="0" tIns="0" rIns="0" bIns="0" rtlCol="0" anchor="ctr"/>
          <a:lstStyle/>
          <a:p>
            <a:pPr indent="0" marL="0">
              <a:buNone/>
            </a:pPr>
            <a:r>
              <a:rPr lang="en-US" sz="1800" b="1" dirty="0">
                <a:solidFill>
                  <a:srgbClr val="0F2A43"/>
                </a:solidFill>
                <a:latin typeface="Cambria" pitchFamily="34" charset="0"/>
                <a:ea typeface="Cambria" pitchFamily="34" charset="-122"/>
                <a:cs typeface="Cambria" pitchFamily="34" charset="-120"/>
              </a:rPr>
              <a:t>Employee raises the return</a:t>
            </a:r>
            <a:endParaRPr lang="en-US" sz="1800" dirty="0"/>
          </a:p>
        </p:txBody>
      </p:sp>
      <p:sp>
        <p:nvSpPr>
          <p:cNvPr id="8" name="Text 6"/>
          <p:cNvSpPr txBox="1"/>
          <p:nvPr/>
        </p:nvSpPr>
        <p:spPr>
          <a:xfrm>
            <a:off x="5687568" y="1901952"/>
            <a:ext cx="5669280" cy="777240"/>
          </a:xfrm>
          <a:prstGeom prst="rect">
            <a:avLst/>
          </a:prstGeom>
          <a:noFill/>
          <a:ln/>
        </p:spPr>
        <p:txBody>
          <a:bodyPr wrap="square" lIns="0" tIns="0" rIns="0" bIns="0" rtlCol="0" anchor="ctr"/>
          <a:lstStyle/>
          <a:p>
            <a:pPr indent="0" marL="0">
              <a:lnSpc>
                <a:spcPct val="115000"/>
              </a:lnSpc>
              <a:buNone/>
            </a:pPr>
            <a:r>
              <a:rPr lang="en-US" sz="1300" dirty="0">
                <a:solidFill>
                  <a:srgbClr val="1C2B3A"/>
                </a:solidFill>
                <a:latin typeface="Calibri" pitchFamily="34" charset="0"/>
                <a:ea typeface="Calibri" pitchFamily="34" charset="-122"/>
                <a:cs typeface="Calibri" pitchFamily="34" charset="-120"/>
              </a:rPr>
              <a:t>Within three days of acknowledging receipt, with a quantity and a reason for each line.</a:t>
            </a:r>
            <a:endParaRPr lang="en-US" sz="1300" dirty="0"/>
          </a:p>
        </p:txBody>
      </p:sp>
      <p:sp>
        <p:nvSpPr>
          <p:cNvPr id="9" name="Shape 7"/>
          <p:cNvSpPr/>
          <p:nvPr/>
        </p:nvSpPr>
        <p:spPr>
          <a:xfrm>
            <a:off x="566928" y="3063240"/>
            <a:ext cx="11064240" cy="1234440"/>
          </a:xfrm>
          <a:prstGeom prst="roundRect">
            <a:avLst>
              <a:gd name="adj" fmla="val 6667"/>
            </a:avLst>
          </a:prstGeom>
          <a:solidFill>
            <a:srgbClr val="FFFFFF"/>
          </a:solidFill>
          <a:ln w="12700">
            <a:solidFill>
              <a:srgbClr val="FFFFFF"/>
            </a:solidFill>
            <a:prstDash val="solid"/>
          </a:ln>
          <a:effectLst>
            <a:outerShdw sx="100000" sy="100000" kx="0" ky="0" algn="bl" rotWithShape="0" blurRad="177800" dist="38100" dir="5400000">
              <a:srgbClr val="0F2A43">
                <a:alpha val="13000"/>
              </a:srgbClr>
            </a:outerShdw>
          </a:effectLst>
        </p:spPr>
      </p:sp>
      <p:sp>
        <p:nvSpPr>
          <p:cNvPr id="10" name="Shape 8"/>
          <p:cNvSpPr/>
          <p:nvPr/>
        </p:nvSpPr>
        <p:spPr>
          <a:xfrm>
            <a:off x="886968" y="3447288"/>
            <a:ext cx="457200" cy="457200"/>
          </a:xfrm>
          <a:prstGeom prst="ellipse">
            <a:avLst/>
          </a:prstGeom>
          <a:solidFill>
            <a:srgbClr val="E8A213"/>
          </a:solidFill>
          <a:ln w="12700">
            <a:solidFill>
              <a:srgbClr val="E8A213"/>
            </a:solidFill>
            <a:prstDash val="solid"/>
          </a:ln>
        </p:spPr>
      </p:sp>
      <p:sp>
        <p:nvSpPr>
          <p:cNvPr id="11" name="Text 9"/>
          <p:cNvSpPr txBox="1"/>
          <p:nvPr/>
        </p:nvSpPr>
        <p:spPr>
          <a:xfrm>
            <a:off x="886968" y="344728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txBox="1"/>
          <p:nvPr/>
        </p:nvSpPr>
        <p:spPr>
          <a:xfrm>
            <a:off x="1527048" y="3282696"/>
            <a:ext cx="4023360" cy="329184"/>
          </a:xfrm>
          <a:prstGeom prst="rect">
            <a:avLst/>
          </a:prstGeom>
          <a:noFill/>
          <a:ln/>
        </p:spPr>
        <p:txBody>
          <a:bodyPr wrap="square" lIns="0" tIns="0" rIns="0" bIns="0" rtlCol="0" anchor="ctr"/>
          <a:lstStyle/>
          <a:p>
            <a:pPr indent="0" marL="0">
              <a:buNone/>
            </a:pPr>
            <a:r>
              <a:rPr lang="en-US" sz="1800" b="1" dirty="0">
                <a:solidFill>
                  <a:srgbClr val="0F2A43"/>
                </a:solidFill>
                <a:latin typeface="Cambria" pitchFamily="34" charset="0"/>
                <a:ea typeface="Cambria" pitchFamily="34" charset="-122"/>
                <a:cs typeface="Cambria" pitchFamily="34" charset="-120"/>
              </a:rPr>
              <a:t>Store confirms it</a:t>
            </a:r>
            <a:endParaRPr lang="en-US" sz="1800" dirty="0"/>
          </a:p>
        </p:txBody>
      </p:sp>
      <p:sp>
        <p:nvSpPr>
          <p:cNvPr id="13" name="Text 11"/>
          <p:cNvSpPr txBox="1"/>
          <p:nvPr/>
        </p:nvSpPr>
        <p:spPr>
          <a:xfrm>
            <a:off x="5687568" y="3319272"/>
            <a:ext cx="5669280" cy="777240"/>
          </a:xfrm>
          <a:prstGeom prst="rect">
            <a:avLst/>
          </a:prstGeom>
          <a:noFill/>
          <a:ln/>
        </p:spPr>
        <p:txBody>
          <a:bodyPr wrap="square" lIns="0" tIns="0" rIns="0" bIns="0" rtlCol="0" anchor="ctr"/>
          <a:lstStyle/>
          <a:p>
            <a:pPr indent="0" marL="0">
              <a:lnSpc>
                <a:spcPct val="115000"/>
              </a:lnSpc>
              <a:buNone/>
            </a:pPr>
            <a:r>
              <a:rPr lang="en-US" sz="1300" dirty="0">
                <a:solidFill>
                  <a:srgbClr val="1C2B3A"/>
                </a:solidFill>
                <a:latin typeface="Calibri" pitchFamily="34" charset="0"/>
                <a:ea typeface="Calibri" pitchFamily="34" charset="-122"/>
                <a:cs typeface="Calibri" pitchFamily="34" charset="-120"/>
              </a:rPr>
              <a:t>The returned goods are checked before anything is credited.</a:t>
            </a:r>
            <a:endParaRPr lang="en-US" sz="1300" dirty="0"/>
          </a:p>
        </p:txBody>
      </p:sp>
      <p:sp>
        <p:nvSpPr>
          <p:cNvPr id="14" name="Shape 12"/>
          <p:cNvSpPr/>
          <p:nvPr/>
        </p:nvSpPr>
        <p:spPr>
          <a:xfrm>
            <a:off x="566928" y="4480560"/>
            <a:ext cx="11064240" cy="1234440"/>
          </a:xfrm>
          <a:prstGeom prst="roundRect">
            <a:avLst>
              <a:gd name="adj" fmla="val 6667"/>
            </a:avLst>
          </a:prstGeom>
          <a:solidFill>
            <a:srgbClr val="FFFFFF"/>
          </a:solidFill>
          <a:ln w="12700">
            <a:solidFill>
              <a:srgbClr val="FFFFFF"/>
            </a:solidFill>
            <a:prstDash val="solid"/>
          </a:ln>
          <a:effectLst>
            <a:outerShdw sx="100000" sy="100000" kx="0" ky="0" algn="bl" rotWithShape="0" blurRad="177800" dist="38100" dir="5400000">
              <a:srgbClr val="0F2A43">
                <a:alpha val="13000"/>
              </a:srgbClr>
            </a:outerShdw>
          </a:effectLst>
        </p:spPr>
      </p:sp>
      <p:sp>
        <p:nvSpPr>
          <p:cNvPr id="15" name="Shape 13"/>
          <p:cNvSpPr/>
          <p:nvPr/>
        </p:nvSpPr>
        <p:spPr>
          <a:xfrm>
            <a:off x="886968" y="4864608"/>
            <a:ext cx="457200" cy="457200"/>
          </a:xfrm>
          <a:prstGeom prst="ellipse">
            <a:avLst/>
          </a:prstGeom>
          <a:solidFill>
            <a:srgbClr val="1E9E6A"/>
          </a:solidFill>
          <a:ln w="12700">
            <a:solidFill>
              <a:srgbClr val="1E9E6A"/>
            </a:solidFill>
            <a:prstDash val="solid"/>
          </a:ln>
        </p:spPr>
      </p:sp>
      <p:sp>
        <p:nvSpPr>
          <p:cNvPr id="16" name="Text 14"/>
          <p:cNvSpPr txBox="1"/>
          <p:nvPr/>
        </p:nvSpPr>
        <p:spPr>
          <a:xfrm>
            <a:off x="886968" y="486460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txBox="1"/>
          <p:nvPr/>
        </p:nvSpPr>
        <p:spPr>
          <a:xfrm>
            <a:off x="1527048" y="4700016"/>
            <a:ext cx="4023360" cy="329184"/>
          </a:xfrm>
          <a:prstGeom prst="rect">
            <a:avLst/>
          </a:prstGeom>
          <a:noFill/>
          <a:ln/>
        </p:spPr>
        <p:txBody>
          <a:bodyPr wrap="square" lIns="0" tIns="0" rIns="0" bIns="0" rtlCol="0" anchor="ctr"/>
          <a:lstStyle/>
          <a:p>
            <a:pPr indent="0" marL="0">
              <a:buNone/>
            </a:pPr>
            <a:r>
              <a:rPr lang="en-US" sz="1800" b="1" dirty="0">
                <a:solidFill>
                  <a:srgbClr val="0F2A43"/>
                </a:solidFill>
                <a:latin typeface="Cambria" pitchFamily="34" charset="0"/>
                <a:ea typeface="Cambria" pitchFamily="34" charset="-122"/>
                <a:cs typeface="Cambria" pitchFamily="34" charset="-120"/>
              </a:rPr>
              <a:t>Everything is credited</a:t>
            </a:r>
            <a:endParaRPr lang="en-US" sz="1800" dirty="0"/>
          </a:p>
        </p:txBody>
      </p:sp>
      <p:sp>
        <p:nvSpPr>
          <p:cNvPr id="18" name="Text 16"/>
          <p:cNvSpPr txBox="1"/>
          <p:nvPr/>
        </p:nvSpPr>
        <p:spPr>
          <a:xfrm>
            <a:off x="5687568" y="4736592"/>
            <a:ext cx="5669280" cy="777240"/>
          </a:xfrm>
          <a:prstGeom prst="rect">
            <a:avLst/>
          </a:prstGeom>
          <a:noFill/>
          <a:ln/>
        </p:spPr>
        <p:txBody>
          <a:bodyPr wrap="square" lIns="0" tIns="0" rIns="0" bIns="0" rtlCol="0" anchor="ctr"/>
          <a:lstStyle/>
          <a:p>
            <a:pPr indent="0" marL="0">
              <a:lnSpc>
                <a:spcPct val="115000"/>
              </a:lnSpc>
              <a:buNone/>
            </a:pPr>
            <a:r>
              <a:rPr lang="en-US" sz="1300" dirty="0">
                <a:solidFill>
                  <a:srgbClr val="1C2B3A"/>
                </a:solidFill>
                <a:latin typeface="Calibri" pitchFamily="34" charset="0"/>
                <a:ea typeface="Calibri" pitchFamily="34" charset="-122"/>
                <a:cs typeface="Calibri" pitchFamily="34" charset="-120"/>
              </a:rPr>
              <a:t>The allocation is credited back, the stock goes into the main store, and a credit note is raised.</a:t>
            </a:r>
            <a:endParaRPr lang="en-US" sz="1300" dirty="0"/>
          </a:p>
        </p:txBody>
      </p:sp>
      <p:sp>
        <p:nvSpPr>
          <p:cNvPr id="19" name="Text 17"/>
          <p:cNvSpPr txBox="1"/>
          <p:nvPr/>
        </p:nvSpPr>
        <p:spPr>
          <a:xfrm>
            <a:off x="566928" y="5989320"/>
            <a:ext cx="11064240" cy="365760"/>
          </a:xfrm>
          <a:prstGeom prst="rect">
            <a:avLst/>
          </a:prstGeom>
          <a:noFill/>
          <a:ln/>
        </p:spPr>
        <p:txBody>
          <a:bodyPr wrap="square" lIns="0" tIns="0" rIns="0" bIns="0" rtlCol="0" anchor="ctr"/>
          <a:lstStyle/>
          <a:p>
            <a:pPr indent="0" marL="0">
              <a:buNone/>
            </a:pPr>
            <a:r>
              <a:rPr lang="en-US" sz="1250" i="1" dirty="0">
                <a:solidFill>
                  <a:srgbClr val="6B7C8D"/>
                </a:solidFill>
                <a:latin typeface="Calibri" pitchFamily="34" charset="0"/>
                <a:ea typeface="Calibri" pitchFamily="34" charset="-122"/>
                <a:cs typeface="Calibri" pitchFamily="34" charset="-120"/>
              </a:rPr>
              <a:t>Nothing is credited on the employee's word alone, and the credit note is raised automatically once the store confirms.</a:t>
            </a:r>
            <a:endParaRPr lang="en-US" sz="12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2F5F9"/>
        </a:solidFill>
      </p:bgPr>
    </p:bg>
    <p:spTree>
      <p:nvGrpSpPr>
        <p:cNvPr id="1" name=""/>
        <p:cNvGrpSpPr/>
        <p:nvPr/>
      </p:nvGrpSpPr>
      <p:grpSpPr>
        <a:xfrm>
          <a:off x="0" y="0"/>
          <a:ext cx="0" cy="0"/>
          <a:chOff x="0" y="0"/>
          <a:chExt cx="0" cy="0"/>
        </a:xfrm>
      </p:grpSpPr>
      <p:sp>
        <p:nvSpPr>
          <p:cNvPr id="2" name="Text 0"/>
          <p:cNvSpPr txBox="1"/>
          <p:nvPr/>
        </p:nvSpPr>
        <p:spPr>
          <a:xfrm>
            <a:off x="566928" y="420624"/>
            <a:ext cx="10058400" cy="237744"/>
          </a:xfrm>
          <a:prstGeom prst="rect">
            <a:avLst/>
          </a:prstGeom>
          <a:noFill/>
          <a:ln/>
        </p:spPr>
        <p:txBody>
          <a:bodyPr wrap="square" lIns="0" tIns="0" rIns="0" bIns="0" rtlCol="0" anchor="ctr"/>
          <a:lstStyle/>
          <a:p>
            <a:pPr indent="0" marL="0">
              <a:buNone/>
            </a:pPr>
            <a:r>
              <a:rPr lang="en-US" sz="1100" b="1" spc="160" kern="0" dirty="0">
                <a:solidFill>
                  <a:srgbClr val="F4791F"/>
                </a:solidFill>
                <a:latin typeface="Calibri" pitchFamily="34" charset="0"/>
                <a:ea typeface="Calibri" pitchFamily="34" charset="-122"/>
                <a:cs typeface="Calibri" pitchFamily="34" charset="-120"/>
              </a:rPr>
              <a:t>INVOICING</a:t>
            </a:r>
            <a:endParaRPr lang="en-US" sz="1100" dirty="0"/>
          </a:p>
        </p:txBody>
      </p:sp>
      <p:sp>
        <p:nvSpPr>
          <p:cNvPr id="3" name="Text 1"/>
          <p:cNvSpPr txBox="1"/>
          <p:nvPr/>
        </p:nvSpPr>
        <p:spPr>
          <a:xfrm>
            <a:off x="566928" y="676656"/>
            <a:ext cx="11064240" cy="566928"/>
          </a:xfrm>
          <a:prstGeom prst="rect">
            <a:avLst/>
          </a:prstGeom>
          <a:noFill/>
          <a:ln/>
        </p:spPr>
        <p:txBody>
          <a:bodyPr wrap="square" lIns="0" tIns="0" rIns="0" bIns="0" rtlCol="0" anchor="ctr"/>
          <a:lstStyle/>
          <a:p>
            <a:pPr indent="0" marL="0">
              <a:buNone/>
            </a:pPr>
            <a:r>
              <a:rPr lang="en-US" sz="3200" b="1" dirty="0">
                <a:solidFill>
                  <a:srgbClr val="0F2A43"/>
                </a:solidFill>
                <a:latin typeface="Cambria" pitchFamily="34" charset="0"/>
                <a:ea typeface="Cambria" pitchFamily="34" charset="-122"/>
                <a:cs typeface="Cambria" pitchFamily="34" charset="-120"/>
              </a:rPr>
              <a:t>Delivery notes become one invoice to EGA</a:t>
            </a:r>
            <a:endParaRPr lang="en-US" sz="3200" dirty="0"/>
          </a:p>
        </p:txBody>
      </p:sp>
      <p:sp>
        <p:nvSpPr>
          <p:cNvPr id="4" name="Text 2"/>
          <p:cNvSpPr txBox="1"/>
          <p:nvPr/>
        </p:nvSpPr>
        <p:spPr>
          <a:xfrm>
            <a:off x="566928" y="1600200"/>
            <a:ext cx="5486400" cy="2560320"/>
          </a:xfrm>
          <a:prstGeom prst="rect">
            <a:avLst/>
          </a:prstGeom>
          <a:noFill/>
          <a:ln/>
        </p:spPr>
        <p:txBody>
          <a:bodyPr wrap="square" lIns="0" tIns="0" rIns="0" bIns="0" rtlCol="0" anchor="t"/>
          <a:lstStyle/>
          <a:p>
            <a:pPr marL="342900" indent="-342900">
              <a:lnSpc>
                <a:spcPct val="115000"/>
              </a:lnSpc>
              <a:spcAft>
                <a:spcPts val="700"/>
              </a:spcAft>
              <a:buSzPct val="100000"/>
              <a:buChar char="•"/>
            </a:pPr>
            <a:r>
              <a:rPr lang="en-US" sz="1400" dirty="0">
                <a:solidFill>
                  <a:srgbClr val="1C2B3A"/>
                </a:solidFill>
                <a:latin typeface="Calibri" pitchFamily="34" charset="0"/>
                <a:ea typeface="Calibri" pitchFamily="34" charset="-122"/>
                <a:cs typeface="Calibri" pitchFamily="34" charset="-120"/>
              </a:rPr>
              <a:t>Delivery notes accumulate as orders are shipped.</a:t>
            </a:r>
            <a:endParaRPr lang="en-US" sz="1400" dirty="0"/>
          </a:p>
          <a:p>
            <a:pPr marL="342900" indent="-342900">
              <a:lnSpc>
                <a:spcPct val="115000"/>
              </a:lnSpc>
              <a:spcAft>
                <a:spcPts val="700"/>
              </a:spcAft>
              <a:buSzPct val="100000"/>
              <a:buChar char="•"/>
            </a:pPr>
            <a:r>
              <a:rPr lang="en-US" sz="1400" dirty="0">
                <a:solidFill>
                  <a:srgbClr val="1C2B3A"/>
                </a:solidFill>
                <a:latin typeface="Calibri" pitchFamily="34" charset="0"/>
                <a:ea typeface="Calibri" pitchFamily="34" charset="-122"/>
                <a:cs typeface="Calibri" pitchFamily="34" charset="-120"/>
              </a:rPr>
              <a:t>The store consolidates the outstanding ones into a single invoice to EGA.</a:t>
            </a:r>
            <a:endParaRPr lang="en-US" sz="1400" dirty="0"/>
          </a:p>
          <a:p>
            <a:pPr marL="342900" indent="-342900">
              <a:lnSpc>
                <a:spcPct val="115000"/>
              </a:lnSpc>
              <a:spcAft>
                <a:spcPts val="700"/>
              </a:spcAft>
              <a:buSzPct val="100000"/>
              <a:buChar char="•"/>
            </a:pPr>
            <a:r>
              <a:rPr lang="en-US" sz="1400" dirty="0">
                <a:solidFill>
                  <a:srgbClr val="1C2B3A"/>
                </a:solidFill>
                <a:latin typeface="Calibri" pitchFamily="34" charset="0"/>
                <a:ea typeface="Calibri" pitchFamily="34" charset="-122"/>
                <a:cs typeface="Calibri" pitchFamily="34" charset="-120"/>
              </a:rPr>
              <a:t>The invoice is raised in the ERP and shown in the document list.</a:t>
            </a:r>
            <a:endParaRPr lang="en-US" sz="1400" dirty="0"/>
          </a:p>
          <a:p>
            <a:pPr marL="342900" indent="-342900">
              <a:lnSpc>
                <a:spcPct val="115000"/>
              </a:lnSpc>
              <a:spcAft>
                <a:spcPts val="700"/>
              </a:spcAft>
              <a:buSzPct val="100000"/>
              <a:buChar char="•"/>
            </a:pPr>
            <a:r>
              <a:rPr lang="en-US" sz="1400" dirty="0">
                <a:solidFill>
                  <a:srgbClr val="1C2B3A"/>
                </a:solidFill>
                <a:latin typeface="Calibri" pitchFamily="34" charset="0"/>
                <a:ea typeface="Calibri" pitchFamily="34" charset="-122"/>
                <a:cs typeface="Calibri" pitchFamily="34" charset="-120"/>
              </a:rPr>
              <a:t>Undelivered balances can be cancelled by the store, which credits the employee's allocation back.</a:t>
            </a:r>
            <a:endParaRPr lang="en-US" sz="1400" dirty="0"/>
          </a:p>
        </p:txBody>
      </p:sp>
      <p:sp>
        <p:nvSpPr>
          <p:cNvPr id="5" name="Shape 3"/>
          <p:cNvSpPr/>
          <p:nvPr/>
        </p:nvSpPr>
        <p:spPr>
          <a:xfrm>
            <a:off x="6492240" y="1600200"/>
            <a:ext cx="5166360" cy="731520"/>
          </a:xfrm>
          <a:prstGeom prst="roundRect">
            <a:avLst>
              <a:gd name="adj" fmla="val 8750"/>
            </a:avLst>
          </a:prstGeom>
          <a:solidFill>
            <a:srgbClr val="FFFFFF"/>
          </a:solidFill>
          <a:ln w="12700">
            <a:solidFill>
              <a:srgbClr val="DCE4EC"/>
            </a:solidFill>
            <a:prstDash val="solid"/>
          </a:ln>
        </p:spPr>
      </p:sp>
      <p:sp>
        <p:nvSpPr>
          <p:cNvPr id="6" name="Text 4"/>
          <p:cNvSpPr txBox="1"/>
          <p:nvPr/>
        </p:nvSpPr>
        <p:spPr>
          <a:xfrm>
            <a:off x="6766560" y="1691640"/>
            <a:ext cx="2377440" cy="274320"/>
          </a:xfrm>
          <a:prstGeom prst="rect">
            <a:avLst/>
          </a:prstGeom>
          <a:noFill/>
          <a:ln/>
        </p:spPr>
        <p:txBody>
          <a:bodyPr wrap="square" lIns="0" tIns="0" rIns="0" bIns="0" rtlCol="0" anchor="ctr"/>
          <a:lstStyle/>
          <a:p>
            <a:pPr indent="0" marL="0">
              <a:buNone/>
            </a:pPr>
            <a:r>
              <a:rPr lang="en-US" sz="1350" b="1" dirty="0">
                <a:solidFill>
                  <a:srgbClr val="0F2A43"/>
                </a:solidFill>
                <a:latin typeface="Calibri" pitchFamily="34" charset="0"/>
                <a:ea typeface="Calibri" pitchFamily="34" charset="-122"/>
                <a:cs typeface="Calibri" pitchFamily="34" charset="-120"/>
              </a:rPr>
              <a:t>Sales Orders</a:t>
            </a:r>
            <a:endParaRPr lang="en-US" sz="1350" dirty="0"/>
          </a:p>
        </p:txBody>
      </p:sp>
      <p:sp>
        <p:nvSpPr>
          <p:cNvPr id="7" name="Text 5"/>
          <p:cNvSpPr txBox="1"/>
          <p:nvPr/>
        </p:nvSpPr>
        <p:spPr>
          <a:xfrm>
            <a:off x="6766560" y="1984248"/>
            <a:ext cx="4663440" cy="274320"/>
          </a:xfrm>
          <a:prstGeom prst="rect">
            <a:avLst/>
          </a:prstGeom>
          <a:noFill/>
          <a:ln/>
        </p:spPr>
        <p:txBody>
          <a:bodyPr wrap="square" lIns="0" tIns="0" rIns="0" bIns="0" rtlCol="0" anchor="ctr"/>
          <a:lstStyle/>
          <a:p>
            <a:pPr indent="0" marL="0">
              <a:buNone/>
            </a:pPr>
            <a:r>
              <a:rPr lang="en-US" sz="1150" dirty="0">
                <a:solidFill>
                  <a:srgbClr val="6B7C8D"/>
                </a:solidFill>
                <a:latin typeface="Calibri" pitchFamily="34" charset="0"/>
                <a:ea typeface="Calibri" pitchFamily="34" charset="-122"/>
                <a:cs typeface="Calibri" pitchFamily="34" charset="-120"/>
              </a:rPr>
              <a:t>raised on placement or approval</a:t>
            </a:r>
            <a:endParaRPr lang="en-US" sz="1150" dirty="0"/>
          </a:p>
        </p:txBody>
      </p:sp>
      <p:sp>
        <p:nvSpPr>
          <p:cNvPr id="8" name="Shape 6"/>
          <p:cNvSpPr/>
          <p:nvPr/>
        </p:nvSpPr>
        <p:spPr>
          <a:xfrm>
            <a:off x="6492240" y="2468880"/>
            <a:ext cx="5166360" cy="731520"/>
          </a:xfrm>
          <a:prstGeom prst="roundRect">
            <a:avLst>
              <a:gd name="adj" fmla="val 8750"/>
            </a:avLst>
          </a:prstGeom>
          <a:solidFill>
            <a:srgbClr val="FFFFFF"/>
          </a:solidFill>
          <a:ln w="12700">
            <a:solidFill>
              <a:srgbClr val="DCE4EC"/>
            </a:solidFill>
            <a:prstDash val="solid"/>
          </a:ln>
        </p:spPr>
      </p:sp>
      <p:sp>
        <p:nvSpPr>
          <p:cNvPr id="9" name="Text 7"/>
          <p:cNvSpPr txBox="1"/>
          <p:nvPr/>
        </p:nvSpPr>
        <p:spPr>
          <a:xfrm>
            <a:off x="6766560" y="2560320"/>
            <a:ext cx="2377440" cy="274320"/>
          </a:xfrm>
          <a:prstGeom prst="rect">
            <a:avLst/>
          </a:prstGeom>
          <a:noFill/>
          <a:ln/>
        </p:spPr>
        <p:txBody>
          <a:bodyPr wrap="square" lIns="0" tIns="0" rIns="0" bIns="0" rtlCol="0" anchor="ctr"/>
          <a:lstStyle/>
          <a:p>
            <a:pPr indent="0" marL="0">
              <a:buNone/>
            </a:pPr>
            <a:r>
              <a:rPr lang="en-US" sz="1350" b="1" dirty="0">
                <a:solidFill>
                  <a:srgbClr val="0F2A43"/>
                </a:solidFill>
                <a:latin typeface="Calibri" pitchFamily="34" charset="0"/>
                <a:ea typeface="Calibri" pitchFamily="34" charset="-122"/>
                <a:cs typeface="Calibri" pitchFamily="34" charset="-120"/>
              </a:rPr>
              <a:t>Delivery Notes</a:t>
            </a:r>
            <a:endParaRPr lang="en-US" sz="1350" dirty="0"/>
          </a:p>
        </p:txBody>
      </p:sp>
      <p:sp>
        <p:nvSpPr>
          <p:cNvPr id="10" name="Text 8"/>
          <p:cNvSpPr txBox="1"/>
          <p:nvPr/>
        </p:nvSpPr>
        <p:spPr>
          <a:xfrm>
            <a:off x="6766560" y="2852928"/>
            <a:ext cx="4663440" cy="274320"/>
          </a:xfrm>
          <a:prstGeom prst="rect">
            <a:avLst/>
          </a:prstGeom>
          <a:noFill/>
          <a:ln/>
        </p:spPr>
        <p:txBody>
          <a:bodyPr wrap="square" lIns="0" tIns="0" rIns="0" bIns="0" rtlCol="0" anchor="ctr"/>
          <a:lstStyle/>
          <a:p>
            <a:pPr indent="0" marL="0">
              <a:buNone/>
            </a:pPr>
            <a:r>
              <a:rPr lang="en-US" sz="1150" dirty="0">
                <a:solidFill>
                  <a:srgbClr val="6B7C8D"/>
                </a:solidFill>
                <a:latin typeface="Calibri" pitchFamily="34" charset="0"/>
                <a:ea typeface="Calibri" pitchFamily="34" charset="-122"/>
                <a:cs typeface="Calibri" pitchFamily="34" charset="-120"/>
              </a:rPr>
              <a:t>issued from the reservation store</a:t>
            </a:r>
            <a:endParaRPr lang="en-US" sz="1150" dirty="0"/>
          </a:p>
        </p:txBody>
      </p:sp>
      <p:sp>
        <p:nvSpPr>
          <p:cNvPr id="11" name="Shape 9"/>
          <p:cNvSpPr/>
          <p:nvPr/>
        </p:nvSpPr>
        <p:spPr>
          <a:xfrm>
            <a:off x="6492240" y="3337560"/>
            <a:ext cx="5166360" cy="731520"/>
          </a:xfrm>
          <a:prstGeom prst="roundRect">
            <a:avLst>
              <a:gd name="adj" fmla="val 8750"/>
            </a:avLst>
          </a:prstGeom>
          <a:solidFill>
            <a:srgbClr val="FFFFFF"/>
          </a:solidFill>
          <a:ln w="12700">
            <a:solidFill>
              <a:srgbClr val="DCE4EC"/>
            </a:solidFill>
            <a:prstDash val="solid"/>
          </a:ln>
        </p:spPr>
      </p:sp>
      <p:sp>
        <p:nvSpPr>
          <p:cNvPr id="12" name="Text 10"/>
          <p:cNvSpPr txBox="1"/>
          <p:nvPr/>
        </p:nvSpPr>
        <p:spPr>
          <a:xfrm>
            <a:off x="6766560" y="3429000"/>
            <a:ext cx="2377440" cy="274320"/>
          </a:xfrm>
          <a:prstGeom prst="rect">
            <a:avLst/>
          </a:prstGeom>
          <a:noFill/>
          <a:ln/>
        </p:spPr>
        <p:txBody>
          <a:bodyPr wrap="square" lIns="0" tIns="0" rIns="0" bIns="0" rtlCol="0" anchor="ctr"/>
          <a:lstStyle/>
          <a:p>
            <a:pPr indent="0" marL="0">
              <a:buNone/>
            </a:pPr>
            <a:r>
              <a:rPr lang="en-US" sz="1350" b="1" dirty="0">
                <a:solidFill>
                  <a:srgbClr val="0F2A43"/>
                </a:solidFill>
                <a:latin typeface="Calibri" pitchFamily="34" charset="0"/>
                <a:ea typeface="Calibri" pitchFamily="34" charset="-122"/>
                <a:cs typeface="Calibri" pitchFamily="34" charset="-120"/>
              </a:rPr>
              <a:t>Stock Transfers</a:t>
            </a:r>
            <a:endParaRPr lang="en-US" sz="1350" dirty="0"/>
          </a:p>
        </p:txBody>
      </p:sp>
      <p:sp>
        <p:nvSpPr>
          <p:cNvPr id="13" name="Text 11"/>
          <p:cNvSpPr txBox="1"/>
          <p:nvPr/>
        </p:nvSpPr>
        <p:spPr>
          <a:xfrm>
            <a:off x="6766560" y="3721608"/>
            <a:ext cx="4663440" cy="274320"/>
          </a:xfrm>
          <a:prstGeom prst="rect">
            <a:avLst/>
          </a:prstGeom>
          <a:noFill/>
          <a:ln/>
        </p:spPr>
        <p:txBody>
          <a:bodyPr wrap="square" lIns="0" tIns="0" rIns="0" bIns="0" rtlCol="0" anchor="ctr"/>
          <a:lstStyle/>
          <a:p>
            <a:pPr indent="0" marL="0">
              <a:buNone/>
            </a:pPr>
            <a:r>
              <a:rPr lang="en-US" sz="1150" dirty="0">
                <a:solidFill>
                  <a:srgbClr val="6B7C8D"/>
                </a:solidFill>
                <a:latin typeface="Calibri" pitchFamily="34" charset="0"/>
                <a:ea typeface="Calibri" pitchFamily="34" charset="-122"/>
                <a:cs typeface="Calibri" pitchFamily="34" charset="-120"/>
              </a:rPr>
              <a:t>issue and receipt vouchers</a:t>
            </a:r>
            <a:endParaRPr lang="en-US" sz="1150" dirty="0"/>
          </a:p>
        </p:txBody>
      </p:sp>
      <p:sp>
        <p:nvSpPr>
          <p:cNvPr id="14" name="Shape 12"/>
          <p:cNvSpPr/>
          <p:nvPr/>
        </p:nvSpPr>
        <p:spPr>
          <a:xfrm>
            <a:off x="6492240" y="4206240"/>
            <a:ext cx="5166360" cy="731520"/>
          </a:xfrm>
          <a:prstGeom prst="roundRect">
            <a:avLst>
              <a:gd name="adj" fmla="val 8750"/>
            </a:avLst>
          </a:prstGeom>
          <a:solidFill>
            <a:srgbClr val="FFFFFF"/>
          </a:solidFill>
          <a:ln w="12700">
            <a:solidFill>
              <a:srgbClr val="DCE4EC"/>
            </a:solidFill>
            <a:prstDash val="solid"/>
          </a:ln>
        </p:spPr>
      </p:sp>
      <p:sp>
        <p:nvSpPr>
          <p:cNvPr id="15" name="Text 13"/>
          <p:cNvSpPr txBox="1"/>
          <p:nvPr/>
        </p:nvSpPr>
        <p:spPr>
          <a:xfrm>
            <a:off x="6766560" y="4297680"/>
            <a:ext cx="2377440" cy="274320"/>
          </a:xfrm>
          <a:prstGeom prst="rect">
            <a:avLst/>
          </a:prstGeom>
          <a:noFill/>
          <a:ln/>
        </p:spPr>
        <p:txBody>
          <a:bodyPr wrap="square" lIns="0" tIns="0" rIns="0" bIns="0" rtlCol="0" anchor="ctr"/>
          <a:lstStyle/>
          <a:p>
            <a:pPr indent="0" marL="0">
              <a:buNone/>
            </a:pPr>
            <a:r>
              <a:rPr lang="en-US" sz="1350" b="1" dirty="0">
                <a:solidFill>
                  <a:srgbClr val="0F2A43"/>
                </a:solidFill>
                <a:latin typeface="Calibri" pitchFamily="34" charset="0"/>
                <a:ea typeface="Calibri" pitchFamily="34" charset="-122"/>
                <a:cs typeface="Calibri" pitchFamily="34" charset="-120"/>
              </a:rPr>
              <a:t>Credit Notes</a:t>
            </a:r>
            <a:endParaRPr lang="en-US" sz="1350" dirty="0"/>
          </a:p>
        </p:txBody>
      </p:sp>
      <p:sp>
        <p:nvSpPr>
          <p:cNvPr id="16" name="Text 14"/>
          <p:cNvSpPr txBox="1"/>
          <p:nvPr/>
        </p:nvSpPr>
        <p:spPr>
          <a:xfrm>
            <a:off x="6766560" y="4590288"/>
            <a:ext cx="4663440" cy="274320"/>
          </a:xfrm>
          <a:prstGeom prst="rect">
            <a:avLst/>
          </a:prstGeom>
          <a:noFill/>
          <a:ln/>
        </p:spPr>
        <p:txBody>
          <a:bodyPr wrap="square" lIns="0" tIns="0" rIns="0" bIns="0" rtlCol="0" anchor="ctr"/>
          <a:lstStyle/>
          <a:p>
            <a:pPr indent="0" marL="0">
              <a:buNone/>
            </a:pPr>
            <a:r>
              <a:rPr lang="en-US" sz="1150" dirty="0">
                <a:solidFill>
                  <a:srgbClr val="6B7C8D"/>
                </a:solidFill>
                <a:latin typeface="Calibri" pitchFamily="34" charset="0"/>
                <a:ea typeface="Calibri" pitchFamily="34" charset="-122"/>
                <a:cs typeface="Calibri" pitchFamily="34" charset="-120"/>
              </a:rPr>
              <a:t>raised on confirmed returns</a:t>
            </a:r>
            <a:endParaRPr lang="en-US" sz="1150" dirty="0"/>
          </a:p>
        </p:txBody>
      </p:sp>
      <p:sp>
        <p:nvSpPr>
          <p:cNvPr id="17" name="Shape 15"/>
          <p:cNvSpPr/>
          <p:nvPr/>
        </p:nvSpPr>
        <p:spPr>
          <a:xfrm>
            <a:off x="6492240" y="5074920"/>
            <a:ext cx="5166360" cy="731520"/>
          </a:xfrm>
          <a:prstGeom prst="roundRect">
            <a:avLst>
              <a:gd name="adj" fmla="val 8750"/>
            </a:avLst>
          </a:prstGeom>
          <a:solidFill>
            <a:srgbClr val="FFFFFF"/>
          </a:solidFill>
          <a:ln w="12700">
            <a:solidFill>
              <a:srgbClr val="DCE4EC"/>
            </a:solidFill>
            <a:prstDash val="solid"/>
          </a:ln>
        </p:spPr>
      </p:sp>
      <p:sp>
        <p:nvSpPr>
          <p:cNvPr id="18" name="Text 16"/>
          <p:cNvSpPr txBox="1"/>
          <p:nvPr/>
        </p:nvSpPr>
        <p:spPr>
          <a:xfrm>
            <a:off x="6766560" y="5166360"/>
            <a:ext cx="2377440" cy="274320"/>
          </a:xfrm>
          <a:prstGeom prst="rect">
            <a:avLst/>
          </a:prstGeom>
          <a:noFill/>
          <a:ln/>
        </p:spPr>
        <p:txBody>
          <a:bodyPr wrap="square" lIns="0" tIns="0" rIns="0" bIns="0" rtlCol="0" anchor="ctr"/>
          <a:lstStyle/>
          <a:p>
            <a:pPr indent="0" marL="0">
              <a:buNone/>
            </a:pPr>
            <a:r>
              <a:rPr lang="en-US" sz="1350" b="1" dirty="0">
                <a:solidFill>
                  <a:srgbClr val="0F2A43"/>
                </a:solidFill>
                <a:latin typeface="Calibri" pitchFamily="34" charset="0"/>
                <a:ea typeface="Calibri" pitchFamily="34" charset="-122"/>
                <a:cs typeface="Calibri" pitchFamily="34" charset="-120"/>
              </a:rPr>
              <a:t>Invoices</a:t>
            </a:r>
            <a:endParaRPr lang="en-US" sz="1350" dirty="0"/>
          </a:p>
        </p:txBody>
      </p:sp>
      <p:sp>
        <p:nvSpPr>
          <p:cNvPr id="19" name="Text 17"/>
          <p:cNvSpPr txBox="1"/>
          <p:nvPr/>
        </p:nvSpPr>
        <p:spPr>
          <a:xfrm>
            <a:off x="6766560" y="5458968"/>
            <a:ext cx="4663440" cy="274320"/>
          </a:xfrm>
          <a:prstGeom prst="rect">
            <a:avLst/>
          </a:prstGeom>
          <a:noFill/>
          <a:ln/>
        </p:spPr>
        <p:txBody>
          <a:bodyPr wrap="square" lIns="0" tIns="0" rIns="0" bIns="0" rtlCol="0" anchor="ctr"/>
          <a:lstStyle/>
          <a:p>
            <a:pPr indent="0" marL="0">
              <a:buNone/>
            </a:pPr>
            <a:r>
              <a:rPr lang="en-US" sz="1150" dirty="0">
                <a:solidFill>
                  <a:srgbClr val="6B7C8D"/>
                </a:solidFill>
                <a:latin typeface="Calibri" pitchFamily="34" charset="0"/>
                <a:ea typeface="Calibri" pitchFamily="34" charset="-122"/>
                <a:cs typeface="Calibri" pitchFamily="34" charset="-120"/>
              </a:rPr>
              <a:t>consolidated to EGA</a:t>
            </a:r>
            <a:endParaRPr lang="en-US" sz="1150" dirty="0"/>
          </a:p>
        </p:txBody>
      </p:sp>
      <p:sp>
        <p:nvSpPr>
          <p:cNvPr id="20" name="Text 18"/>
          <p:cNvSpPr txBox="1"/>
          <p:nvPr/>
        </p:nvSpPr>
        <p:spPr>
          <a:xfrm>
            <a:off x="566928" y="4663440"/>
            <a:ext cx="5486400" cy="365760"/>
          </a:xfrm>
          <a:prstGeom prst="rect">
            <a:avLst/>
          </a:prstGeom>
          <a:noFill/>
          <a:ln/>
        </p:spPr>
        <p:txBody>
          <a:bodyPr wrap="square" lIns="0" tIns="0" rIns="0" bIns="0" rtlCol="0" anchor="ctr"/>
          <a:lstStyle/>
          <a:p>
            <a:pPr indent="0" marL="0">
              <a:buNone/>
            </a:pPr>
            <a:r>
              <a:rPr lang="en-US" sz="1300" b="1" dirty="0">
                <a:solidFill>
                  <a:srgbClr val="0F2A43"/>
                </a:solidFill>
                <a:latin typeface="Calibri" pitchFamily="34" charset="0"/>
                <a:ea typeface="Calibri" pitchFamily="34" charset="-122"/>
                <a:cs typeface="Calibri" pitchFamily="34" charset="-120"/>
              </a:rPr>
              <a:t>Every document the platform raises is mirrored into the ERP.</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2F5F9"/>
        </a:solidFill>
      </p:bgPr>
    </p:bg>
    <p:spTree>
      <p:nvGrpSpPr>
        <p:cNvPr id="1" name=""/>
        <p:cNvGrpSpPr/>
        <p:nvPr/>
      </p:nvGrpSpPr>
      <p:grpSpPr>
        <a:xfrm>
          <a:off x="0" y="0"/>
          <a:ext cx="0" cy="0"/>
          <a:chOff x="0" y="0"/>
          <a:chExt cx="0" cy="0"/>
        </a:xfrm>
      </p:grpSpPr>
      <p:sp>
        <p:nvSpPr>
          <p:cNvPr id="2" name="Text 0"/>
          <p:cNvSpPr txBox="1"/>
          <p:nvPr/>
        </p:nvSpPr>
        <p:spPr>
          <a:xfrm>
            <a:off x="566928" y="420624"/>
            <a:ext cx="10058400" cy="237744"/>
          </a:xfrm>
          <a:prstGeom prst="rect">
            <a:avLst/>
          </a:prstGeom>
          <a:noFill/>
          <a:ln/>
        </p:spPr>
        <p:txBody>
          <a:bodyPr wrap="square" lIns="0" tIns="0" rIns="0" bIns="0" rtlCol="0" anchor="ctr"/>
          <a:lstStyle/>
          <a:p>
            <a:pPr indent="0" marL="0">
              <a:buNone/>
            </a:pPr>
            <a:r>
              <a:rPr lang="en-US" sz="1100" b="1" spc="160" kern="0" dirty="0">
                <a:solidFill>
                  <a:srgbClr val="F4791F"/>
                </a:solidFill>
                <a:latin typeface="Calibri" pitchFamily="34" charset="0"/>
                <a:ea typeface="Calibri" pitchFamily="34" charset="-122"/>
                <a:cs typeface="Calibri" pitchFamily="34" charset="-120"/>
              </a:rPr>
              <a:t>STORE MODULE</a:t>
            </a:r>
            <a:endParaRPr lang="en-US" sz="1100" dirty="0"/>
          </a:p>
        </p:txBody>
      </p:sp>
      <p:sp>
        <p:nvSpPr>
          <p:cNvPr id="3" name="Text 1"/>
          <p:cNvSpPr txBox="1"/>
          <p:nvPr/>
        </p:nvSpPr>
        <p:spPr>
          <a:xfrm>
            <a:off x="566928" y="676656"/>
            <a:ext cx="11064240" cy="566928"/>
          </a:xfrm>
          <a:prstGeom prst="rect">
            <a:avLst/>
          </a:prstGeom>
          <a:noFill/>
          <a:ln/>
        </p:spPr>
        <p:txBody>
          <a:bodyPr wrap="square" lIns="0" tIns="0" rIns="0" bIns="0" rtlCol="0" anchor="ctr"/>
          <a:lstStyle/>
          <a:p>
            <a:pPr indent="0" marL="0">
              <a:buNone/>
            </a:pPr>
            <a:r>
              <a:rPr lang="en-US" sz="3200" b="1" dirty="0">
                <a:solidFill>
                  <a:srgbClr val="0F2A43"/>
                </a:solidFill>
                <a:latin typeface="Cambria" pitchFamily="34" charset="0"/>
                <a:ea typeface="Cambria" pitchFamily="34" charset="-122"/>
                <a:cs typeface="Cambria" pitchFamily="34" charset="-120"/>
              </a:rPr>
              <a:t>Stock, store by store</a:t>
            </a:r>
            <a:endParaRPr lang="en-US" sz="3200" dirty="0"/>
          </a:p>
        </p:txBody>
      </p:sp>
      <p:sp>
        <p:nvSpPr>
          <p:cNvPr id="4" name="Shape 2"/>
          <p:cNvSpPr/>
          <p:nvPr/>
        </p:nvSpPr>
        <p:spPr>
          <a:xfrm>
            <a:off x="502920" y="1436684"/>
            <a:ext cx="7077456" cy="4624712"/>
          </a:xfrm>
          <a:prstGeom prst="roundRect">
            <a:avLst>
              <a:gd name="adj" fmla="val 1186"/>
            </a:avLst>
          </a:prstGeom>
          <a:solidFill>
            <a:srgbClr val="FFFFFF"/>
          </a:solidFill>
          <a:ln w="12700">
            <a:solidFill>
              <a:srgbClr val="DCE4EC"/>
            </a:solidFill>
            <a:prstDash val="solid"/>
          </a:ln>
          <a:effectLst>
            <a:outerShdw sx="100000" sy="100000" kx="0" ky="0" algn="bl" rotWithShape="0" blurRad="177800" dist="38100" dir="5400000">
              <a:srgbClr val="0F2A43">
                <a:alpha val="13000"/>
              </a:srgbClr>
            </a:outerShdw>
          </a:effectLst>
        </p:spPr>
      </p:sp>
      <p:pic>
        <p:nvPicPr>
          <p:cNvPr id="5" name="Image 0" descr="/tmp/deck/13-inventory-crop.png">    </p:cNvPr>
          <p:cNvPicPr>
            <a:picLocks noChangeAspect="1"/>
          </p:cNvPicPr>
          <p:nvPr/>
        </p:nvPicPr>
        <p:blipFill>
          <a:blip r:embed="rId1"/>
          <a:stretch>
            <a:fillRect/>
          </a:stretch>
        </p:blipFill>
        <p:spPr>
          <a:xfrm>
            <a:off x="566928" y="1500692"/>
            <a:ext cx="6949440" cy="4496696"/>
          </a:xfrm>
          <a:prstGeom prst="rect">
            <a:avLst/>
          </a:prstGeom>
        </p:spPr>
      </p:pic>
      <p:sp>
        <p:nvSpPr>
          <p:cNvPr id="6" name="Text 3"/>
          <p:cNvSpPr txBox="1"/>
          <p:nvPr/>
        </p:nvSpPr>
        <p:spPr>
          <a:xfrm>
            <a:off x="7863840" y="1600200"/>
            <a:ext cx="3794760" cy="3291840"/>
          </a:xfrm>
          <a:prstGeom prst="rect">
            <a:avLst/>
          </a:prstGeom>
          <a:noFill/>
          <a:ln/>
        </p:spPr>
        <p:txBody>
          <a:bodyPr wrap="square" lIns="0" tIns="0" rIns="0" bIns="0" rtlCol="0" anchor="t"/>
          <a:lstStyle/>
          <a:p>
            <a:pPr marL="342900" indent="-342900">
              <a:lnSpc>
                <a:spcPct val="115000"/>
              </a:lnSpc>
              <a:spcAft>
                <a:spcPts val="700"/>
              </a:spcAft>
              <a:buSzPct val="100000"/>
              <a:buChar char="•"/>
            </a:pPr>
            <a:r>
              <a:rPr lang="en-US" sz="1300" dirty="0">
                <a:solidFill>
                  <a:srgbClr val="1C2B3A"/>
                </a:solidFill>
                <a:latin typeface="Calibri" pitchFamily="34" charset="0"/>
                <a:ea typeface="Calibri" pitchFamily="34" charset="-122"/>
                <a:cs typeface="Calibri" pitchFamily="34" charset="-120"/>
              </a:rPr>
              <a:t>Quantities held in the main store and in each reservation store, item by item.</a:t>
            </a:r>
            <a:endParaRPr lang="en-US" sz="1300" dirty="0"/>
          </a:p>
          <a:p>
            <a:pPr marL="342900" indent="-342900">
              <a:lnSpc>
                <a:spcPct val="115000"/>
              </a:lnSpc>
              <a:spcAft>
                <a:spcPts val="700"/>
              </a:spcAft>
              <a:buSzPct val="100000"/>
              <a:buChar char="•"/>
            </a:pPr>
            <a:r>
              <a:rPr lang="en-US" sz="1300" dirty="0">
                <a:solidFill>
                  <a:srgbClr val="1C2B3A"/>
                </a:solidFill>
                <a:latin typeface="Calibri" pitchFamily="34" charset="0"/>
                <a:ea typeface="Calibri" pitchFamily="34" charset="-122"/>
                <a:cs typeface="Calibri" pitchFamily="34" charset="-120"/>
              </a:rPr>
              <a:t>Manual adjustments for goods received or written off.</a:t>
            </a:r>
            <a:endParaRPr lang="en-US" sz="1300" dirty="0"/>
          </a:p>
          <a:p>
            <a:pPr marL="342900" indent="-342900">
              <a:lnSpc>
                <a:spcPct val="115000"/>
              </a:lnSpc>
              <a:spcAft>
                <a:spcPts val="700"/>
              </a:spcAft>
              <a:buSzPct val="100000"/>
              <a:buChar char="•"/>
            </a:pPr>
            <a:r>
              <a:rPr lang="en-US" sz="1300" dirty="0">
                <a:solidFill>
                  <a:srgbClr val="1C2B3A"/>
                </a:solidFill>
                <a:latin typeface="Calibri" pitchFamily="34" charset="0"/>
                <a:ea typeface="Calibri" pitchFamily="34" charset="-122"/>
                <a:cs typeface="Calibri" pitchFamily="34" charset="-120"/>
              </a:rPr>
              <a:t>Transfers between stores on issue and receipt vouchers.</a:t>
            </a:r>
            <a:endParaRPr lang="en-US" sz="1300" dirty="0"/>
          </a:p>
          <a:p>
            <a:pPr marL="342900" indent="-342900">
              <a:lnSpc>
                <a:spcPct val="115000"/>
              </a:lnSpc>
              <a:spcAft>
                <a:spcPts val="700"/>
              </a:spcAft>
              <a:buSzPct val="100000"/>
              <a:buChar char="•"/>
            </a:pPr>
            <a:r>
              <a:rPr lang="en-US" sz="1300" dirty="0">
                <a:solidFill>
                  <a:srgbClr val="1C2B3A"/>
                </a:solidFill>
                <a:latin typeface="Calibri" pitchFamily="34" charset="0"/>
                <a:ea typeface="Calibri" pitchFamily="34" charset="-122"/>
                <a:cs typeface="Calibri" pitchFamily="34" charset="-120"/>
              </a:rPr>
              <a:t>The same figures the employee sees as “stock” when shopping.</a:t>
            </a:r>
            <a:endParaRPr lang="en-US" sz="1300" dirty="0"/>
          </a:p>
          <a:p>
            <a:pPr marL="342900" indent="-342900">
              <a:lnSpc>
                <a:spcPct val="115000"/>
              </a:lnSpc>
              <a:spcAft>
                <a:spcPts val="700"/>
              </a:spcAft>
              <a:buSzPct val="100000"/>
              <a:buChar char="•"/>
            </a:pPr>
            <a:r>
              <a:rPr lang="en-US" sz="1300" dirty="0">
                <a:solidFill>
                  <a:srgbClr val="1C2B3A"/>
                </a:solidFill>
                <a:latin typeface="Calibri" pitchFamily="34" charset="0"/>
                <a:ea typeface="Calibri" pitchFamily="34" charset="-122"/>
                <a:cs typeface="Calibri" pitchFamily="34" charset="-120"/>
              </a:rPr>
              <a:t>Reservation-store quantities are the goods already committed to orders.</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2F5F9"/>
        </a:solidFill>
      </p:bgPr>
    </p:bg>
    <p:spTree>
      <p:nvGrpSpPr>
        <p:cNvPr id="1" name=""/>
        <p:cNvGrpSpPr/>
        <p:nvPr/>
      </p:nvGrpSpPr>
      <p:grpSpPr>
        <a:xfrm>
          <a:off x="0" y="0"/>
          <a:ext cx="0" cy="0"/>
          <a:chOff x="0" y="0"/>
          <a:chExt cx="0" cy="0"/>
        </a:xfrm>
      </p:grpSpPr>
      <p:sp>
        <p:nvSpPr>
          <p:cNvPr id="2" name="Text 0"/>
          <p:cNvSpPr txBox="1"/>
          <p:nvPr/>
        </p:nvSpPr>
        <p:spPr>
          <a:xfrm>
            <a:off x="566928" y="420624"/>
            <a:ext cx="10058400" cy="237744"/>
          </a:xfrm>
          <a:prstGeom prst="rect">
            <a:avLst/>
          </a:prstGeom>
          <a:noFill/>
          <a:ln/>
        </p:spPr>
        <p:txBody>
          <a:bodyPr wrap="square" lIns="0" tIns="0" rIns="0" bIns="0" rtlCol="0" anchor="ctr"/>
          <a:lstStyle/>
          <a:p>
            <a:pPr indent="0" marL="0">
              <a:buNone/>
            </a:pPr>
            <a:r>
              <a:rPr lang="en-US" sz="1100" b="1" spc="160" kern="0" dirty="0">
                <a:solidFill>
                  <a:srgbClr val="F4791F"/>
                </a:solidFill>
                <a:latin typeface="Calibri" pitchFamily="34" charset="0"/>
                <a:ea typeface="Calibri" pitchFamily="34" charset="-122"/>
                <a:cs typeface="Calibri" pitchFamily="34" charset="-120"/>
              </a:rPr>
              <a:t>ORDER LIFECYCLE</a:t>
            </a:r>
            <a:endParaRPr lang="en-US" sz="1100" dirty="0"/>
          </a:p>
        </p:txBody>
      </p:sp>
      <p:sp>
        <p:nvSpPr>
          <p:cNvPr id="3" name="Text 1"/>
          <p:cNvSpPr txBox="1"/>
          <p:nvPr/>
        </p:nvSpPr>
        <p:spPr>
          <a:xfrm>
            <a:off x="566928" y="676656"/>
            <a:ext cx="11064240" cy="566928"/>
          </a:xfrm>
          <a:prstGeom prst="rect">
            <a:avLst/>
          </a:prstGeom>
          <a:noFill/>
          <a:ln/>
        </p:spPr>
        <p:txBody>
          <a:bodyPr wrap="square" lIns="0" tIns="0" rIns="0" bIns="0" rtlCol="0" anchor="ctr"/>
          <a:lstStyle/>
          <a:p>
            <a:pPr indent="0" marL="0">
              <a:buNone/>
            </a:pPr>
            <a:r>
              <a:rPr lang="en-US" sz="3200" b="1" dirty="0">
                <a:solidFill>
                  <a:srgbClr val="0F2A43"/>
                </a:solidFill>
                <a:latin typeface="Cambria" pitchFamily="34" charset="0"/>
                <a:ea typeface="Cambria" pitchFamily="34" charset="-122"/>
                <a:cs typeface="Cambria" pitchFamily="34" charset="-120"/>
              </a:rPr>
              <a:t>Eight states, visible to everyone</a:t>
            </a:r>
            <a:endParaRPr lang="en-US" sz="3200" dirty="0"/>
          </a:p>
        </p:txBody>
      </p:sp>
      <p:sp>
        <p:nvSpPr>
          <p:cNvPr id="4" name="Shape 2"/>
          <p:cNvSpPr/>
          <p:nvPr/>
        </p:nvSpPr>
        <p:spPr>
          <a:xfrm>
            <a:off x="566928" y="1691640"/>
            <a:ext cx="2578608" cy="1645920"/>
          </a:xfrm>
          <a:prstGeom prst="roundRect">
            <a:avLst>
              <a:gd name="adj" fmla="val 5000"/>
            </a:avLst>
          </a:prstGeom>
          <a:solidFill>
            <a:srgbClr val="FFFFFF"/>
          </a:solidFill>
          <a:ln w="12700">
            <a:solidFill>
              <a:srgbClr val="FFFFFF"/>
            </a:solidFill>
            <a:prstDash val="solid"/>
          </a:ln>
          <a:effectLst>
            <a:outerShdw sx="100000" sy="100000" kx="0" ky="0" algn="bl" rotWithShape="0" blurRad="177800" dist="38100" dir="5400000">
              <a:srgbClr val="0F2A43">
                <a:alpha val="13000"/>
              </a:srgbClr>
            </a:outerShdw>
          </a:effectLst>
        </p:spPr>
      </p:sp>
      <p:sp>
        <p:nvSpPr>
          <p:cNvPr id="5" name="Shape 3"/>
          <p:cNvSpPr/>
          <p:nvPr/>
        </p:nvSpPr>
        <p:spPr>
          <a:xfrm>
            <a:off x="786384" y="1929384"/>
            <a:ext cx="2139696" cy="384048"/>
          </a:xfrm>
          <a:prstGeom prst="roundRect">
            <a:avLst>
              <a:gd name="adj" fmla="val 50000"/>
            </a:avLst>
          </a:prstGeom>
          <a:solidFill>
            <a:srgbClr val="E8A213"/>
          </a:solidFill>
          <a:ln w="12700">
            <a:solidFill>
              <a:srgbClr val="E8A213"/>
            </a:solidFill>
            <a:prstDash val="solid"/>
          </a:ln>
        </p:spPr>
      </p:sp>
      <p:sp>
        <p:nvSpPr>
          <p:cNvPr id="6" name="Text 4"/>
          <p:cNvSpPr txBox="1"/>
          <p:nvPr/>
        </p:nvSpPr>
        <p:spPr>
          <a:xfrm>
            <a:off x="786384" y="1929384"/>
            <a:ext cx="2139696" cy="38404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Order Approval</a:t>
            </a:r>
            <a:endParaRPr lang="en-US" sz="1050" dirty="0"/>
          </a:p>
        </p:txBody>
      </p:sp>
      <p:sp>
        <p:nvSpPr>
          <p:cNvPr id="7" name="Text 5"/>
          <p:cNvSpPr txBox="1"/>
          <p:nvPr/>
        </p:nvSpPr>
        <p:spPr>
          <a:xfrm>
            <a:off x="786384" y="2468880"/>
            <a:ext cx="2194560" cy="685800"/>
          </a:xfrm>
          <a:prstGeom prst="rect">
            <a:avLst/>
          </a:prstGeom>
          <a:noFill/>
          <a:ln/>
        </p:spPr>
        <p:txBody>
          <a:bodyPr wrap="square" lIns="0" tIns="0" rIns="0" bIns="0" rtlCol="0" anchor="ctr"/>
          <a:lstStyle/>
          <a:p>
            <a:pPr indent="0" marL="0">
              <a:lnSpc>
                <a:spcPct val="110000"/>
              </a:lnSpc>
              <a:buNone/>
            </a:pPr>
            <a:r>
              <a:rPr lang="en-US" sz="1200" dirty="0">
                <a:solidFill>
                  <a:srgbClr val="6B7C8D"/>
                </a:solidFill>
                <a:latin typeface="Calibri" pitchFamily="34" charset="0"/>
                <a:ea typeface="Calibri" pitchFamily="34" charset="-122"/>
                <a:cs typeface="Calibri" pitchFamily="34" charset="-120"/>
              </a:rPr>
              <a:t>Waiting on EGA</a:t>
            </a:r>
            <a:endParaRPr lang="en-US" sz="1200" dirty="0"/>
          </a:p>
        </p:txBody>
      </p:sp>
      <p:sp>
        <p:nvSpPr>
          <p:cNvPr id="8" name="Shape 6"/>
          <p:cNvSpPr/>
          <p:nvPr/>
        </p:nvSpPr>
        <p:spPr>
          <a:xfrm>
            <a:off x="3364992" y="1691640"/>
            <a:ext cx="2578608" cy="1645920"/>
          </a:xfrm>
          <a:prstGeom prst="roundRect">
            <a:avLst>
              <a:gd name="adj" fmla="val 5000"/>
            </a:avLst>
          </a:prstGeom>
          <a:solidFill>
            <a:srgbClr val="FFFFFF"/>
          </a:solidFill>
          <a:ln w="12700">
            <a:solidFill>
              <a:srgbClr val="FFFFFF"/>
            </a:solidFill>
            <a:prstDash val="solid"/>
          </a:ln>
          <a:effectLst>
            <a:outerShdw sx="100000" sy="100000" kx="0" ky="0" algn="bl" rotWithShape="0" blurRad="177800" dist="38100" dir="5400000">
              <a:srgbClr val="0F2A43">
                <a:alpha val="13000"/>
              </a:srgbClr>
            </a:outerShdw>
          </a:effectLst>
        </p:spPr>
      </p:sp>
      <p:sp>
        <p:nvSpPr>
          <p:cNvPr id="9" name="Shape 7"/>
          <p:cNvSpPr/>
          <p:nvPr/>
        </p:nvSpPr>
        <p:spPr>
          <a:xfrm>
            <a:off x="3584448" y="1929384"/>
            <a:ext cx="2139696" cy="384048"/>
          </a:xfrm>
          <a:prstGeom prst="roundRect">
            <a:avLst>
              <a:gd name="adj" fmla="val 50000"/>
            </a:avLst>
          </a:prstGeom>
          <a:solidFill>
            <a:srgbClr val="2F6FB2"/>
          </a:solidFill>
          <a:ln w="12700">
            <a:solidFill>
              <a:srgbClr val="2F6FB2"/>
            </a:solidFill>
            <a:prstDash val="solid"/>
          </a:ln>
        </p:spPr>
      </p:sp>
      <p:sp>
        <p:nvSpPr>
          <p:cNvPr id="10" name="Text 8"/>
          <p:cNvSpPr txBox="1"/>
          <p:nvPr/>
        </p:nvSpPr>
        <p:spPr>
          <a:xfrm>
            <a:off x="3584448" y="1929384"/>
            <a:ext cx="2139696" cy="38404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Order in Progress</a:t>
            </a:r>
            <a:endParaRPr lang="en-US" sz="1050" dirty="0"/>
          </a:p>
        </p:txBody>
      </p:sp>
      <p:sp>
        <p:nvSpPr>
          <p:cNvPr id="11" name="Text 9"/>
          <p:cNvSpPr txBox="1"/>
          <p:nvPr/>
        </p:nvSpPr>
        <p:spPr>
          <a:xfrm>
            <a:off x="3584448" y="2468880"/>
            <a:ext cx="2194560" cy="685800"/>
          </a:xfrm>
          <a:prstGeom prst="rect">
            <a:avLst/>
          </a:prstGeom>
          <a:noFill/>
          <a:ln/>
        </p:spPr>
        <p:txBody>
          <a:bodyPr wrap="square" lIns="0" tIns="0" rIns="0" bIns="0" rtlCol="0" anchor="ctr"/>
          <a:lstStyle/>
          <a:p>
            <a:pPr indent="0" marL="0">
              <a:lnSpc>
                <a:spcPct val="110000"/>
              </a:lnSpc>
              <a:buNone/>
            </a:pPr>
            <a:r>
              <a:rPr lang="en-US" sz="1200" dirty="0">
                <a:solidFill>
                  <a:srgbClr val="6B7C8D"/>
                </a:solidFill>
                <a:latin typeface="Calibri" pitchFamily="34" charset="0"/>
                <a:ea typeface="Calibri" pitchFamily="34" charset="-122"/>
                <a:cs typeface="Calibri" pitchFamily="34" charset="-120"/>
              </a:rPr>
              <a:t>Approved or within limits</a:t>
            </a:r>
            <a:endParaRPr lang="en-US" sz="1200" dirty="0"/>
          </a:p>
        </p:txBody>
      </p:sp>
      <p:sp>
        <p:nvSpPr>
          <p:cNvPr id="12" name="Shape 10"/>
          <p:cNvSpPr/>
          <p:nvPr/>
        </p:nvSpPr>
        <p:spPr>
          <a:xfrm>
            <a:off x="6163056" y="1691640"/>
            <a:ext cx="2578608" cy="1645920"/>
          </a:xfrm>
          <a:prstGeom prst="roundRect">
            <a:avLst>
              <a:gd name="adj" fmla="val 5000"/>
            </a:avLst>
          </a:prstGeom>
          <a:solidFill>
            <a:srgbClr val="FFFFFF"/>
          </a:solidFill>
          <a:ln w="12700">
            <a:solidFill>
              <a:srgbClr val="FFFFFF"/>
            </a:solidFill>
            <a:prstDash val="solid"/>
          </a:ln>
          <a:effectLst>
            <a:outerShdw sx="100000" sy="100000" kx="0" ky="0" algn="bl" rotWithShape="0" blurRad="177800" dist="38100" dir="5400000">
              <a:srgbClr val="0F2A43">
                <a:alpha val="13000"/>
              </a:srgbClr>
            </a:outerShdw>
          </a:effectLst>
        </p:spPr>
      </p:sp>
      <p:sp>
        <p:nvSpPr>
          <p:cNvPr id="13" name="Shape 11"/>
          <p:cNvSpPr/>
          <p:nvPr/>
        </p:nvSpPr>
        <p:spPr>
          <a:xfrm>
            <a:off x="6382512" y="1929384"/>
            <a:ext cx="2139696" cy="384048"/>
          </a:xfrm>
          <a:prstGeom prst="roundRect">
            <a:avLst>
              <a:gd name="adj" fmla="val 50000"/>
            </a:avLst>
          </a:prstGeom>
          <a:solidFill>
            <a:srgbClr val="6F52A2"/>
          </a:solidFill>
          <a:ln w="12700">
            <a:solidFill>
              <a:srgbClr val="6F52A2"/>
            </a:solidFill>
            <a:prstDash val="solid"/>
          </a:ln>
        </p:spPr>
      </p:sp>
      <p:sp>
        <p:nvSpPr>
          <p:cNvPr id="14" name="Text 12"/>
          <p:cNvSpPr txBox="1"/>
          <p:nvPr/>
        </p:nvSpPr>
        <p:spPr>
          <a:xfrm>
            <a:off x="6382512" y="1929384"/>
            <a:ext cx="2139696" cy="38404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Partially Delivered</a:t>
            </a:r>
            <a:endParaRPr lang="en-US" sz="1050" dirty="0"/>
          </a:p>
        </p:txBody>
      </p:sp>
      <p:sp>
        <p:nvSpPr>
          <p:cNvPr id="15" name="Text 13"/>
          <p:cNvSpPr txBox="1"/>
          <p:nvPr/>
        </p:nvSpPr>
        <p:spPr>
          <a:xfrm>
            <a:off x="6382512" y="2468880"/>
            <a:ext cx="2194560" cy="685800"/>
          </a:xfrm>
          <a:prstGeom prst="rect">
            <a:avLst/>
          </a:prstGeom>
          <a:noFill/>
          <a:ln/>
        </p:spPr>
        <p:txBody>
          <a:bodyPr wrap="square" lIns="0" tIns="0" rIns="0" bIns="0" rtlCol="0" anchor="ctr"/>
          <a:lstStyle/>
          <a:p>
            <a:pPr indent="0" marL="0">
              <a:lnSpc>
                <a:spcPct val="110000"/>
              </a:lnSpc>
              <a:buNone/>
            </a:pPr>
            <a:r>
              <a:rPr lang="en-US" sz="1200" dirty="0">
                <a:solidFill>
                  <a:srgbClr val="6B7C8D"/>
                </a:solidFill>
                <a:latin typeface="Calibri" pitchFamily="34" charset="0"/>
                <a:ea typeface="Calibri" pitchFamily="34" charset="-122"/>
                <a:cs typeface="Calibri" pitchFamily="34" charset="-120"/>
              </a:rPr>
              <a:t>Some lines shipped</a:t>
            </a:r>
            <a:endParaRPr lang="en-US" sz="1200" dirty="0"/>
          </a:p>
        </p:txBody>
      </p:sp>
      <p:sp>
        <p:nvSpPr>
          <p:cNvPr id="16" name="Shape 14"/>
          <p:cNvSpPr/>
          <p:nvPr/>
        </p:nvSpPr>
        <p:spPr>
          <a:xfrm>
            <a:off x="8961120" y="1691640"/>
            <a:ext cx="2578608" cy="1645920"/>
          </a:xfrm>
          <a:prstGeom prst="roundRect">
            <a:avLst>
              <a:gd name="adj" fmla="val 5000"/>
            </a:avLst>
          </a:prstGeom>
          <a:solidFill>
            <a:srgbClr val="FFFFFF"/>
          </a:solidFill>
          <a:ln w="12700">
            <a:solidFill>
              <a:srgbClr val="FFFFFF"/>
            </a:solidFill>
            <a:prstDash val="solid"/>
          </a:ln>
          <a:effectLst>
            <a:outerShdw sx="100000" sy="100000" kx="0" ky="0" algn="bl" rotWithShape="0" blurRad="177800" dist="38100" dir="5400000">
              <a:srgbClr val="0F2A43">
                <a:alpha val="13000"/>
              </a:srgbClr>
            </a:outerShdw>
          </a:effectLst>
        </p:spPr>
      </p:sp>
      <p:sp>
        <p:nvSpPr>
          <p:cNvPr id="17" name="Shape 15"/>
          <p:cNvSpPr/>
          <p:nvPr/>
        </p:nvSpPr>
        <p:spPr>
          <a:xfrm>
            <a:off x="9180576" y="1929384"/>
            <a:ext cx="2139696" cy="384048"/>
          </a:xfrm>
          <a:prstGeom prst="roundRect">
            <a:avLst>
              <a:gd name="adj" fmla="val 50000"/>
            </a:avLst>
          </a:prstGeom>
          <a:solidFill>
            <a:srgbClr val="0F2A43"/>
          </a:solidFill>
          <a:ln w="12700">
            <a:solidFill>
              <a:srgbClr val="0F2A43"/>
            </a:solidFill>
            <a:prstDash val="solid"/>
          </a:ln>
        </p:spPr>
      </p:sp>
      <p:sp>
        <p:nvSpPr>
          <p:cNvPr id="18" name="Text 16"/>
          <p:cNvSpPr txBox="1"/>
          <p:nvPr/>
        </p:nvSpPr>
        <p:spPr>
          <a:xfrm>
            <a:off x="9180576" y="1929384"/>
            <a:ext cx="2139696" cy="38404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DO Created — Receive</a:t>
            </a:r>
            <a:endParaRPr lang="en-US" sz="1050" dirty="0"/>
          </a:p>
        </p:txBody>
      </p:sp>
      <p:sp>
        <p:nvSpPr>
          <p:cNvPr id="19" name="Text 17"/>
          <p:cNvSpPr txBox="1"/>
          <p:nvPr/>
        </p:nvSpPr>
        <p:spPr>
          <a:xfrm>
            <a:off x="9180576" y="2468880"/>
            <a:ext cx="2194560" cy="685800"/>
          </a:xfrm>
          <a:prstGeom prst="rect">
            <a:avLst/>
          </a:prstGeom>
          <a:noFill/>
          <a:ln/>
        </p:spPr>
        <p:txBody>
          <a:bodyPr wrap="square" lIns="0" tIns="0" rIns="0" bIns="0" rtlCol="0" anchor="ctr"/>
          <a:lstStyle/>
          <a:p>
            <a:pPr indent="0" marL="0">
              <a:lnSpc>
                <a:spcPct val="110000"/>
              </a:lnSpc>
              <a:buNone/>
            </a:pPr>
            <a:r>
              <a:rPr lang="en-US" sz="1200" dirty="0">
                <a:solidFill>
                  <a:srgbClr val="6B7C8D"/>
                </a:solidFill>
                <a:latin typeface="Calibri" pitchFamily="34" charset="0"/>
                <a:ea typeface="Calibri" pitchFamily="34" charset="-122"/>
                <a:cs typeface="Calibri" pitchFamily="34" charset="-120"/>
              </a:rPr>
              <a:t>Awaiting the employee</a:t>
            </a:r>
            <a:endParaRPr lang="en-US" sz="1200" dirty="0"/>
          </a:p>
        </p:txBody>
      </p:sp>
      <p:sp>
        <p:nvSpPr>
          <p:cNvPr id="20" name="Shape 18"/>
          <p:cNvSpPr/>
          <p:nvPr/>
        </p:nvSpPr>
        <p:spPr>
          <a:xfrm>
            <a:off x="566928" y="3611880"/>
            <a:ext cx="2578608" cy="1645920"/>
          </a:xfrm>
          <a:prstGeom prst="roundRect">
            <a:avLst>
              <a:gd name="adj" fmla="val 5000"/>
            </a:avLst>
          </a:prstGeom>
          <a:solidFill>
            <a:srgbClr val="FFFFFF"/>
          </a:solidFill>
          <a:ln w="12700">
            <a:solidFill>
              <a:srgbClr val="FFFFFF"/>
            </a:solidFill>
            <a:prstDash val="solid"/>
          </a:ln>
          <a:effectLst>
            <a:outerShdw sx="100000" sy="100000" kx="0" ky="0" algn="bl" rotWithShape="0" blurRad="177800" dist="38100" dir="5400000">
              <a:srgbClr val="0F2A43">
                <a:alpha val="13000"/>
              </a:srgbClr>
            </a:outerShdw>
          </a:effectLst>
        </p:spPr>
      </p:sp>
      <p:sp>
        <p:nvSpPr>
          <p:cNvPr id="21" name="Shape 19"/>
          <p:cNvSpPr/>
          <p:nvPr/>
        </p:nvSpPr>
        <p:spPr>
          <a:xfrm>
            <a:off x="786384" y="3849624"/>
            <a:ext cx="2139696" cy="384048"/>
          </a:xfrm>
          <a:prstGeom prst="roundRect">
            <a:avLst>
              <a:gd name="adj" fmla="val 50000"/>
            </a:avLst>
          </a:prstGeom>
          <a:solidFill>
            <a:srgbClr val="F4791F"/>
          </a:solidFill>
          <a:ln w="12700">
            <a:solidFill>
              <a:srgbClr val="F4791F"/>
            </a:solidFill>
            <a:prstDash val="solid"/>
          </a:ln>
        </p:spPr>
      </p:sp>
      <p:sp>
        <p:nvSpPr>
          <p:cNvPr id="22" name="Text 20"/>
          <p:cNvSpPr txBox="1"/>
          <p:nvPr/>
        </p:nvSpPr>
        <p:spPr>
          <a:xfrm>
            <a:off x="786384" y="3849624"/>
            <a:ext cx="2139696" cy="38404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Partially Received</a:t>
            </a:r>
            <a:endParaRPr lang="en-US" sz="1050" dirty="0"/>
          </a:p>
        </p:txBody>
      </p:sp>
      <p:sp>
        <p:nvSpPr>
          <p:cNvPr id="23" name="Text 21"/>
          <p:cNvSpPr txBox="1"/>
          <p:nvPr/>
        </p:nvSpPr>
        <p:spPr>
          <a:xfrm>
            <a:off x="786384" y="4389120"/>
            <a:ext cx="2194560" cy="685800"/>
          </a:xfrm>
          <a:prstGeom prst="rect">
            <a:avLst/>
          </a:prstGeom>
          <a:noFill/>
          <a:ln/>
        </p:spPr>
        <p:txBody>
          <a:bodyPr wrap="square" lIns="0" tIns="0" rIns="0" bIns="0" rtlCol="0" anchor="ctr"/>
          <a:lstStyle/>
          <a:p>
            <a:pPr indent="0" marL="0">
              <a:lnSpc>
                <a:spcPct val="110000"/>
              </a:lnSpc>
              <a:buNone/>
            </a:pPr>
            <a:r>
              <a:rPr lang="en-US" sz="1200" dirty="0">
                <a:solidFill>
                  <a:srgbClr val="6B7C8D"/>
                </a:solidFill>
                <a:latin typeface="Calibri" pitchFamily="34" charset="0"/>
                <a:ea typeface="Calibri" pitchFamily="34" charset="-122"/>
                <a:cs typeface="Calibri" pitchFamily="34" charset="-120"/>
              </a:rPr>
              <a:t>Some lines acknowledged</a:t>
            </a:r>
            <a:endParaRPr lang="en-US" sz="1200" dirty="0"/>
          </a:p>
        </p:txBody>
      </p:sp>
      <p:sp>
        <p:nvSpPr>
          <p:cNvPr id="24" name="Shape 22"/>
          <p:cNvSpPr/>
          <p:nvPr/>
        </p:nvSpPr>
        <p:spPr>
          <a:xfrm>
            <a:off x="3364992" y="3611880"/>
            <a:ext cx="2578608" cy="1645920"/>
          </a:xfrm>
          <a:prstGeom prst="roundRect">
            <a:avLst>
              <a:gd name="adj" fmla="val 5000"/>
            </a:avLst>
          </a:prstGeom>
          <a:solidFill>
            <a:srgbClr val="FFFFFF"/>
          </a:solidFill>
          <a:ln w="12700">
            <a:solidFill>
              <a:srgbClr val="FFFFFF"/>
            </a:solidFill>
            <a:prstDash val="solid"/>
          </a:ln>
          <a:effectLst>
            <a:outerShdw sx="100000" sy="100000" kx="0" ky="0" algn="bl" rotWithShape="0" blurRad="177800" dist="38100" dir="5400000">
              <a:srgbClr val="0F2A43">
                <a:alpha val="13000"/>
              </a:srgbClr>
            </a:outerShdw>
          </a:effectLst>
        </p:spPr>
      </p:sp>
      <p:sp>
        <p:nvSpPr>
          <p:cNvPr id="25" name="Shape 23"/>
          <p:cNvSpPr/>
          <p:nvPr/>
        </p:nvSpPr>
        <p:spPr>
          <a:xfrm>
            <a:off x="3584448" y="3849624"/>
            <a:ext cx="2139696" cy="384048"/>
          </a:xfrm>
          <a:prstGeom prst="roundRect">
            <a:avLst>
              <a:gd name="adj" fmla="val 50000"/>
            </a:avLst>
          </a:prstGeom>
          <a:solidFill>
            <a:srgbClr val="1E9E6A"/>
          </a:solidFill>
          <a:ln w="12700">
            <a:solidFill>
              <a:srgbClr val="1E9E6A"/>
            </a:solidFill>
            <a:prstDash val="solid"/>
          </a:ln>
        </p:spPr>
      </p:sp>
      <p:sp>
        <p:nvSpPr>
          <p:cNvPr id="26" name="Text 24"/>
          <p:cNvSpPr txBox="1"/>
          <p:nvPr/>
        </p:nvSpPr>
        <p:spPr>
          <a:xfrm>
            <a:off x="3584448" y="3849624"/>
            <a:ext cx="2139696" cy="38404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Order Complete</a:t>
            </a:r>
            <a:endParaRPr lang="en-US" sz="1050" dirty="0"/>
          </a:p>
        </p:txBody>
      </p:sp>
      <p:sp>
        <p:nvSpPr>
          <p:cNvPr id="27" name="Text 25"/>
          <p:cNvSpPr txBox="1"/>
          <p:nvPr/>
        </p:nvSpPr>
        <p:spPr>
          <a:xfrm>
            <a:off x="3584448" y="4389120"/>
            <a:ext cx="2194560" cy="685800"/>
          </a:xfrm>
          <a:prstGeom prst="rect">
            <a:avLst/>
          </a:prstGeom>
          <a:noFill/>
          <a:ln/>
        </p:spPr>
        <p:txBody>
          <a:bodyPr wrap="square" lIns="0" tIns="0" rIns="0" bIns="0" rtlCol="0" anchor="ctr"/>
          <a:lstStyle/>
          <a:p>
            <a:pPr indent="0" marL="0">
              <a:lnSpc>
                <a:spcPct val="110000"/>
              </a:lnSpc>
              <a:buNone/>
            </a:pPr>
            <a:r>
              <a:rPr lang="en-US" sz="1200" dirty="0">
                <a:solidFill>
                  <a:srgbClr val="6B7C8D"/>
                </a:solidFill>
                <a:latin typeface="Calibri" pitchFamily="34" charset="0"/>
                <a:ea typeface="Calibri" pitchFamily="34" charset="-122"/>
                <a:cs typeface="Calibri" pitchFamily="34" charset="-120"/>
              </a:rPr>
              <a:t>Delivered and acknowledged</a:t>
            </a:r>
            <a:endParaRPr lang="en-US" sz="1200" dirty="0"/>
          </a:p>
        </p:txBody>
      </p:sp>
      <p:sp>
        <p:nvSpPr>
          <p:cNvPr id="28" name="Shape 26"/>
          <p:cNvSpPr/>
          <p:nvPr/>
        </p:nvSpPr>
        <p:spPr>
          <a:xfrm>
            <a:off x="6163056" y="3611880"/>
            <a:ext cx="2578608" cy="1645920"/>
          </a:xfrm>
          <a:prstGeom prst="roundRect">
            <a:avLst>
              <a:gd name="adj" fmla="val 5000"/>
            </a:avLst>
          </a:prstGeom>
          <a:solidFill>
            <a:srgbClr val="FFFFFF"/>
          </a:solidFill>
          <a:ln w="12700">
            <a:solidFill>
              <a:srgbClr val="FFFFFF"/>
            </a:solidFill>
            <a:prstDash val="solid"/>
          </a:ln>
          <a:effectLst>
            <a:outerShdw sx="100000" sy="100000" kx="0" ky="0" algn="bl" rotWithShape="0" blurRad="177800" dist="38100" dir="5400000">
              <a:srgbClr val="0F2A43">
                <a:alpha val="13000"/>
              </a:srgbClr>
            </a:outerShdw>
          </a:effectLst>
        </p:spPr>
      </p:sp>
      <p:sp>
        <p:nvSpPr>
          <p:cNvPr id="29" name="Shape 27"/>
          <p:cNvSpPr/>
          <p:nvPr/>
        </p:nvSpPr>
        <p:spPr>
          <a:xfrm>
            <a:off x="6382512" y="3849624"/>
            <a:ext cx="2139696" cy="384048"/>
          </a:xfrm>
          <a:prstGeom prst="roundRect">
            <a:avLst>
              <a:gd name="adj" fmla="val 50000"/>
            </a:avLst>
          </a:prstGeom>
          <a:solidFill>
            <a:srgbClr val="D64545"/>
          </a:solidFill>
          <a:ln w="12700">
            <a:solidFill>
              <a:srgbClr val="D64545"/>
            </a:solidFill>
            <a:prstDash val="solid"/>
          </a:ln>
        </p:spPr>
      </p:sp>
      <p:sp>
        <p:nvSpPr>
          <p:cNvPr id="30" name="Text 28"/>
          <p:cNvSpPr txBox="1"/>
          <p:nvPr/>
        </p:nvSpPr>
        <p:spPr>
          <a:xfrm>
            <a:off x="6382512" y="3849624"/>
            <a:ext cx="2139696" cy="38404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Cancelled</a:t>
            </a:r>
            <a:endParaRPr lang="en-US" sz="1050" dirty="0"/>
          </a:p>
        </p:txBody>
      </p:sp>
      <p:sp>
        <p:nvSpPr>
          <p:cNvPr id="31" name="Text 29"/>
          <p:cNvSpPr txBox="1"/>
          <p:nvPr/>
        </p:nvSpPr>
        <p:spPr>
          <a:xfrm>
            <a:off x="6382512" y="4389120"/>
            <a:ext cx="2194560" cy="685800"/>
          </a:xfrm>
          <a:prstGeom prst="rect">
            <a:avLst/>
          </a:prstGeom>
          <a:noFill/>
          <a:ln/>
        </p:spPr>
        <p:txBody>
          <a:bodyPr wrap="square" lIns="0" tIns="0" rIns="0" bIns="0" rtlCol="0" anchor="ctr"/>
          <a:lstStyle/>
          <a:p>
            <a:pPr indent="0" marL="0">
              <a:lnSpc>
                <a:spcPct val="110000"/>
              </a:lnSpc>
              <a:buNone/>
            </a:pPr>
            <a:r>
              <a:rPr lang="en-US" sz="1200" dirty="0">
                <a:solidFill>
                  <a:srgbClr val="6B7C8D"/>
                </a:solidFill>
                <a:latin typeface="Calibri" pitchFamily="34" charset="0"/>
                <a:ea typeface="Calibri" pitchFamily="34" charset="-122"/>
                <a:cs typeface="Calibri" pitchFamily="34" charset="-120"/>
              </a:rPr>
              <a:t>By employee, store or timeout</a:t>
            </a:r>
            <a:endParaRPr lang="en-US" sz="1200" dirty="0"/>
          </a:p>
        </p:txBody>
      </p:sp>
      <p:sp>
        <p:nvSpPr>
          <p:cNvPr id="32" name="Shape 30"/>
          <p:cNvSpPr/>
          <p:nvPr/>
        </p:nvSpPr>
        <p:spPr>
          <a:xfrm>
            <a:off x="8961120" y="3611880"/>
            <a:ext cx="2578608" cy="1645920"/>
          </a:xfrm>
          <a:prstGeom prst="roundRect">
            <a:avLst>
              <a:gd name="adj" fmla="val 5000"/>
            </a:avLst>
          </a:prstGeom>
          <a:solidFill>
            <a:srgbClr val="FFFFFF"/>
          </a:solidFill>
          <a:ln w="12700">
            <a:solidFill>
              <a:srgbClr val="FFFFFF"/>
            </a:solidFill>
            <a:prstDash val="solid"/>
          </a:ln>
          <a:effectLst>
            <a:outerShdw sx="100000" sy="100000" kx="0" ky="0" algn="bl" rotWithShape="0" blurRad="177800" dist="38100" dir="5400000">
              <a:srgbClr val="0F2A43">
                <a:alpha val="13000"/>
              </a:srgbClr>
            </a:outerShdw>
          </a:effectLst>
        </p:spPr>
      </p:sp>
      <p:sp>
        <p:nvSpPr>
          <p:cNvPr id="33" name="Shape 31"/>
          <p:cNvSpPr/>
          <p:nvPr/>
        </p:nvSpPr>
        <p:spPr>
          <a:xfrm>
            <a:off x="9180576" y="3849624"/>
            <a:ext cx="2139696" cy="384048"/>
          </a:xfrm>
          <a:prstGeom prst="roundRect">
            <a:avLst>
              <a:gd name="adj" fmla="val 50000"/>
            </a:avLst>
          </a:prstGeom>
          <a:solidFill>
            <a:srgbClr val="D64545"/>
          </a:solidFill>
          <a:ln w="12700">
            <a:solidFill>
              <a:srgbClr val="D64545"/>
            </a:solidFill>
            <a:prstDash val="solid"/>
          </a:ln>
        </p:spPr>
      </p:sp>
      <p:sp>
        <p:nvSpPr>
          <p:cNvPr id="34" name="Text 32"/>
          <p:cNvSpPr txBox="1"/>
          <p:nvPr/>
        </p:nvSpPr>
        <p:spPr>
          <a:xfrm>
            <a:off x="9180576" y="3849624"/>
            <a:ext cx="2139696" cy="38404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Rejected</a:t>
            </a:r>
            <a:endParaRPr lang="en-US" sz="1050" dirty="0"/>
          </a:p>
        </p:txBody>
      </p:sp>
      <p:sp>
        <p:nvSpPr>
          <p:cNvPr id="35" name="Text 33"/>
          <p:cNvSpPr txBox="1"/>
          <p:nvPr/>
        </p:nvSpPr>
        <p:spPr>
          <a:xfrm>
            <a:off x="9180576" y="4389120"/>
            <a:ext cx="2194560" cy="685800"/>
          </a:xfrm>
          <a:prstGeom prst="rect">
            <a:avLst/>
          </a:prstGeom>
          <a:noFill/>
          <a:ln/>
        </p:spPr>
        <p:txBody>
          <a:bodyPr wrap="square" lIns="0" tIns="0" rIns="0" bIns="0" rtlCol="0" anchor="ctr"/>
          <a:lstStyle/>
          <a:p>
            <a:pPr indent="0" marL="0">
              <a:lnSpc>
                <a:spcPct val="110000"/>
              </a:lnSpc>
              <a:buNone/>
            </a:pPr>
            <a:r>
              <a:rPr lang="en-US" sz="1200" dirty="0">
                <a:solidFill>
                  <a:srgbClr val="6B7C8D"/>
                </a:solidFill>
                <a:latin typeface="Calibri" pitchFamily="34" charset="0"/>
                <a:ea typeface="Calibri" pitchFamily="34" charset="-122"/>
                <a:cs typeface="Calibri" pitchFamily="34" charset="-120"/>
              </a:rPr>
              <a:t>Turned down by EGA</a:t>
            </a:r>
            <a:endParaRPr lang="en-US" sz="1200" dirty="0"/>
          </a:p>
        </p:txBody>
      </p:sp>
      <p:sp>
        <p:nvSpPr>
          <p:cNvPr id="36" name="Text 34"/>
          <p:cNvSpPr txBox="1"/>
          <p:nvPr/>
        </p:nvSpPr>
        <p:spPr>
          <a:xfrm>
            <a:off x="566928" y="5760720"/>
            <a:ext cx="11064240" cy="365760"/>
          </a:xfrm>
          <a:prstGeom prst="rect">
            <a:avLst/>
          </a:prstGeom>
          <a:noFill/>
          <a:ln/>
        </p:spPr>
        <p:txBody>
          <a:bodyPr wrap="square" lIns="0" tIns="0" rIns="0" bIns="0" rtlCol="0" anchor="ctr"/>
          <a:lstStyle/>
          <a:p>
            <a:pPr indent="0" marL="0">
              <a:buNone/>
            </a:pPr>
            <a:r>
              <a:rPr lang="en-US" sz="1250" i="1" dirty="0">
                <a:solidFill>
                  <a:srgbClr val="6B7C8D"/>
                </a:solidFill>
                <a:latin typeface="Calibri" pitchFamily="34" charset="0"/>
                <a:ea typeface="Calibri" pitchFamily="34" charset="-122"/>
                <a:cs typeface="Calibri" pitchFamily="34" charset="-120"/>
              </a:rPr>
              <a:t>The employee, the approver and the store all read the same state — nobody has to telephone to ask where an order is.</a:t>
            </a:r>
            <a:endParaRPr lang="en-US" sz="12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F2A43"/>
        </a:solidFill>
      </p:bgPr>
    </p:bg>
    <p:spTree>
      <p:nvGrpSpPr>
        <p:cNvPr id="1" name=""/>
        <p:cNvGrpSpPr/>
        <p:nvPr/>
      </p:nvGrpSpPr>
      <p:grpSpPr>
        <a:xfrm>
          <a:off x="0" y="0"/>
          <a:ext cx="0" cy="0"/>
          <a:chOff x="0" y="0"/>
          <a:chExt cx="0" cy="0"/>
        </a:xfrm>
      </p:grpSpPr>
      <p:sp>
        <p:nvSpPr>
          <p:cNvPr id="2" name="Shape 0"/>
          <p:cNvSpPr/>
          <p:nvPr/>
        </p:nvSpPr>
        <p:spPr>
          <a:xfrm>
            <a:off x="9418320" y="-1463040"/>
            <a:ext cx="4937760" cy="4937760"/>
          </a:xfrm>
          <a:prstGeom prst="ellipse">
            <a:avLst/>
          </a:prstGeom>
          <a:solidFill>
            <a:srgbClr val="16385A"/>
          </a:solidFill>
          <a:ln w="12700">
            <a:solidFill>
              <a:srgbClr val="16385A"/>
            </a:solidFill>
            <a:prstDash val="solid"/>
          </a:ln>
        </p:spPr>
      </p:sp>
      <p:sp>
        <p:nvSpPr>
          <p:cNvPr id="3" name="Text 1"/>
          <p:cNvSpPr txBox="1"/>
          <p:nvPr/>
        </p:nvSpPr>
        <p:spPr>
          <a:xfrm>
            <a:off x="566928" y="2148840"/>
            <a:ext cx="1828800" cy="1005840"/>
          </a:xfrm>
          <a:prstGeom prst="rect">
            <a:avLst/>
          </a:prstGeom>
          <a:noFill/>
          <a:ln/>
        </p:spPr>
        <p:txBody>
          <a:bodyPr wrap="square" lIns="0" tIns="0" rIns="0" bIns="0" rtlCol="0" anchor="ctr"/>
          <a:lstStyle/>
          <a:p>
            <a:pPr indent="0" marL="0">
              <a:buNone/>
            </a:pPr>
            <a:r>
              <a:rPr lang="en-US" sz="5600" b="1" dirty="0">
                <a:solidFill>
                  <a:srgbClr val="F4791F"/>
                </a:solidFill>
                <a:latin typeface="Cambria" pitchFamily="34" charset="0"/>
                <a:ea typeface="Cambria" pitchFamily="34" charset="-122"/>
                <a:cs typeface="Cambria" pitchFamily="34" charset="-120"/>
              </a:rPr>
              <a:t>06</a:t>
            </a:r>
            <a:endParaRPr lang="en-US" sz="5600" dirty="0"/>
          </a:p>
        </p:txBody>
      </p:sp>
      <p:sp>
        <p:nvSpPr>
          <p:cNvPr id="4" name="Text 2"/>
          <p:cNvSpPr txBox="1"/>
          <p:nvPr/>
        </p:nvSpPr>
        <p:spPr>
          <a:xfrm>
            <a:off x="566928" y="3154680"/>
            <a:ext cx="9144000" cy="73152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Control and data</a:t>
            </a:r>
            <a:endParaRPr lang="en-US" sz="3800" dirty="0"/>
          </a:p>
        </p:txBody>
      </p:sp>
      <p:sp>
        <p:nvSpPr>
          <p:cNvPr id="5" name="Text 3"/>
          <p:cNvSpPr txBox="1"/>
          <p:nvPr/>
        </p:nvSpPr>
        <p:spPr>
          <a:xfrm>
            <a:off x="566928" y="3977640"/>
            <a:ext cx="8595360" cy="457200"/>
          </a:xfrm>
          <a:prstGeom prst="rect">
            <a:avLst/>
          </a:prstGeom>
          <a:noFill/>
          <a:ln/>
        </p:spPr>
        <p:txBody>
          <a:bodyPr wrap="square" lIns="0" tIns="0" rIns="0" bIns="0" rtlCol="0" anchor="ctr"/>
          <a:lstStyle/>
          <a:p>
            <a:pPr indent="0" marL="0">
              <a:buNone/>
            </a:pPr>
            <a:r>
              <a:rPr lang="en-US" sz="1500" dirty="0">
                <a:solidFill>
                  <a:srgbClr val="A9C3DA"/>
                </a:solidFill>
                <a:latin typeface="Calibri" pitchFamily="34" charset="0"/>
                <a:ea typeface="Calibri" pitchFamily="34" charset="-122"/>
                <a:cs typeface="Calibri" pitchFamily="34" charset="-120"/>
              </a:rPr>
              <a:t>What the administrator holds, and what is loaded today</a:t>
            </a:r>
            <a:endParaRPr lang="en-US" sz="15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2F5F9"/>
        </a:solidFill>
      </p:bgPr>
    </p:bg>
    <p:spTree>
      <p:nvGrpSpPr>
        <p:cNvPr id="1" name=""/>
        <p:cNvGrpSpPr/>
        <p:nvPr/>
      </p:nvGrpSpPr>
      <p:grpSpPr>
        <a:xfrm>
          <a:off x="0" y="0"/>
          <a:ext cx="0" cy="0"/>
          <a:chOff x="0" y="0"/>
          <a:chExt cx="0" cy="0"/>
        </a:xfrm>
      </p:grpSpPr>
      <p:sp>
        <p:nvSpPr>
          <p:cNvPr id="2" name="Text 0"/>
          <p:cNvSpPr txBox="1"/>
          <p:nvPr/>
        </p:nvSpPr>
        <p:spPr>
          <a:xfrm>
            <a:off x="566928" y="420624"/>
            <a:ext cx="10058400" cy="237744"/>
          </a:xfrm>
          <a:prstGeom prst="rect">
            <a:avLst/>
          </a:prstGeom>
          <a:noFill/>
          <a:ln/>
        </p:spPr>
        <p:txBody>
          <a:bodyPr wrap="square" lIns="0" tIns="0" rIns="0" bIns="0" rtlCol="0" anchor="ctr"/>
          <a:lstStyle/>
          <a:p>
            <a:pPr indent="0" marL="0">
              <a:buNone/>
            </a:pPr>
            <a:r>
              <a:rPr lang="en-US" sz="1100" b="1" spc="160" kern="0" dirty="0">
                <a:solidFill>
                  <a:srgbClr val="F4791F"/>
                </a:solidFill>
                <a:latin typeface="Calibri" pitchFamily="34" charset="0"/>
                <a:ea typeface="Calibri" pitchFamily="34" charset="-122"/>
                <a:cs typeface="Calibri" pitchFamily="34" charset="-120"/>
              </a:rPr>
              <a:t>ADMIN MODULE</a:t>
            </a:r>
            <a:endParaRPr lang="en-US" sz="1100" dirty="0"/>
          </a:p>
        </p:txBody>
      </p:sp>
      <p:sp>
        <p:nvSpPr>
          <p:cNvPr id="3" name="Text 1"/>
          <p:cNvSpPr txBox="1"/>
          <p:nvPr/>
        </p:nvSpPr>
        <p:spPr>
          <a:xfrm>
            <a:off x="566928" y="676656"/>
            <a:ext cx="11064240" cy="566928"/>
          </a:xfrm>
          <a:prstGeom prst="rect">
            <a:avLst/>
          </a:prstGeom>
          <a:noFill/>
          <a:ln/>
        </p:spPr>
        <p:txBody>
          <a:bodyPr wrap="square" lIns="0" tIns="0" rIns="0" bIns="0" rtlCol="0" anchor="ctr"/>
          <a:lstStyle/>
          <a:p>
            <a:pPr indent="0" marL="0">
              <a:buNone/>
            </a:pPr>
            <a:r>
              <a:rPr lang="en-US" sz="3200" b="1" dirty="0">
                <a:solidFill>
                  <a:srgbClr val="0F2A43"/>
                </a:solidFill>
                <a:latin typeface="Cambria" pitchFamily="34" charset="0"/>
                <a:ea typeface="Cambria" pitchFamily="34" charset="-122"/>
                <a:cs typeface="Cambria" pitchFamily="34" charset="-120"/>
              </a:rPr>
              <a:t>Ten master files, all editable</a:t>
            </a:r>
            <a:endParaRPr lang="en-US" sz="3200" dirty="0"/>
          </a:p>
        </p:txBody>
      </p:sp>
      <p:sp>
        <p:nvSpPr>
          <p:cNvPr id="4" name="Shape 2"/>
          <p:cNvSpPr/>
          <p:nvPr/>
        </p:nvSpPr>
        <p:spPr>
          <a:xfrm>
            <a:off x="1902284" y="1444752"/>
            <a:ext cx="8393529" cy="2139696"/>
          </a:xfrm>
          <a:prstGeom prst="roundRect">
            <a:avLst>
              <a:gd name="adj" fmla="val 2564"/>
            </a:avLst>
          </a:prstGeom>
          <a:solidFill>
            <a:srgbClr val="FFFFFF"/>
          </a:solidFill>
          <a:ln w="12700">
            <a:solidFill>
              <a:srgbClr val="DCE4EC"/>
            </a:solidFill>
            <a:prstDash val="solid"/>
          </a:ln>
          <a:effectLst>
            <a:outerShdw sx="100000" sy="100000" kx="0" ky="0" algn="bl" rotWithShape="0" blurRad="177800" dist="38100" dir="5400000">
              <a:srgbClr val="0F2A43">
                <a:alpha val="13000"/>
              </a:srgbClr>
            </a:outerShdw>
          </a:effectLst>
        </p:spPr>
      </p:sp>
      <p:pic>
        <p:nvPicPr>
          <p:cNvPr id="5" name="Image 0" descr="/tmp/deck/15-masters-crop.png">    </p:cNvPr>
          <p:cNvPicPr>
            <a:picLocks noChangeAspect="1"/>
          </p:cNvPicPr>
          <p:nvPr/>
        </p:nvPicPr>
        <p:blipFill>
          <a:blip r:embed="rId1"/>
          <a:stretch>
            <a:fillRect/>
          </a:stretch>
        </p:blipFill>
        <p:spPr>
          <a:xfrm>
            <a:off x="1966292" y="1508760"/>
            <a:ext cx="8265513" cy="2011680"/>
          </a:xfrm>
          <a:prstGeom prst="rect">
            <a:avLst/>
          </a:prstGeom>
        </p:spPr>
      </p:pic>
      <p:sp>
        <p:nvSpPr>
          <p:cNvPr id="6" name="Shape 3"/>
          <p:cNvSpPr/>
          <p:nvPr/>
        </p:nvSpPr>
        <p:spPr>
          <a:xfrm>
            <a:off x="566928" y="3886200"/>
            <a:ext cx="2057400" cy="868680"/>
          </a:xfrm>
          <a:prstGeom prst="roundRect">
            <a:avLst>
              <a:gd name="adj" fmla="val 7368"/>
            </a:avLst>
          </a:prstGeom>
          <a:solidFill>
            <a:srgbClr val="FFFFFF"/>
          </a:solidFill>
          <a:ln w="12700">
            <a:solidFill>
              <a:srgbClr val="DCE4EC"/>
            </a:solidFill>
            <a:prstDash val="solid"/>
          </a:ln>
        </p:spPr>
      </p:sp>
      <p:sp>
        <p:nvSpPr>
          <p:cNvPr id="7" name="Text 4"/>
          <p:cNvSpPr txBox="1"/>
          <p:nvPr/>
        </p:nvSpPr>
        <p:spPr>
          <a:xfrm>
            <a:off x="749808" y="4014216"/>
            <a:ext cx="1783080" cy="274320"/>
          </a:xfrm>
          <a:prstGeom prst="rect">
            <a:avLst/>
          </a:prstGeom>
          <a:noFill/>
          <a:ln/>
        </p:spPr>
        <p:txBody>
          <a:bodyPr wrap="square" lIns="0" tIns="0" rIns="0" bIns="0" rtlCol="0" anchor="ctr"/>
          <a:lstStyle/>
          <a:p>
            <a:pPr indent="0" marL="0">
              <a:buNone/>
            </a:pPr>
            <a:r>
              <a:rPr lang="en-US" sz="1300" b="1" dirty="0">
                <a:solidFill>
                  <a:srgbClr val="0F2A43"/>
                </a:solidFill>
                <a:latin typeface="Calibri" pitchFamily="34" charset="0"/>
                <a:ea typeface="Calibri" pitchFamily="34" charset="-122"/>
                <a:cs typeface="Calibri" pitchFamily="34" charset="-120"/>
              </a:rPr>
              <a:t>Customers</a:t>
            </a:r>
            <a:endParaRPr lang="en-US" sz="1300" dirty="0"/>
          </a:p>
        </p:txBody>
      </p:sp>
      <p:sp>
        <p:nvSpPr>
          <p:cNvPr id="8" name="Text 5"/>
          <p:cNvSpPr txBox="1"/>
          <p:nvPr/>
        </p:nvSpPr>
        <p:spPr>
          <a:xfrm>
            <a:off x="749808" y="4306824"/>
            <a:ext cx="1810512" cy="320040"/>
          </a:xfrm>
          <a:prstGeom prst="rect">
            <a:avLst/>
          </a:prstGeom>
          <a:noFill/>
          <a:ln/>
        </p:spPr>
        <p:txBody>
          <a:bodyPr wrap="square" lIns="0" tIns="0" rIns="0" bIns="0" rtlCol="0" anchor="ctr"/>
          <a:lstStyle/>
          <a:p>
            <a:pPr indent="0" marL="0">
              <a:buNone/>
            </a:pPr>
            <a:r>
              <a:rPr lang="en-US" sz="1050" dirty="0">
                <a:solidFill>
                  <a:srgbClr val="6B7C8D"/>
                </a:solidFill>
                <a:latin typeface="Calibri" pitchFamily="34" charset="0"/>
                <a:ea typeface="Calibri" pitchFamily="34" charset="-122"/>
                <a:cs typeface="Calibri" pitchFamily="34" charset="-120"/>
              </a:rPr>
              <a:t>EGA entities</a:t>
            </a:r>
            <a:endParaRPr lang="en-US" sz="1050" dirty="0"/>
          </a:p>
        </p:txBody>
      </p:sp>
      <p:sp>
        <p:nvSpPr>
          <p:cNvPr id="9" name="Shape 6"/>
          <p:cNvSpPr/>
          <p:nvPr/>
        </p:nvSpPr>
        <p:spPr>
          <a:xfrm>
            <a:off x="2807208" y="3886200"/>
            <a:ext cx="2057400" cy="868680"/>
          </a:xfrm>
          <a:prstGeom prst="roundRect">
            <a:avLst>
              <a:gd name="adj" fmla="val 7368"/>
            </a:avLst>
          </a:prstGeom>
          <a:solidFill>
            <a:srgbClr val="FFFFFF"/>
          </a:solidFill>
          <a:ln w="12700">
            <a:solidFill>
              <a:srgbClr val="DCE4EC"/>
            </a:solidFill>
            <a:prstDash val="solid"/>
          </a:ln>
        </p:spPr>
      </p:sp>
      <p:sp>
        <p:nvSpPr>
          <p:cNvPr id="10" name="Text 7"/>
          <p:cNvSpPr txBox="1"/>
          <p:nvPr/>
        </p:nvSpPr>
        <p:spPr>
          <a:xfrm>
            <a:off x="2990088" y="4014216"/>
            <a:ext cx="1783080" cy="274320"/>
          </a:xfrm>
          <a:prstGeom prst="rect">
            <a:avLst/>
          </a:prstGeom>
          <a:noFill/>
          <a:ln/>
        </p:spPr>
        <p:txBody>
          <a:bodyPr wrap="square" lIns="0" tIns="0" rIns="0" bIns="0" rtlCol="0" anchor="ctr"/>
          <a:lstStyle/>
          <a:p>
            <a:pPr indent="0" marL="0">
              <a:buNone/>
            </a:pPr>
            <a:r>
              <a:rPr lang="en-US" sz="1300" b="1" dirty="0">
                <a:solidFill>
                  <a:srgbClr val="0F2A43"/>
                </a:solidFill>
                <a:latin typeface="Calibri" pitchFamily="34" charset="0"/>
                <a:ea typeface="Calibri" pitchFamily="34" charset="-122"/>
                <a:cs typeface="Calibri" pitchFamily="34" charset="-120"/>
              </a:rPr>
              <a:t>Employees</a:t>
            </a:r>
            <a:endParaRPr lang="en-US" sz="1300" dirty="0"/>
          </a:p>
        </p:txBody>
      </p:sp>
      <p:sp>
        <p:nvSpPr>
          <p:cNvPr id="11" name="Text 8"/>
          <p:cNvSpPr txBox="1"/>
          <p:nvPr/>
        </p:nvSpPr>
        <p:spPr>
          <a:xfrm>
            <a:off x="2990088" y="4306824"/>
            <a:ext cx="1810512" cy="320040"/>
          </a:xfrm>
          <a:prstGeom prst="rect">
            <a:avLst/>
          </a:prstGeom>
          <a:noFill/>
          <a:ln/>
        </p:spPr>
        <p:txBody>
          <a:bodyPr wrap="square" lIns="0" tIns="0" rIns="0" bIns="0" rtlCol="0" anchor="ctr"/>
          <a:lstStyle/>
          <a:p>
            <a:pPr indent="0" marL="0">
              <a:buNone/>
            </a:pPr>
            <a:r>
              <a:rPr lang="en-US" sz="1050" dirty="0">
                <a:solidFill>
                  <a:srgbClr val="6B7C8D"/>
                </a:solidFill>
                <a:latin typeface="Calibri" pitchFamily="34" charset="0"/>
                <a:ea typeface="Calibri" pitchFamily="34" charset="-122"/>
                <a:cs typeface="Calibri" pitchFamily="34" charset="-120"/>
              </a:rPr>
              <a:t>who may register</a:t>
            </a:r>
            <a:endParaRPr lang="en-US" sz="1050" dirty="0"/>
          </a:p>
        </p:txBody>
      </p:sp>
      <p:sp>
        <p:nvSpPr>
          <p:cNvPr id="12" name="Shape 9"/>
          <p:cNvSpPr/>
          <p:nvPr/>
        </p:nvSpPr>
        <p:spPr>
          <a:xfrm>
            <a:off x="5047488" y="3886200"/>
            <a:ext cx="2057400" cy="868680"/>
          </a:xfrm>
          <a:prstGeom prst="roundRect">
            <a:avLst>
              <a:gd name="adj" fmla="val 7368"/>
            </a:avLst>
          </a:prstGeom>
          <a:solidFill>
            <a:srgbClr val="FFFFFF"/>
          </a:solidFill>
          <a:ln w="12700">
            <a:solidFill>
              <a:srgbClr val="DCE4EC"/>
            </a:solidFill>
            <a:prstDash val="solid"/>
          </a:ln>
        </p:spPr>
      </p:sp>
      <p:sp>
        <p:nvSpPr>
          <p:cNvPr id="13" name="Text 10"/>
          <p:cNvSpPr txBox="1"/>
          <p:nvPr/>
        </p:nvSpPr>
        <p:spPr>
          <a:xfrm>
            <a:off x="5230368" y="4014216"/>
            <a:ext cx="1783080" cy="274320"/>
          </a:xfrm>
          <a:prstGeom prst="rect">
            <a:avLst/>
          </a:prstGeom>
          <a:noFill/>
          <a:ln/>
        </p:spPr>
        <p:txBody>
          <a:bodyPr wrap="square" lIns="0" tIns="0" rIns="0" bIns="0" rtlCol="0" anchor="ctr"/>
          <a:lstStyle/>
          <a:p>
            <a:pPr indent="0" marL="0">
              <a:buNone/>
            </a:pPr>
            <a:r>
              <a:rPr lang="en-US" sz="1300" b="1" dirty="0">
                <a:solidFill>
                  <a:srgbClr val="0F2A43"/>
                </a:solidFill>
                <a:latin typeface="Calibri" pitchFamily="34" charset="0"/>
                <a:ea typeface="Calibri" pitchFamily="34" charset="-122"/>
                <a:cs typeface="Calibri" pitchFamily="34" charset="-120"/>
              </a:rPr>
              <a:t>Contracts</a:t>
            </a:r>
            <a:endParaRPr lang="en-US" sz="1300" dirty="0"/>
          </a:p>
        </p:txBody>
      </p:sp>
      <p:sp>
        <p:nvSpPr>
          <p:cNvPr id="14" name="Text 11"/>
          <p:cNvSpPr txBox="1"/>
          <p:nvPr/>
        </p:nvSpPr>
        <p:spPr>
          <a:xfrm>
            <a:off x="5230368" y="4306824"/>
            <a:ext cx="1810512" cy="320040"/>
          </a:xfrm>
          <a:prstGeom prst="rect">
            <a:avLst/>
          </a:prstGeom>
          <a:noFill/>
          <a:ln/>
        </p:spPr>
        <p:txBody>
          <a:bodyPr wrap="square" lIns="0" tIns="0" rIns="0" bIns="0" rtlCol="0" anchor="ctr"/>
          <a:lstStyle/>
          <a:p>
            <a:pPr indent="0" marL="0">
              <a:buNone/>
            </a:pPr>
            <a:r>
              <a:rPr lang="en-US" sz="1050" dirty="0">
                <a:solidFill>
                  <a:srgbClr val="6B7C8D"/>
                </a:solidFill>
                <a:latin typeface="Calibri" pitchFamily="34" charset="0"/>
                <a:ea typeface="Calibri" pitchFamily="34" charset="-122"/>
                <a:cs typeface="Calibri" pitchFamily="34" charset="-120"/>
              </a:rPr>
              <a:t>reference and value</a:t>
            </a:r>
            <a:endParaRPr lang="en-US" sz="1050" dirty="0"/>
          </a:p>
        </p:txBody>
      </p:sp>
      <p:sp>
        <p:nvSpPr>
          <p:cNvPr id="15" name="Shape 12"/>
          <p:cNvSpPr/>
          <p:nvPr/>
        </p:nvSpPr>
        <p:spPr>
          <a:xfrm>
            <a:off x="7287768" y="3886200"/>
            <a:ext cx="2057400" cy="868680"/>
          </a:xfrm>
          <a:prstGeom prst="roundRect">
            <a:avLst>
              <a:gd name="adj" fmla="val 7368"/>
            </a:avLst>
          </a:prstGeom>
          <a:solidFill>
            <a:srgbClr val="FFFFFF"/>
          </a:solidFill>
          <a:ln w="12700">
            <a:solidFill>
              <a:srgbClr val="DCE4EC"/>
            </a:solidFill>
            <a:prstDash val="solid"/>
          </a:ln>
        </p:spPr>
      </p:sp>
      <p:sp>
        <p:nvSpPr>
          <p:cNvPr id="16" name="Text 13"/>
          <p:cNvSpPr txBox="1"/>
          <p:nvPr/>
        </p:nvSpPr>
        <p:spPr>
          <a:xfrm>
            <a:off x="7470648" y="4014216"/>
            <a:ext cx="1783080" cy="274320"/>
          </a:xfrm>
          <a:prstGeom prst="rect">
            <a:avLst/>
          </a:prstGeom>
          <a:noFill/>
          <a:ln/>
        </p:spPr>
        <p:txBody>
          <a:bodyPr wrap="square" lIns="0" tIns="0" rIns="0" bIns="0" rtlCol="0" anchor="ctr"/>
          <a:lstStyle/>
          <a:p>
            <a:pPr indent="0" marL="0">
              <a:buNone/>
            </a:pPr>
            <a:r>
              <a:rPr lang="en-US" sz="1300" b="1" dirty="0">
                <a:solidFill>
                  <a:srgbClr val="0F2A43"/>
                </a:solidFill>
                <a:latin typeface="Calibri" pitchFamily="34" charset="0"/>
                <a:ea typeface="Calibri" pitchFamily="34" charset="-122"/>
                <a:cs typeface="Calibri" pitchFamily="34" charset="-120"/>
              </a:rPr>
              <a:t>Departments</a:t>
            </a:r>
            <a:endParaRPr lang="en-US" sz="1300" dirty="0"/>
          </a:p>
        </p:txBody>
      </p:sp>
      <p:sp>
        <p:nvSpPr>
          <p:cNvPr id="17" name="Text 14"/>
          <p:cNvSpPr txBox="1"/>
          <p:nvPr/>
        </p:nvSpPr>
        <p:spPr>
          <a:xfrm>
            <a:off x="7470648" y="4306824"/>
            <a:ext cx="1810512" cy="320040"/>
          </a:xfrm>
          <a:prstGeom prst="rect">
            <a:avLst/>
          </a:prstGeom>
          <a:noFill/>
          <a:ln/>
        </p:spPr>
        <p:txBody>
          <a:bodyPr wrap="square" lIns="0" tIns="0" rIns="0" bIns="0" rtlCol="0" anchor="ctr"/>
          <a:lstStyle/>
          <a:p>
            <a:pPr indent="0" marL="0">
              <a:buNone/>
            </a:pPr>
            <a:r>
              <a:rPr lang="en-US" sz="1050" dirty="0">
                <a:solidFill>
                  <a:srgbClr val="6B7C8D"/>
                </a:solidFill>
                <a:latin typeface="Calibri" pitchFamily="34" charset="0"/>
                <a:ea typeface="Calibri" pitchFamily="34" charset="-122"/>
                <a:cs typeface="Calibri" pitchFamily="34" charset="-120"/>
              </a:rPr>
              <a:t>EGA structure</a:t>
            </a:r>
            <a:endParaRPr lang="en-US" sz="1050" dirty="0"/>
          </a:p>
        </p:txBody>
      </p:sp>
      <p:sp>
        <p:nvSpPr>
          <p:cNvPr id="18" name="Shape 15"/>
          <p:cNvSpPr/>
          <p:nvPr/>
        </p:nvSpPr>
        <p:spPr>
          <a:xfrm>
            <a:off x="9528048" y="3886200"/>
            <a:ext cx="2057400" cy="868680"/>
          </a:xfrm>
          <a:prstGeom prst="roundRect">
            <a:avLst>
              <a:gd name="adj" fmla="val 7368"/>
            </a:avLst>
          </a:prstGeom>
          <a:solidFill>
            <a:srgbClr val="FFFFFF"/>
          </a:solidFill>
          <a:ln w="12700">
            <a:solidFill>
              <a:srgbClr val="DCE4EC"/>
            </a:solidFill>
            <a:prstDash val="solid"/>
          </a:ln>
        </p:spPr>
      </p:sp>
      <p:sp>
        <p:nvSpPr>
          <p:cNvPr id="19" name="Text 16"/>
          <p:cNvSpPr txBox="1"/>
          <p:nvPr/>
        </p:nvSpPr>
        <p:spPr>
          <a:xfrm>
            <a:off x="9710928" y="4014216"/>
            <a:ext cx="1783080" cy="274320"/>
          </a:xfrm>
          <a:prstGeom prst="rect">
            <a:avLst/>
          </a:prstGeom>
          <a:noFill/>
          <a:ln/>
        </p:spPr>
        <p:txBody>
          <a:bodyPr wrap="square" lIns="0" tIns="0" rIns="0" bIns="0" rtlCol="0" anchor="ctr"/>
          <a:lstStyle/>
          <a:p>
            <a:pPr indent="0" marL="0">
              <a:buNone/>
            </a:pPr>
            <a:r>
              <a:rPr lang="en-US" sz="1300" b="1" dirty="0">
                <a:solidFill>
                  <a:srgbClr val="0F2A43"/>
                </a:solidFill>
                <a:latin typeface="Calibri" pitchFamily="34" charset="0"/>
                <a:ea typeface="Calibri" pitchFamily="34" charset="-122"/>
                <a:cs typeface="Calibri" pitchFamily="34" charset="-120"/>
              </a:rPr>
              <a:t>Locations</a:t>
            </a:r>
            <a:endParaRPr lang="en-US" sz="1300" dirty="0"/>
          </a:p>
        </p:txBody>
      </p:sp>
      <p:sp>
        <p:nvSpPr>
          <p:cNvPr id="20" name="Text 17"/>
          <p:cNvSpPr txBox="1"/>
          <p:nvPr/>
        </p:nvSpPr>
        <p:spPr>
          <a:xfrm>
            <a:off x="9710928" y="4306824"/>
            <a:ext cx="1810512" cy="320040"/>
          </a:xfrm>
          <a:prstGeom prst="rect">
            <a:avLst/>
          </a:prstGeom>
          <a:noFill/>
          <a:ln/>
        </p:spPr>
        <p:txBody>
          <a:bodyPr wrap="square" lIns="0" tIns="0" rIns="0" bIns="0" rtlCol="0" anchor="ctr"/>
          <a:lstStyle/>
          <a:p>
            <a:pPr indent="0" marL="0">
              <a:buNone/>
            </a:pPr>
            <a:r>
              <a:rPr lang="en-US" sz="1050" dirty="0">
                <a:solidFill>
                  <a:srgbClr val="6B7C8D"/>
                </a:solidFill>
                <a:latin typeface="Calibri" pitchFamily="34" charset="0"/>
                <a:ea typeface="Calibri" pitchFamily="34" charset="-122"/>
                <a:cs typeface="Calibri" pitchFamily="34" charset="-120"/>
              </a:rPr>
              <a:t>sites</a:t>
            </a:r>
            <a:endParaRPr lang="en-US" sz="1050" dirty="0"/>
          </a:p>
        </p:txBody>
      </p:sp>
      <p:sp>
        <p:nvSpPr>
          <p:cNvPr id="21" name="Shape 18"/>
          <p:cNvSpPr/>
          <p:nvPr/>
        </p:nvSpPr>
        <p:spPr>
          <a:xfrm>
            <a:off x="566928" y="4937760"/>
            <a:ext cx="2057400" cy="868680"/>
          </a:xfrm>
          <a:prstGeom prst="roundRect">
            <a:avLst>
              <a:gd name="adj" fmla="val 7368"/>
            </a:avLst>
          </a:prstGeom>
          <a:solidFill>
            <a:srgbClr val="FFFFFF"/>
          </a:solidFill>
          <a:ln w="12700">
            <a:solidFill>
              <a:srgbClr val="DCE4EC"/>
            </a:solidFill>
            <a:prstDash val="solid"/>
          </a:ln>
        </p:spPr>
      </p:sp>
      <p:sp>
        <p:nvSpPr>
          <p:cNvPr id="22" name="Text 19"/>
          <p:cNvSpPr txBox="1"/>
          <p:nvPr/>
        </p:nvSpPr>
        <p:spPr>
          <a:xfrm>
            <a:off x="749808" y="5065776"/>
            <a:ext cx="1783080" cy="274320"/>
          </a:xfrm>
          <a:prstGeom prst="rect">
            <a:avLst/>
          </a:prstGeom>
          <a:noFill/>
          <a:ln/>
        </p:spPr>
        <p:txBody>
          <a:bodyPr wrap="square" lIns="0" tIns="0" rIns="0" bIns="0" rtlCol="0" anchor="ctr"/>
          <a:lstStyle/>
          <a:p>
            <a:pPr indent="0" marL="0">
              <a:buNone/>
            </a:pPr>
            <a:r>
              <a:rPr lang="en-US" sz="1300" b="1" dirty="0">
                <a:solidFill>
                  <a:srgbClr val="0F2A43"/>
                </a:solidFill>
                <a:latin typeface="Calibri" pitchFamily="34" charset="0"/>
                <a:ea typeface="Calibri" pitchFamily="34" charset="-122"/>
                <a:cs typeface="Calibri" pitchFamily="34" charset="-120"/>
              </a:rPr>
              <a:t>Divisions</a:t>
            </a:r>
            <a:endParaRPr lang="en-US" sz="1300" dirty="0"/>
          </a:p>
        </p:txBody>
      </p:sp>
      <p:sp>
        <p:nvSpPr>
          <p:cNvPr id="23" name="Text 20"/>
          <p:cNvSpPr txBox="1"/>
          <p:nvPr/>
        </p:nvSpPr>
        <p:spPr>
          <a:xfrm>
            <a:off x="749808" y="5358384"/>
            <a:ext cx="1810512" cy="320040"/>
          </a:xfrm>
          <a:prstGeom prst="rect">
            <a:avLst/>
          </a:prstGeom>
          <a:noFill/>
          <a:ln/>
        </p:spPr>
        <p:txBody>
          <a:bodyPr wrap="square" lIns="0" tIns="0" rIns="0" bIns="0" rtlCol="0" anchor="ctr"/>
          <a:lstStyle/>
          <a:p>
            <a:pPr indent="0" marL="0">
              <a:buNone/>
            </a:pPr>
            <a:r>
              <a:rPr lang="en-US" sz="1050" dirty="0">
                <a:solidFill>
                  <a:srgbClr val="6B7C8D"/>
                </a:solidFill>
                <a:latin typeface="Calibri" pitchFamily="34" charset="0"/>
                <a:ea typeface="Calibri" pitchFamily="34" charset="-122"/>
                <a:cs typeface="Calibri" pitchFamily="34" charset="-120"/>
              </a:rPr>
              <a:t>store grouping</a:t>
            </a:r>
            <a:endParaRPr lang="en-US" sz="1050" dirty="0"/>
          </a:p>
        </p:txBody>
      </p:sp>
      <p:sp>
        <p:nvSpPr>
          <p:cNvPr id="24" name="Shape 21"/>
          <p:cNvSpPr/>
          <p:nvPr/>
        </p:nvSpPr>
        <p:spPr>
          <a:xfrm>
            <a:off x="2807208" y="4937760"/>
            <a:ext cx="2057400" cy="868680"/>
          </a:xfrm>
          <a:prstGeom prst="roundRect">
            <a:avLst>
              <a:gd name="adj" fmla="val 7368"/>
            </a:avLst>
          </a:prstGeom>
          <a:solidFill>
            <a:srgbClr val="FFFFFF"/>
          </a:solidFill>
          <a:ln w="12700">
            <a:solidFill>
              <a:srgbClr val="DCE4EC"/>
            </a:solidFill>
            <a:prstDash val="solid"/>
          </a:ln>
        </p:spPr>
      </p:sp>
      <p:sp>
        <p:nvSpPr>
          <p:cNvPr id="25" name="Text 22"/>
          <p:cNvSpPr txBox="1"/>
          <p:nvPr/>
        </p:nvSpPr>
        <p:spPr>
          <a:xfrm>
            <a:off x="2990088" y="5065776"/>
            <a:ext cx="1783080" cy="274320"/>
          </a:xfrm>
          <a:prstGeom prst="rect">
            <a:avLst/>
          </a:prstGeom>
          <a:noFill/>
          <a:ln/>
        </p:spPr>
        <p:txBody>
          <a:bodyPr wrap="square" lIns="0" tIns="0" rIns="0" bIns="0" rtlCol="0" anchor="ctr"/>
          <a:lstStyle/>
          <a:p>
            <a:pPr indent="0" marL="0">
              <a:buNone/>
            </a:pPr>
            <a:r>
              <a:rPr lang="en-US" sz="1300" b="1" dirty="0">
                <a:solidFill>
                  <a:srgbClr val="0F2A43"/>
                </a:solidFill>
                <a:latin typeface="Calibri" pitchFamily="34" charset="0"/>
                <a:ea typeface="Calibri" pitchFamily="34" charset="-122"/>
                <a:cs typeface="Calibri" pitchFamily="34" charset="-120"/>
              </a:rPr>
              <a:t>Stores</a:t>
            </a:r>
            <a:endParaRPr lang="en-US" sz="1300" dirty="0"/>
          </a:p>
        </p:txBody>
      </p:sp>
      <p:sp>
        <p:nvSpPr>
          <p:cNvPr id="26" name="Text 23"/>
          <p:cNvSpPr txBox="1"/>
          <p:nvPr/>
        </p:nvSpPr>
        <p:spPr>
          <a:xfrm>
            <a:off x="2990088" y="5358384"/>
            <a:ext cx="1810512" cy="320040"/>
          </a:xfrm>
          <a:prstGeom prst="rect">
            <a:avLst/>
          </a:prstGeom>
          <a:noFill/>
          <a:ln/>
        </p:spPr>
        <p:txBody>
          <a:bodyPr wrap="square" lIns="0" tIns="0" rIns="0" bIns="0" rtlCol="0" anchor="ctr"/>
          <a:lstStyle/>
          <a:p>
            <a:pPr indent="0" marL="0">
              <a:buNone/>
            </a:pPr>
            <a:r>
              <a:rPr lang="en-US" sz="1050" dirty="0">
                <a:solidFill>
                  <a:srgbClr val="6B7C8D"/>
                </a:solidFill>
                <a:latin typeface="Calibri" pitchFamily="34" charset="0"/>
                <a:ea typeface="Calibri" pitchFamily="34" charset="-122"/>
                <a:cs typeface="Calibri" pitchFamily="34" charset="-120"/>
              </a:rPr>
              <a:t>main and reservation</a:t>
            </a:r>
            <a:endParaRPr lang="en-US" sz="1050" dirty="0"/>
          </a:p>
        </p:txBody>
      </p:sp>
      <p:sp>
        <p:nvSpPr>
          <p:cNvPr id="27" name="Shape 24"/>
          <p:cNvSpPr/>
          <p:nvPr/>
        </p:nvSpPr>
        <p:spPr>
          <a:xfrm>
            <a:off x="5047488" y="4937760"/>
            <a:ext cx="2057400" cy="868680"/>
          </a:xfrm>
          <a:prstGeom prst="roundRect">
            <a:avLst>
              <a:gd name="adj" fmla="val 7368"/>
            </a:avLst>
          </a:prstGeom>
          <a:solidFill>
            <a:srgbClr val="FFFFFF"/>
          </a:solidFill>
          <a:ln w="12700">
            <a:solidFill>
              <a:srgbClr val="DCE4EC"/>
            </a:solidFill>
            <a:prstDash val="solid"/>
          </a:ln>
        </p:spPr>
      </p:sp>
      <p:sp>
        <p:nvSpPr>
          <p:cNvPr id="28" name="Text 25"/>
          <p:cNvSpPr txBox="1"/>
          <p:nvPr/>
        </p:nvSpPr>
        <p:spPr>
          <a:xfrm>
            <a:off x="5230368" y="5065776"/>
            <a:ext cx="1783080" cy="274320"/>
          </a:xfrm>
          <a:prstGeom prst="rect">
            <a:avLst/>
          </a:prstGeom>
          <a:noFill/>
          <a:ln/>
        </p:spPr>
        <p:txBody>
          <a:bodyPr wrap="square" lIns="0" tIns="0" rIns="0" bIns="0" rtlCol="0" anchor="ctr"/>
          <a:lstStyle/>
          <a:p>
            <a:pPr indent="0" marL="0">
              <a:buNone/>
            </a:pPr>
            <a:r>
              <a:rPr lang="en-US" sz="1300" b="1" dirty="0">
                <a:solidFill>
                  <a:srgbClr val="0F2A43"/>
                </a:solidFill>
                <a:latin typeface="Calibri" pitchFamily="34" charset="0"/>
                <a:ea typeface="Calibri" pitchFamily="34" charset="-122"/>
                <a:cs typeface="Calibri" pitchFamily="34" charset="-120"/>
              </a:rPr>
              <a:t>UOM</a:t>
            </a:r>
            <a:endParaRPr lang="en-US" sz="1300" dirty="0"/>
          </a:p>
        </p:txBody>
      </p:sp>
      <p:sp>
        <p:nvSpPr>
          <p:cNvPr id="29" name="Text 26"/>
          <p:cNvSpPr txBox="1"/>
          <p:nvPr/>
        </p:nvSpPr>
        <p:spPr>
          <a:xfrm>
            <a:off x="5230368" y="5358384"/>
            <a:ext cx="1810512" cy="320040"/>
          </a:xfrm>
          <a:prstGeom prst="rect">
            <a:avLst/>
          </a:prstGeom>
          <a:noFill/>
          <a:ln/>
        </p:spPr>
        <p:txBody>
          <a:bodyPr wrap="square" lIns="0" tIns="0" rIns="0" bIns="0" rtlCol="0" anchor="ctr"/>
          <a:lstStyle/>
          <a:p>
            <a:pPr indent="0" marL="0">
              <a:buNone/>
            </a:pPr>
            <a:r>
              <a:rPr lang="en-US" sz="1050" dirty="0">
                <a:solidFill>
                  <a:srgbClr val="6B7C8D"/>
                </a:solidFill>
                <a:latin typeface="Calibri" pitchFamily="34" charset="0"/>
                <a:ea typeface="Calibri" pitchFamily="34" charset="-122"/>
                <a:cs typeface="Calibri" pitchFamily="34" charset="-120"/>
              </a:rPr>
              <a:t>units of measure</a:t>
            </a:r>
            <a:endParaRPr lang="en-US" sz="1050" dirty="0"/>
          </a:p>
        </p:txBody>
      </p:sp>
      <p:sp>
        <p:nvSpPr>
          <p:cNvPr id="30" name="Shape 27"/>
          <p:cNvSpPr/>
          <p:nvPr/>
        </p:nvSpPr>
        <p:spPr>
          <a:xfrm>
            <a:off x="7287768" y="4937760"/>
            <a:ext cx="2057400" cy="868680"/>
          </a:xfrm>
          <a:prstGeom prst="roundRect">
            <a:avLst>
              <a:gd name="adj" fmla="val 7368"/>
            </a:avLst>
          </a:prstGeom>
          <a:solidFill>
            <a:srgbClr val="FFFFFF"/>
          </a:solidFill>
          <a:ln w="12700">
            <a:solidFill>
              <a:srgbClr val="DCE4EC"/>
            </a:solidFill>
            <a:prstDash val="solid"/>
          </a:ln>
        </p:spPr>
      </p:sp>
      <p:sp>
        <p:nvSpPr>
          <p:cNvPr id="31" name="Text 28"/>
          <p:cNvSpPr txBox="1"/>
          <p:nvPr/>
        </p:nvSpPr>
        <p:spPr>
          <a:xfrm>
            <a:off x="7470648" y="5065776"/>
            <a:ext cx="1783080" cy="274320"/>
          </a:xfrm>
          <a:prstGeom prst="rect">
            <a:avLst/>
          </a:prstGeom>
          <a:noFill/>
          <a:ln/>
        </p:spPr>
        <p:txBody>
          <a:bodyPr wrap="square" lIns="0" tIns="0" rIns="0" bIns="0" rtlCol="0" anchor="ctr"/>
          <a:lstStyle/>
          <a:p>
            <a:pPr indent="0" marL="0">
              <a:buNone/>
            </a:pPr>
            <a:r>
              <a:rPr lang="en-US" sz="1300" b="1" dirty="0">
                <a:solidFill>
                  <a:srgbClr val="0F2A43"/>
                </a:solidFill>
                <a:latin typeface="Calibri" pitchFamily="34" charset="0"/>
                <a:ea typeface="Calibri" pitchFamily="34" charset="-122"/>
                <a:cs typeface="Calibri" pitchFamily="34" charset="-120"/>
              </a:rPr>
              <a:t>Items</a:t>
            </a:r>
            <a:endParaRPr lang="en-US" sz="1300" dirty="0"/>
          </a:p>
        </p:txBody>
      </p:sp>
      <p:sp>
        <p:nvSpPr>
          <p:cNvPr id="32" name="Text 29"/>
          <p:cNvSpPr txBox="1"/>
          <p:nvPr/>
        </p:nvSpPr>
        <p:spPr>
          <a:xfrm>
            <a:off x="7470648" y="5358384"/>
            <a:ext cx="1810512" cy="320040"/>
          </a:xfrm>
          <a:prstGeom prst="rect">
            <a:avLst/>
          </a:prstGeom>
          <a:noFill/>
          <a:ln/>
        </p:spPr>
        <p:txBody>
          <a:bodyPr wrap="square" lIns="0" tIns="0" rIns="0" bIns="0" rtlCol="0" anchor="ctr"/>
          <a:lstStyle/>
          <a:p>
            <a:pPr indent="0" marL="0">
              <a:buNone/>
            </a:pPr>
            <a:r>
              <a:rPr lang="en-US" sz="1050" dirty="0">
                <a:solidFill>
                  <a:srgbClr val="6B7C8D"/>
                </a:solidFill>
                <a:latin typeface="Calibri" pitchFamily="34" charset="0"/>
                <a:ea typeface="Calibri" pitchFamily="34" charset="-122"/>
                <a:cs typeface="Calibri" pitchFamily="34" charset="-120"/>
              </a:rPr>
              <a:t>the PPE catalogue</a:t>
            </a:r>
            <a:endParaRPr lang="en-US" sz="1050" dirty="0"/>
          </a:p>
        </p:txBody>
      </p:sp>
      <p:sp>
        <p:nvSpPr>
          <p:cNvPr id="33" name="Shape 30"/>
          <p:cNvSpPr/>
          <p:nvPr/>
        </p:nvSpPr>
        <p:spPr>
          <a:xfrm>
            <a:off x="9528048" y="4937760"/>
            <a:ext cx="2057400" cy="868680"/>
          </a:xfrm>
          <a:prstGeom prst="roundRect">
            <a:avLst>
              <a:gd name="adj" fmla="val 7368"/>
            </a:avLst>
          </a:prstGeom>
          <a:solidFill>
            <a:srgbClr val="FFFFFF"/>
          </a:solidFill>
          <a:ln w="12700">
            <a:solidFill>
              <a:srgbClr val="DCE4EC"/>
            </a:solidFill>
            <a:prstDash val="solid"/>
          </a:ln>
        </p:spPr>
      </p:sp>
      <p:sp>
        <p:nvSpPr>
          <p:cNvPr id="34" name="Text 31"/>
          <p:cNvSpPr txBox="1"/>
          <p:nvPr/>
        </p:nvSpPr>
        <p:spPr>
          <a:xfrm>
            <a:off x="9710928" y="5065776"/>
            <a:ext cx="1783080" cy="274320"/>
          </a:xfrm>
          <a:prstGeom prst="rect">
            <a:avLst/>
          </a:prstGeom>
          <a:noFill/>
          <a:ln/>
        </p:spPr>
        <p:txBody>
          <a:bodyPr wrap="square" lIns="0" tIns="0" rIns="0" bIns="0" rtlCol="0" anchor="ctr"/>
          <a:lstStyle/>
          <a:p>
            <a:pPr indent="0" marL="0">
              <a:buNone/>
            </a:pPr>
            <a:r>
              <a:rPr lang="en-US" sz="1300" b="1" dirty="0">
                <a:solidFill>
                  <a:srgbClr val="0F2A43"/>
                </a:solidFill>
                <a:latin typeface="Calibri" pitchFamily="34" charset="0"/>
                <a:ea typeface="Calibri" pitchFamily="34" charset="-122"/>
                <a:cs typeface="Calibri" pitchFamily="34" charset="-120"/>
              </a:rPr>
              <a:t>Price Lists</a:t>
            </a:r>
            <a:endParaRPr lang="en-US" sz="1300" dirty="0"/>
          </a:p>
        </p:txBody>
      </p:sp>
      <p:sp>
        <p:nvSpPr>
          <p:cNvPr id="35" name="Text 32"/>
          <p:cNvSpPr txBox="1"/>
          <p:nvPr/>
        </p:nvSpPr>
        <p:spPr>
          <a:xfrm>
            <a:off x="9710928" y="5358384"/>
            <a:ext cx="1810512" cy="320040"/>
          </a:xfrm>
          <a:prstGeom prst="rect">
            <a:avLst/>
          </a:prstGeom>
          <a:noFill/>
          <a:ln/>
        </p:spPr>
        <p:txBody>
          <a:bodyPr wrap="square" lIns="0" tIns="0" rIns="0" bIns="0" rtlCol="0" anchor="ctr"/>
          <a:lstStyle/>
          <a:p>
            <a:pPr indent="0" marL="0">
              <a:buNone/>
            </a:pPr>
            <a:r>
              <a:rPr lang="en-US" sz="1050" dirty="0">
                <a:solidFill>
                  <a:srgbClr val="6B7C8D"/>
                </a:solidFill>
                <a:latin typeface="Calibri" pitchFamily="34" charset="0"/>
                <a:ea typeface="Calibri" pitchFamily="34" charset="-122"/>
                <a:cs typeface="Calibri" pitchFamily="34" charset="-120"/>
              </a:rPr>
              <a:t>allocations and prices</a:t>
            </a:r>
            <a:endParaRPr lang="en-US" sz="1050" dirty="0"/>
          </a:p>
        </p:txBody>
      </p:sp>
      <p:sp>
        <p:nvSpPr>
          <p:cNvPr id="36" name="Text 33"/>
          <p:cNvSpPr txBox="1"/>
          <p:nvPr/>
        </p:nvSpPr>
        <p:spPr>
          <a:xfrm>
            <a:off x="566928" y="6080760"/>
            <a:ext cx="11064240" cy="365760"/>
          </a:xfrm>
          <a:prstGeom prst="rect">
            <a:avLst/>
          </a:prstGeom>
          <a:noFill/>
          <a:ln/>
        </p:spPr>
        <p:txBody>
          <a:bodyPr wrap="square" lIns="0" tIns="0" rIns="0" bIns="0" rtlCol="0" anchor="ctr"/>
          <a:lstStyle/>
          <a:p>
            <a:pPr indent="0" marL="0">
              <a:buNone/>
            </a:pPr>
            <a:r>
              <a:rPr lang="en-US" sz="1200" i="1" dirty="0">
                <a:solidFill>
                  <a:srgbClr val="6B7C8D"/>
                </a:solidFill>
                <a:latin typeface="Calibri" pitchFamily="34" charset="0"/>
                <a:ea typeface="Calibri" pitchFamily="34" charset="-122"/>
                <a:cs typeface="Calibri" pitchFamily="34" charset="-120"/>
              </a:rPr>
              <a:t>Items carry their own group and category, so the shopping tabs follow the catalogue without a separate master to maintain.</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2F5F9"/>
        </a:solidFill>
      </p:bgPr>
    </p:bg>
    <p:spTree>
      <p:nvGrpSpPr>
        <p:cNvPr id="1" name=""/>
        <p:cNvGrpSpPr/>
        <p:nvPr/>
      </p:nvGrpSpPr>
      <p:grpSpPr>
        <a:xfrm>
          <a:off x="0" y="0"/>
          <a:ext cx="0" cy="0"/>
          <a:chOff x="0" y="0"/>
          <a:chExt cx="0" cy="0"/>
        </a:xfrm>
      </p:grpSpPr>
      <p:sp>
        <p:nvSpPr>
          <p:cNvPr id="2" name="Text 0"/>
          <p:cNvSpPr txBox="1"/>
          <p:nvPr/>
        </p:nvSpPr>
        <p:spPr>
          <a:xfrm>
            <a:off x="566928" y="420624"/>
            <a:ext cx="10058400" cy="237744"/>
          </a:xfrm>
          <a:prstGeom prst="rect">
            <a:avLst/>
          </a:prstGeom>
          <a:noFill/>
          <a:ln/>
        </p:spPr>
        <p:txBody>
          <a:bodyPr wrap="square" lIns="0" tIns="0" rIns="0" bIns="0" rtlCol="0" anchor="ctr"/>
          <a:lstStyle/>
          <a:p>
            <a:pPr indent="0" marL="0">
              <a:buNone/>
            </a:pPr>
            <a:r>
              <a:rPr lang="en-US" sz="1100" b="1" spc="160" kern="0" dirty="0">
                <a:solidFill>
                  <a:srgbClr val="F4791F"/>
                </a:solidFill>
                <a:latin typeface="Calibri" pitchFamily="34" charset="0"/>
                <a:ea typeface="Calibri" pitchFamily="34" charset="-122"/>
                <a:cs typeface="Calibri" pitchFamily="34" charset="-120"/>
              </a:rPr>
              <a:t>PRICE LISTS</a:t>
            </a:r>
            <a:endParaRPr lang="en-US" sz="1100" dirty="0"/>
          </a:p>
        </p:txBody>
      </p:sp>
      <p:sp>
        <p:nvSpPr>
          <p:cNvPr id="3" name="Text 1"/>
          <p:cNvSpPr txBox="1"/>
          <p:nvPr/>
        </p:nvSpPr>
        <p:spPr>
          <a:xfrm>
            <a:off x="566928" y="676656"/>
            <a:ext cx="11064240" cy="566928"/>
          </a:xfrm>
          <a:prstGeom prst="rect">
            <a:avLst/>
          </a:prstGeom>
          <a:noFill/>
          <a:ln/>
        </p:spPr>
        <p:txBody>
          <a:bodyPr wrap="square" lIns="0" tIns="0" rIns="0" bIns="0" rtlCol="0" anchor="ctr"/>
          <a:lstStyle/>
          <a:p>
            <a:pPr indent="0" marL="0">
              <a:buNone/>
            </a:pPr>
            <a:r>
              <a:rPr lang="en-US" sz="3200" b="1" dirty="0">
                <a:solidFill>
                  <a:srgbClr val="0F2A43"/>
                </a:solidFill>
                <a:latin typeface="Cambria" pitchFamily="34" charset="0"/>
                <a:ea typeface="Cambria" pitchFamily="34" charset="-122"/>
                <a:cs typeface="Cambria" pitchFamily="34" charset="-120"/>
              </a:rPr>
              <a:t>Where the allocation is set</a:t>
            </a:r>
            <a:endParaRPr lang="en-US" sz="3200" dirty="0"/>
          </a:p>
        </p:txBody>
      </p:sp>
      <p:sp>
        <p:nvSpPr>
          <p:cNvPr id="4" name="Shape 2"/>
          <p:cNvSpPr/>
          <p:nvPr/>
        </p:nvSpPr>
        <p:spPr>
          <a:xfrm>
            <a:off x="5971032" y="1883933"/>
            <a:ext cx="5751576" cy="3766790"/>
          </a:xfrm>
          <a:prstGeom prst="roundRect">
            <a:avLst>
              <a:gd name="adj" fmla="val 1457"/>
            </a:avLst>
          </a:prstGeom>
          <a:solidFill>
            <a:srgbClr val="FFFFFF"/>
          </a:solidFill>
          <a:ln w="12700">
            <a:solidFill>
              <a:srgbClr val="DCE4EC"/>
            </a:solidFill>
            <a:prstDash val="solid"/>
          </a:ln>
          <a:effectLst>
            <a:outerShdw sx="100000" sy="100000" kx="0" ky="0" algn="bl" rotWithShape="0" blurRad="177800" dist="38100" dir="5400000">
              <a:srgbClr val="0F2A43">
                <a:alpha val="13000"/>
              </a:srgbClr>
            </a:outerShdw>
          </a:effectLst>
        </p:spPr>
      </p:sp>
      <p:pic>
        <p:nvPicPr>
          <p:cNvPr id="5" name="Image 0" descr="/tmp/deck/17-price-lists-crop.png">    </p:cNvPr>
          <p:cNvPicPr>
            <a:picLocks noChangeAspect="1"/>
          </p:cNvPicPr>
          <p:nvPr/>
        </p:nvPicPr>
        <p:blipFill>
          <a:blip r:embed="rId1"/>
          <a:stretch>
            <a:fillRect/>
          </a:stretch>
        </p:blipFill>
        <p:spPr>
          <a:xfrm>
            <a:off x="6035040" y="1947941"/>
            <a:ext cx="5623560" cy="3638774"/>
          </a:xfrm>
          <a:prstGeom prst="rect">
            <a:avLst/>
          </a:prstGeom>
        </p:spPr>
      </p:pic>
      <p:sp>
        <p:nvSpPr>
          <p:cNvPr id="6" name="Text 3"/>
          <p:cNvSpPr txBox="1"/>
          <p:nvPr/>
        </p:nvSpPr>
        <p:spPr>
          <a:xfrm>
            <a:off x="566928" y="1600200"/>
            <a:ext cx="5166360" cy="3657600"/>
          </a:xfrm>
          <a:prstGeom prst="rect">
            <a:avLst/>
          </a:prstGeom>
          <a:noFill/>
          <a:ln/>
        </p:spPr>
        <p:txBody>
          <a:bodyPr wrap="square" lIns="0" tIns="0" rIns="0" bIns="0" rtlCol="0" anchor="t"/>
          <a:lstStyle/>
          <a:p>
            <a:pPr marL="342900" indent="-342900">
              <a:lnSpc>
                <a:spcPct val="115000"/>
              </a:lnSpc>
              <a:spcAft>
                <a:spcPts val="700"/>
              </a:spcAft>
              <a:buSzPct val="100000"/>
              <a:buChar char="•"/>
            </a:pPr>
            <a:r>
              <a:rPr lang="en-US" sz="1350" dirty="0">
                <a:solidFill>
                  <a:srgbClr val="1C2B3A"/>
                </a:solidFill>
                <a:latin typeface="Calibri" pitchFamily="34" charset="0"/>
                <a:ea typeface="Calibri" pitchFamily="34" charset="-122"/>
                <a:cs typeface="Calibri" pitchFamily="34" charset="-120"/>
              </a:rPr>
              <a:t>Each price list belongs to a contract and carries validity dates and a delivery period.</a:t>
            </a:r>
            <a:endParaRPr lang="en-US" sz="1350" dirty="0"/>
          </a:p>
          <a:p>
            <a:pPr marL="342900" indent="-342900">
              <a:lnSpc>
                <a:spcPct val="115000"/>
              </a:lnSpc>
              <a:spcAft>
                <a:spcPts val="700"/>
              </a:spcAft>
              <a:buSzPct val="100000"/>
              <a:buChar char="•"/>
            </a:pPr>
            <a:r>
              <a:rPr lang="en-US" sz="1350" dirty="0">
                <a:solidFill>
                  <a:srgbClr val="1C2B3A"/>
                </a:solidFill>
                <a:latin typeface="Calibri" pitchFamily="34" charset="0"/>
                <a:ea typeface="Calibri" pitchFamily="34" charset="-122"/>
                <a:cs typeface="Calibri" pitchFamily="34" charset="-120"/>
              </a:rPr>
              <a:t>Every line sets the allocated quantity and the unit price for one item — with its size or colour variants.</a:t>
            </a:r>
            <a:endParaRPr lang="en-US" sz="1350" dirty="0"/>
          </a:p>
          <a:p>
            <a:pPr marL="342900" indent="-342900">
              <a:lnSpc>
                <a:spcPct val="115000"/>
              </a:lnSpc>
              <a:spcAft>
                <a:spcPts val="700"/>
              </a:spcAft>
              <a:buSzPct val="100000"/>
              <a:buChar char="•"/>
            </a:pPr>
            <a:r>
              <a:rPr lang="en-US" sz="1350" dirty="0">
                <a:solidFill>
                  <a:srgbClr val="1C2B3A"/>
                </a:solidFill>
                <a:latin typeface="Calibri" pitchFamily="34" charset="0"/>
                <a:ea typeface="Calibri" pitchFamily="34" charset="-122"/>
                <a:cs typeface="Calibri" pitchFamily="34" charset="-120"/>
              </a:rPr>
              <a:t>A line can be marked restricted, so any quantity at all needs EGA approval.</a:t>
            </a:r>
            <a:endParaRPr lang="en-US" sz="1350" dirty="0"/>
          </a:p>
          <a:p>
            <a:pPr marL="342900" indent="-342900">
              <a:lnSpc>
                <a:spcPct val="115000"/>
              </a:lnSpc>
              <a:spcAft>
                <a:spcPts val="700"/>
              </a:spcAft>
              <a:buSzPct val="100000"/>
              <a:buChar char="•"/>
            </a:pPr>
            <a:r>
              <a:rPr lang="en-US" sz="1350" dirty="0">
                <a:solidFill>
                  <a:srgbClr val="1C2B3A"/>
                </a:solidFill>
                <a:latin typeface="Calibri" pitchFamily="34" charset="0"/>
                <a:ea typeface="Calibri" pitchFamily="34" charset="-122"/>
                <a:cs typeface="Calibri" pitchFamily="34" charset="-120"/>
              </a:rPr>
              <a:t>An employee can be granted several price lists; each becomes its own shopping tab.</a:t>
            </a:r>
            <a:endParaRPr lang="en-US" sz="1350" dirty="0"/>
          </a:p>
          <a:p>
            <a:pPr marL="342900" indent="-342900">
              <a:lnSpc>
                <a:spcPct val="115000"/>
              </a:lnSpc>
              <a:spcAft>
                <a:spcPts val="700"/>
              </a:spcAft>
              <a:buSzPct val="100000"/>
              <a:buChar char="•"/>
            </a:pPr>
            <a:r>
              <a:rPr lang="en-US" sz="1350" dirty="0">
                <a:solidFill>
                  <a:srgbClr val="1C2B3A"/>
                </a:solidFill>
                <a:latin typeface="Calibri" pitchFamily="34" charset="0"/>
                <a:ea typeface="Calibri" pitchFamily="34" charset="-122"/>
                <a:cs typeface="Calibri" pitchFamily="34" charset="-120"/>
              </a:rPr>
              <a:t>Changing an allocation here changes what every employee on that list may order.</a:t>
            </a:r>
            <a:endParaRPr lang="en-US" sz="13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2F5F9"/>
        </a:solidFill>
      </p:bgPr>
    </p:bg>
    <p:spTree>
      <p:nvGrpSpPr>
        <p:cNvPr id="1" name=""/>
        <p:cNvGrpSpPr/>
        <p:nvPr/>
      </p:nvGrpSpPr>
      <p:grpSpPr>
        <a:xfrm>
          <a:off x="0" y="0"/>
          <a:ext cx="0" cy="0"/>
          <a:chOff x="0" y="0"/>
          <a:chExt cx="0" cy="0"/>
        </a:xfrm>
      </p:grpSpPr>
      <p:sp>
        <p:nvSpPr>
          <p:cNvPr id="2" name="Text 0"/>
          <p:cNvSpPr txBox="1"/>
          <p:nvPr/>
        </p:nvSpPr>
        <p:spPr>
          <a:xfrm>
            <a:off x="566928" y="420624"/>
            <a:ext cx="10058400" cy="237744"/>
          </a:xfrm>
          <a:prstGeom prst="rect">
            <a:avLst/>
          </a:prstGeom>
          <a:noFill/>
          <a:ln/>
        </p:spPr>
        <p:txBody>
          <a:bodyPr wrap="square" lIns="0" tIns="0" rIns="0" bIns="0" rtlCol="0" anchor="ctr"/>
          <a:lstStyle/>
          <a:p>
            <a:pPr indent="0" marL="0">
              <a:buNone/>
            </a:pPr>
            <a:r>
              <a:rPr lang="en-US" sz="1100" b="1" spc="160" kern="0" dirty="0">
                <a:solidFill>
                  <a:srgbClr val="F4791F"/>
                </a:solidFill>
                <a:latin typeface="Calibri" pitchFamily="34" charset="0"/>
                <a:ea typeface="Calibri" pitchFamily="34" charset="-122"/>
                <a:cs typeface="Calibri" pitchFamily="34" charset="-120"/>
              </a:rPr>
              <a:t>LOADED TODAY</a:t>
            </a:r>
            <a:endParaRPr lang="en-US" sz="1100" dirty="0"/>
          </a:p>
        </p:txBody>
      </p:sp>
      <p:sp>
        <p:nvSpPr>
          <p:cNvPr id="3" name="Text 1"/>
          <p:cNvSpPr txBox="1"/>
          <p:nvPr/>
        </p:nvSpPr>
        <p:spPr>
          <a:xfrm>
            <a:off x="566928" y="676656"/>
            <a:ext cx="11064240" cy="566928"/>
          </a:xfrm>
          <a:prstGeom prst="rect">
            <a:avLst/>
          </a:prstGeom>
          <a:noFill/>
          <a:ln/>
        </p:spPr>
        <p:txBody>
          <a:bodyPr wrap="square" lIns="0" tIns="0" rIns="0" bIns="0" rtlCol="0" anchor="ctr"/>
          <a:lstStyle/>
          <a:p>
            <a:pPr indent="0" marL="0">
              <a:buNone/>
            </a:pPr>
            <a:r>
              <a:rPr lang="en-US" sz="3200" b="1" dirty="0">
                <a:solidFill>
                  <a:srgbClr val="0F2A43"/>
                </a:solidFill>
                <a:latin typeface="Cambria" pitchFamily="34" charset="0"/>
                <a:ea typeface="Cambria" pitchFamily="34" charset="-122"/>
                <a:cs typeface="Cambria" pitchFamily="34" charset="-120"/>
              </a:rPr>
              <a:t>The live EGA data set</a:t>
            </a:r>
            <a:endParaRPr lang="en-US" sz="3200" dirty="0"/>
          </a:p>
        </p:txBody>
      </p:sp>
      <p:sp>
        <p:nvSpPr>
          <p:cNvPr id="4" name="Shape 2"/>
          <p:cNvSpPr/>
          <p:nvPr/>
        </p:nvSpPr>
        <p:spPr>
          <a:xfrm>
            <a:off x="566928" y="1645920"/>
            <a:ext cx="11064240" cy="960120"/>
          </a:xfrm>
          <a:prstGeom prst="roundRect">
            <a:avLst>
              <a:gd name="adj" fmla="val 8571"/>
            </a:avLst>
          </a:prstGeom>
          <a:solidFill>
            <a:srgbClr val="FFFFFF"/>
          </a:solidFill>
          <a:ln w="12700">
            <a:solidFill>
              <a:srgbClr val="FFFFFF"/>
            </a:solidFill>
            <a:prstDash val="solid"/>
          </a:ln>
          <a:effectLst>
            <a:outerShdw sx="100000" sy="100000" kx="0" ky="0" algn="bl" rotWithShape="0" blurRad="177800" dist="38100" dir="5400000">
              <a:srgbClr val="0F2A43">
                <a:alpha val="13000"/>
              </a:srgbClr>
            </a:outerShdw>
          </a:effectLst>
        </p:spPr>
      </p:sp>
      <p:sp>
        <p:nvSpPr>
          <p:cNvPr id="5" name="Text 3"/>
          <p:cNvSpPr txBox="1"/>
          <p:nvPr/>
        </p:nvSpPr>
        <p:spPr>
          <a:xfrm>
            <a:off x="841248" y="1792224"/>
            <a:ext cx="1005840" cy="640080"/>
          </a:xfrm>
          <a:prstGeom prst="rect">
            <a:avLst/>
          </a:prstGeom>
          <a:noFill/>
          <a:ln/>
        </p:spPr>
        <p:txBody>
          <a:bodyPr wrap="square" lIns="0" tIns="0" rIns="0" bIns="0" rtlCol="0" anchor="ctr"/>
          <a:lstStyle/>
          <a:p>
            <a:pPr algn="ctr" indent="0" marL="0">
              <a:buNone/>
            </a:pPr>
            <a:r>
              <a:rPr lang="en-US" sz="3000" b="1" dirty="0">
                <a:solidFill>
                  <a:srgbClr val="F4791F"/>
                </a:solidFill>
                <a:latin typeface="Cambria" pitchFamily="34" charset="0"/>
                <a:ea typeface="Cambria" pitchFamily="34" charset="-122"/>
                <a:cs typeface="Cambria" pitchFamily="34" charset="-120"/>
              </a:rPr>
              <a:t>39</a:t>
            </a:r>
            <a:endParaRPr lang="en-US" sz="3000" dirty="0"/>
          </a:p>
        </p:txBody>
      </p:sp>
      <p:sp>
        <p:nvSpPr>
          <p:cNvPr id="6" name="Text 4"/>
          <p:cNvSpPr txBox="1"/>
          <p:nvPr/>
        </p:nvSpPr>
        <p:spPr>
          <a:xfrm>
            <a:off x="1938528" y="1828800"/>
            <a:ext cx="2377440" cy="310896"/>
          </a:xfrm>
          <a:prstGeom prst="rect">
            <a:avLst/>
          </a:prstGeom>
          <a:noFill/>
          <a:ln/>
        </p:spPr>
        <p:txBody>
          <a:bodyPr wrap="square" lIns="0" tIns="0" rIns="0" bIns="0" rtlCol="0" anchor="ctr"/>
          <a:lstStyle/>
          <a:p>
            <a:pPr indent="0" marL="0">
              <a:buNone/>
            </a:pPr>
            <a:r>
              <a:rPr lang="en-US" sz="1700" b="1" dirty="0">
                <a:solidFill>
                  <a:srgbClr val="0F2A43"/>
                </a:solidFill>
                <a:latin typeface="Cambria" pitchFamily="34" charset="0"/>
                <a:ea typeface="Cambria" pitchFamily="34" charset="-122"/>
                <a:cs typeface="Cambria" pitchFamily="34" charset="-120"/>
              </a:rPr>
              <a:t>PPE items</a:t>
            </a:r>
            <a:endParaRPr lang="en-US" sz="1700" dirty="0"/>
          </a:p>
        </p:txBody>
      </p:sp>
      <p:sp>
        <p:nvSpPr>
          <p:cNvPr id="7" name="Text 5"/>
          <p:cNvSpPr txBox="1"/>
          <p:nvPr/>
        </p:nvSpPr>
        <p:spPr>
          <a:xfrm>
            <a:off x="1938528" y="2157984"/>
            <a:ext cx="9326880" cy="365760"/>
          </a:xfrm>
          <a:prstGeom prst="rect">
            <a:avLst/>
          </a:prstGeom>
          <a:noFill/>
          <a:ln/>
        </p:spPr>
        <p:txBody>
          <a:bodyPr wrap="square" lIns="0" tIns="0" rIns="0" bIns="0" rtlCol="0" anchor="ctr"/>
          <a:lstStyle/>
          <a:p>
            <a:pPr indent="0" marL="0">
              <a:buNone/>
            </a:pPr>
            <a:r>
              <a:rPr lang="en-US" sz="1250" dirty="0">
                <a:solidFill>
                  <a:srgbClr val="6B7C8D"/>
                </a:solidFill>
                <a:latin typeface="Calibri" pitchFamily="34" charset="0"/>
                <a:ea typeface="Calibri" pitchFamily="34" charset="-122"/>
                <a:cs typeface="Calibri" pitchFamily="34" charset="-120"/>
              </a:rPr>
              <a:t>Head, eye and face, respiratory, clothing, gloves and footwear — every one with a photograph</a:t>
            </a:r>
            <a:endParaRPr lang="en-US" sz="1250" dirty="0"/>
          </a:p>
        </p:txBody>
      </p:sp>
      <p:sp>
        <p:nvSpPr>
          <p:cNvPr id="8" name="Shape 6"/>
          <p:cNvSpPr/>
          <p:nvPr/>
        </p:nvSpPr>
        <p:spPr>
          <a:xfrm>
            <a:off x="566928" y="2761488"/>
            <a:ext cx="11064240" cy="960120"/>
          </a:xfrm>
          <a:prstGeom prst="roundRect">
            <a:avLst>
              <a:gd name="adj" fmla="val 8571"/>
            </a:avLst>
          </a:prstGeom>
          <a:solidFill>
            <a:srgbClr val="FFFFFF"/>
          </a:solidFill>
          <a:ln w="12700">
            <a:solidFill>
              <a:srgbClr val="FFFFFF"/>
            </a:solidFill>
            <a:prstDash val="solid"/>
          </a:ln>
          <a:effectLst>
            <a:outerShdw sx="100000" sy="100000" kx="0" ky="0" algn="bl" rotWithShape="0" blurRad="177800" dist="38100" dir="5400000">
              <a:srgbClr val="0F2A43">
                <a:alpha val="13000"/>
              </a:srgbClr>
            </a:outerShdw>
          </a:effectLst>
        </p:spPr>
      </p:sp>
      <p:sp>
        <p:nvSpPr>
          <p:cNvPr id="9" name="Text 7"/>
          <p:cNvSpPr txBox="1"/>
          <p:nvPr/>
        </p:nvSpPr>
        <p:spPr>
          <a:xfrm>
            <a:off x="841248" y="2907792"/>
            <a:ext cx="1005840" cy="640080"/>
          </a:xfrm>
          <a:prstGeom prst="rect">
            <a:avLst/>
          </a:prstGeom>
          <a:noFill/>
          <a:ln/>
        </p:spPr>
        <p:txBody>
          <a:bodyPr wrap="square" lIns="0" tIns="0" rIns="0" bIns="0" rtlCol="0" anchor="ctr"/>
          <a:lstStyle/>
          <a:p>
            <a:pPr algn="ctr" indent="0" marL="0">
              <a:buNone/>
            </a:pPr>
            <a:r>
              <a:rPr lang="en-US" sz="3000" b="1" dirty="0">
                <a:solidFill>
                  <a:srgbClr val="F4791F"/>
                </a:solidFill>
                <a:latin typeface="Cambria" pitchFamily="34" charset="0"/>
                <a:ea typeface="Cambria" pitchFamily="34" charset="-122"/>
                <a:cs typeface="Cambria" pitchFamily="34" charset="-120"/>
              </a:rPr>
              <a:t>3</a:t>
            </a:r>
            <a:endParaRPr lang="en-US" sz="3000" dirty="0"/>
          </a:p>
        </p:txBody>
      </p:sp>
      <p:sp>
        <p:nvSpPr>
          <p:cNvPr id="10" name="Text 8"/>
          <p:cNvSpPr txBox="1"/>
          <p:nvPr/>
        </p:nvSpPr>
        <p:spPr>
          <a:xfrm>
            <a:off x="1938528" y="2944368"/>
            <a:ext cx="2377440" cy="310896"/>
          </a:xfrm>
          <a:prstGeom prst="rect">
            <a:avLst/>
          </a:prstGeom>
          <a:noFill/>
          <a:ln/>
        </p:spPr>
        <p:txBody>
          <a:bodyPr wrap="square" lIns="0" tIns="0" rIns="0" bIns="0" rtlCol="0" anchor="ctr"/>
          <a:lstStyle/>
          <a:p>
            <a:pPr indent="0" marL="0">
              <a:buNone/>
            </a:pPr>
            <a:r>
              <a:rPr lang="en-US" sz="1700" b="1" dirty="0">
                <a:solidFill>
                  <a:srgbClr val="0F2A43"/>
                </a:solidFill>
                <a:latin typeface="Cambria" pitchFamily="34" charset="0"/>
                <a:ea typeface="Cambria" pitchFamily="34" charset="-122"/>
                <a:cs typeface="Cambria" pitchFamily="34" charset="-120"/>
              </a:rPr>
              <a:t>price lists</a:t>
            </a:r>
            <a:endParaRPr lang="en-US" sz="1700" dirty="0"/>
          </a:p>
        </p:txBody>
      </p:sp>
      <p:sp>
        <p:nvSpPr>
          <p:cNvPr id="11" name="Text 9"/>
          <p:cNvSpPr txBox="1"/>
          <p:nvPr/>
        </p:nvSpPr>
        <p:spPr>
          <a:xfrm>
            <a:off x="1938528" y="3273552"/>
            <a:ext cx="9326880" cy="365760"/>
          </a:xfrm>
          <a:prstGeom prst="rect">
            <a:avLst/>
          </a:prstGeom>
          <a:noFill/>
          <a:ln/>
        </p:spPr>
        <p:txBody>
          <a:bodyPr wrap="square" lIns="0" tIns="0" rIns="0" bIns="0" rtlCol="0" anchor="ctr"/>
          <a:lstStyle/>
          <a:p>
            <a:pPr indent="0" marL="0">
              <a:buNone/>
            </a:pPr>
            <a:r>
              <a:rPr lang="en-US" sz="1250" dirty="0">
                <a:solidFill>
                  <a:srgbClr val="6B7C8D"/>
                </a:solidFill>
                <a:latin typeface="Calibri" pitchFamily="34" charset="0"/>
                <a:ea typeface="Calibri" pitchFamily="34" charset="-122"/>
                <a:cs typeface="Calibri" pitchFamily="34" charset="-120"/>
              </a:rPr>
              <a:t>Across two contracts, each with its own validity dates and two-day delivery period</a:t>
            </a:r>
            <a:endParaRPr lang="en-US" sz="1250" dirty="0"/>
          </a:p>
        </p:txBody>
      </p:sp>
      <p:sp>
        <p:nvSpPr>
          <p:cNvPr id="12" name="Shape 10"/>
          <p:cNvSpPr/>
          <p:nvPr/>
        </p:nvSpPr>
        <p:spPr>
          <a:xfrm>
            <a:off x="566928" y="3877056"/>
            <a:ext cx="11064240" cy="960120"/>
          </a:xfrm>
          <a:prstGeom prst="roundRect">
            <a:avLst>
              <a:gd name="adj" fmla="val 8571"/>
            </a:avLst>
          </a:prstGeom>
          <a:solidFill>
            <a:srgbClr val="FFFFFF"/>
          </a:solidFill>
          <a:ln w="12700">
            <a:solidFill>
              <a:srgbClr val="FFFFFF"/>
            </a:solidFill>
            <a:prstDash val="solid"/>
          </a:ln>
          <a:effectLst>
            <a:outerShdw sx="100000" sy="100000" kx="0" ky="0" algn="bl" rotWithShape="0" blurRad="177800" dist="38100" dir="5400000">
              <a:srgbClr val="0F2A43">
                <a:alpha val="13000"/>
              </a:srgbClr>
            </a:outerShdw>
          </a:effectLst>
        </p:spPr>
      </p:sp>
      <p:sp>
        <p:nvSpPr>
          <p:cNvPr id="13" name="Text 11"/>
          <p:cNvSpPr txBox="1"/>
          <p:nvPr/>
        </p:nvSpPr>
        <p:spPr>
          <a:xfrm>
            <a:off x="841248" y="4023360"/>
            <a:ext cx="1005840" cy="640080"/>
          </a:xfrm>
          <a:prstGeom prst="rect">
            <a:avLst/>
          </a:prstGeom>
          <a:noFill/>
          <a:ln/>
        </p:spPr>
        <p:txBody>
          <a:bodyPr wrap="square" lIns="0" tIns="0" rIns="0" bIns="0" rtlCol="0" anchor="ctr"/>
          <a:lstStyle/>
          <a:p>
            <a:pPr algn="ctr" indent="0" marL="0">
              <a:buNone/>
            </a:pPr>
            <a:r>
              <a:rPr lang="en-US" sz="3000" b="1" dirty="0">
                <a:solidFill>
                  <a:srgbClr val="F4791F"/>
                </a:solidFill>
                <a:latin typeface="Cambria" pitchFamily="34" charset="0"/>
                <a:ea typeface="Cambria" pitchFamily="34" charset="-122"/>
                <a:cs typeface="Cambria" pitchFamily="34" charset="-120"/>
              </a:rPr>
              <a:t>3</a:t>
            </a:r>
            <a:endParaRPr lang="en-US" sz="3000" dirty="0"/>
          </a:p>
        </p:txBody>
      </p:sp>
      <p:sp>
        <p:nvSpPr>
          <p:cNvPr id="14" name="Text 12"/>
          <p:cNvSpPr txBox="1"/>
          <p:nvPr/>
        </p:nvSpPr>
        <p:spPr>
          <a:xfrm>
            <a:off x="1938528" y="4059936"/>
            <a:ext cx="2377440" cy="310896"/>
          </a:xfrm>
          <a:prstGeom prst="rect">
            <a:avLst/>
          </a:prstGeom>
          <a:noFill/>
          <a:ln/>
        </p:spPr>
        <p:txBody>
          <a:bodyPr wrap="square" lIns="0" tIns="0" rIns="0" bIns="0" rtlCol="0" anchor="ctr"/>
          <a:lstStyle/>
          <a:p>
            <a:pPr indent="0" marL="0">
              <a:buNone/>
            </a:pPr>
            <a:r>
              <a:rPr lang="en-US" sz="1700" b="1" dirty="0">
                <a:solidFill>
                  <a:srgbClr val="0F2A43"/>
                </a:solidFill>
                <a:latin typeface="Cambria" pitchFamily="34" charset="0"/>
                <a:ea typeface="Cambria" pitchFamily="34" charset="-122"/>
                <a:cs typeface="Cambria" pitchFamily="34" charset="-120"/>
              </a:rPr>
              <a:t>stores</a:t>
            </a:r>
            <a:endParaRPr lang="en-US" sz="1700" dirty="0"/>
          </a:p>
        </p:txBody>
      </p:sp>
      <p:sp>
        <p:nvSpPr>
          <p:cNvPr id="15" name="Text 13"/>
          <p:cNvSpPr txBox="1"/>
          <p:nvPr/>
        </p:nvSpPr>
        <p:spPr>
          <a:xfrm>
            <a:off x="1938528" y="4389120"/>
            <a:ext cx="9326880" cy="365760"/>
          </a:xfrm>
          <a:prstGeom prst="rect">
            <a:avLst/>
          </a:prstGeom>
          <a:noFill/>
          <a:ln/>
        </p:spPr>
        <p:txBody>
          <a:bodyPr wrap="square" lIns="0" tIns="0" rIns="0" bIns="0" rtlCol="0" anchor="ctr"/>
          <a:lstStyle/>
          <a:p>
            <a:pPr indent="0" marL="0">
              <a:buNone/>
            </a:pPr>
            <a:r>
              <a:rPr lang="en-US" sz="1250" dirty="0">
                <a:solidFill>
                  <a:srgbClr val="6B7C8D"/>
                </a:solidFill>
                <a:latin typeface="Calibri" pitchFamily="34" charset="0"/>
                <a:ea typeface="Calibri" pitchFamily="34" charset="-122"/>
                <a:cs typeface="Calibri" pitchFamily="34" charset="-120"/>
              </a:rPr>
              <a:t>One main store and two reservation stores, one per EGA entity</a:t>
            </a:r>
            <a:endParaRPr lang="en-US" sz="1250" dirty="0"/>
          </a:p>
        </p:txBody>
      </p:sp>
      <p:sp>
        <p:nvSpPr>
          <p:cNvPr id="16" name="Shape 14"/>
          <p:cNvSpPr/>
          <p:nvPr/>
        </p:nvSpPr>
        <p:spPr>
          <a:xfrm>
            <a:off x="566928" y="4992624"/>
            <a:ext cx="11064240" cy="960120"/>
          </a:xfrm>
          <a:prstGeom prst="roundRect">
            <a:avLst>
              <a:gd name="adj" fmla="val 8571"/>
            </a:avLst>
          </a:prstGeom>
          <a:solidFill>
            <a:srgbClr val="FFFFFF"/>
          </a:solidFill>
          <a:ln w="12700">
            <a:solidFill>
              <a:srgbClr val="FFFFFF"/>
            </a:solidFill>
            <a:prstDash val="solid"/>
          </a:ln>
          <a:effectLst>
            <a:outerShdw sx="100000" sy="100000" kx="0" ky="0" algn="bl" rotWithShape="0" blurRad="177800" dist="38100" dir="5400000">
              <a:srgbClr val="0F2A43">
                <a:alpha val="13000"/>
              </a:srgbClr>
            </a:outerShdw>
          </a:effectLst>
        </p:spPr>
      </p:sp>
      <p:sp>
        <p:nvSpPr>
          <p:cNvPr id="17" name="Text 15"/>
          <p:cNvSpPr txBox="1"/>
          <p:nvPr/>
        </p:nvSpPr>
        <p:spPr>
          <a:xfrm>
            <a:off x="841248" y="5138928"/>
            <a:ext cx="1005840" cy="640080"/>
          </a:xfrm>
          <a:prstGeom prst="rect">
            <a:avLst/>
          </a:prstGeom>
          <a:noFill/>
          <a:ln/>
        </p:spPr>
        <p:txBody>
          <a:bodyPr wrap="square" lIns="0" tIns="0" rIns="0" bIns="0" rtlCol="0" anchor="ctr"/>
          <a:lstStyle/>
          <a:p>
            <a:pPr algn="ctr" indent="0" marL="0">
              <a:buNone/>
            </a:pPr>
            <a:r>
              <a:rPr lang="en-US" sz="3000" b="1" dirty="0">
                <a:solidFill>
                  <a:srgbClr val="F4791F"/>
                </a:solidFill>
                <a:latin typeface="Cambria" pitchFamily="34" charset="0"/>
                <a:ea typeface="Cambria" pitchFamily="34" charset="-122"/>
                <a:cs typeface="Cambria" pitchFamily="34" charset="-120"/>
              </a:rPr>
              <a:t>2</a:t>
            </a:r>
            <a:endParaRPr lang="en-US" sz="3000" dirty="0"/>
          </a:p>
        </p:txBody>
      </p:sp>
      <p:sp>
        <p:nvSpPr>
          <p:cNvPr id="18" name="Text 16"/>
          <p:cNvSpPr txBox="1"/>
          <p:nvPr/>
        </p:nvSpPr>
        <p:spPr>
          <a:xfrm>
            <a:off x="1938528" y="5175504"/>
            <a:ext cx="2377440" cy="310896"/>
          </a:xfrm>
          <a:prstGeom prst="rect">
            <a:avLst/>
          </a:prstGeom>
          <a:noFill/>
          <a:ln/>
        </p:spPr>
        <p:txBody>
          <a:bodyPr wrap="square" lIns="0" tIns="0" rIns="0" bIns="0" rtlCol="0" anchor="ctr"/>
          <a:lstStyle/>
          <a:p>
            <a:pPr indent="0" marL="0">
              <a:buNone/>
            </a:pPr>
            <a:r>
              <a:rPr lang="en-US" sz="1700" b="1" dirty="0">
                <a:solidFill>
                  <a:srgbClr val="0F2A43"/>
                </a:solidFill>
                <a:latin typeface="Cambria" pitchFamily="34" charset="0"/>
                <a:ea typeface="Cambria" pitchFamily="34" charset="-122"/>
                <a:cs typeface="Cambria" pitchFamily="34" charset="-120"/>
              </a:rPr>
              <a:t>EGA entities</a:t>
            </a:r>
            <a:endParaRPr lang="en-US" sz="1700" dirty="0"/>
          </a:p>
        </p:txBody>
      </p:sp>
      <p:sp>
        <p:nvSpPr>
          <p:cNvPr id="19" name="Text 17"/>
          <p:cNvSpPr txBox="1"/>
          <p:nvPr/>
        </p:nvSpPr>
        <p:spPr>
          <a:xfrm>
            <a:off x="1938528" y="5504688"/>
            <a:ext cx="9326880" cy="365760"/>
          </a:xfrm>
          <a:prstGeom prst="rect">
            <a:avLst/>
          </a:prstGeom>
          <a:noFill/>
          <a:ln/>
        </p:spPr>
        <p:txBody>
          <a:bodyPr wrap="square" lIns="0" tIns="0" rIns="0" bIns="0" rtlCol="0" anchor="ctr"/>
          <a:lstStyle/>
          <a:p>
            <a:pPr indent="0" marL="0">
              <a:buNone/>
            </a:pPr>
            <a:r>
              <a:rPr lang="en-US" sz="1250" dirty="0">
                <a:solidFill>
                  <a:srgbClr val="6B7C8D"/>
                </a:solidFill>
                <a:latin typeface="Calibri" pitchFamily="34" charset="0"/>
                <a:ea typeface="Calibri" pitchFamily="34" charset="-122"/>
                <a:cs typeface="Calibri" pitchFamily="34" charset="-120"/>
              </a:rPr>
              <a:t>Dubai Aluminum and Emirates Aluminum, with six departments and six locations</a:t>
            </a:r>
            <a:endParaRPr lang="en-US" sz="1250" dirty="0"/>
          </a:p>
        </p:txBody>
      </p:sp>
      <p:sp>
        <p:nvSpPr>
          <p:cNvPr id="20" name="Text 18"/>
          <p:cNvSpPr txBox="1"/>
          <p:nvPr/>
        </p:nvSpPr>
        <p:spPr>
          <a:xfrm>
            <a:off x="566928" y="6126480"/>
            <a:ext cx="11064240" cy="320040"/>
          </a:xfrm>
          <a:prstGeom prst="rect">
            <a:avLst/>
          </a:prstGeom>
          <a:noFill/>
          <a:ln/>
        </p:spPr>
        <p:txBody>
          <a:bodyPr wrap="square" lIns="0" tIns="0" rIns="0" bIns="0" rtlCol="0" anchor="ctr"/>
          <a:lstStyle/>
          <a:p>
            <a:pPr indent="0" marL="0">
              <a:buNone/>
            </a:pPr>
            <a:r>
              <a:rPr lang="en-US" sz="1200" i="1" dirty="0">
                <a:solidFill>
                  <a:srgbClr val="6B7C8D"/>
                </a:solidFill>
                <a:latin typeface="Calibri" pitchFamily="34" charset="0"/>
                <a:ea typeface="Calibri" pitchFamily="34" charset="-122"/>
                <a:cs typeface="Calibri" pitchFamily="34" charset="-120"/>
              </a:rPr>
              <a:t>Taken directly from the EGA Data List workbooks — master list, price lists and store inventory.</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2F5F9"/>
        </a:solidFill>
      </p:bgPr>
    </p:bg>
    <p:spTree>
      <p:nvGrpSpPr>
        <p:cNvPr id="1" name=""/>
        <p:cNvGrpSpPr/>
        <p:nvPr/>
      </p:nvGrpSpPr>
      <p:grpSpPr>
        <a:xfrm>
          <a:off x="0" y="0"/>
          <a:ext cx="0" cy="0"/>
          <a:chOff x="0" y="0"/>
          <a:chExt cx="0" cy="0"/>
        </a:xfrm>
      </p:grpSpPr>
      <p:sp>
        <p:nvSpPr>
          <p:cNvPr id="2" name="Text 0"/>
          <p:cNvSpPr txBox="1"/>
          <p:nvPr/>
        </p:nvSpPr>
        <p:spPr>
          <a:xfrm>
            <a:off x="566928" y="420624"/>
            <a:ext cx="10058400" cy="237744"/>
          </a:xfrm>
          <a:prstGeom prst="rect">
            <a:avLst/>
          </a:prstGeom>
          <a:noFill/>
          <a:ln/>
        </p:spPr>
        <p:txBody>
          <a:bodyPr wrap="square" lIns="0" tIns="0" rIns="0" bIns="0" rtlCol="0" anchor="ctr"/>
          <a:lstStyle/>
          <a:p>
            <a:pPr indent="0" marL="0">
              <a:buNone/>
            </a:pPr>
            <a:r>
              <a:rPr lang="en-US" sz="1100" b="1" spc="160" kern="0" dirty="0">
                <a:solidFill>
                  <a:srgbClr val="F4791F"/>
                </a:solidFill>
                <a:latin typeface="Calibri" pitchFamily="34" charset="0"/>
                <a:ea typeface="Calibri" pitchFamily="34" charset="-122"/>
                <a:cs typeface="Calibri" pitchFamily="34" charset="-120"/>
              </a:rPr>
              <a:t>INTEGRATION</a:t>
            </a:r>
            <a:endParaRPr lang="en-US" sz="1100" dirty="0"/>
          </a:p>
        </p:txBody>
      </p:sp>
      <p:sp>
        <p:nvSpPr>
          <p:cNvPr id="3" name="Text 1"/>
          <p:cNvSpPr txBox="1"/>
          <p:nvPr/>
        </p:nvSpPr>
        <p:spPr>
          <a:xfrm>
            <a:off x="566928" y="676656"/>
            <a:ext cx="11064240" cy="566928"/>
          </a:xfrm>
          <a:prstGeom prst="rect">
            <a:avLst/>
          </a:prstGeom>
          <a:noFill/>
          <a:ln/>
        </p:spPr>
        <p:txBody>
          <a:bodyPr wrap="square" lIns="0" tIns="0" rIns="0" bIns="0" rtlCol="0" anchor="ctr"/>
          <a:lstStyle/>
          <a:p>
            <a:pPr indent="0" marL="0">
              <a:buNone/>
            </a:pPr>
            <a:r>
              <a:rPr lang="en-US" sz="3200" b="1" dirty="0">
                <a:solidFill>
                  <a:srgbClr val="0F2A43"/>
                </a:solidFill>
                <a:latin typeface="Cambria" pitchFamily="34" charset="0"/>
                <a:ea typeface="Cambria" pitchFamily="34" charset="-122"/>
                <a:cs typeface="Cambria" pitchFamily="34" charset="-120"/>
              </a:rPr>
              <a:t>The ERP, notifications and the audit trail</a:t>
            </a:r>
            <a:endParaRPr lang="en-US" sz="3200" dirty="0"/>
          </a:p>
        </p:txBody>
      </p:sp>
      <p:sp>
        <p:nvSpPr>
          <p:cNvPr id="4" name="Shape 2"/>
          <p:cNvSpPr/>
          <p:nvPr/>
        </p:nvSpPr>
        <p:spPr>
          <a:xfrm>
            <a:off x="566928" y="1627632"/>
            <a:ext cx="5394960" cy="4114800"/>
          </a:xfrm>
          <a:prstGeom prst="roundRect">
            <a:avLst>
              <a:gd name="adj" fmla="val 2000"/>
            </a:avLst>
          </a:prstGeom>
          <a:solidFill>
            <a:srgbClr val="FFFFFF"/>
          </a:solidFill>
          <a:ln w="12700">
            <a:solidFill>
              <a:srgbClr val="FFFFFF"/>
            </a:solidFill>
            <a:prstDash val="solid"/>
          </a:ln>
          <a:effectLst>
            <a:outerShdw sx="100000" sy="100000" kx="0" ky="0" algn="bl" rotWithShape="0" blurRad="177800" dist="38100" dir="5400000">
              <a:srgbClr val="0F2A43">
                <a:alpha val="13000"/>
              </a:srgbClr>
            </a:outerShdw>
          </a:effectLst>
        </p:spPr>
      </p:sp>
      <p:sp>
        <p:nvSpPr>
          <p:cNvPr id="5" name="Text 3"/>
          <p:cNvSpPr txBox="1"/>
          <p:nvPr/>
        </p:nvSpPr>
        <p:spPr>
          <a:xfrm>
            <a:off x="896112" y="1847088"/>
            <a:ext cx="4114800" cy="365760"/>
          </a:xfrm>
          <a:prstGeom prst="rect">
            <a:avLst/>
          </a:prstGeom>
          <a:noFill/>
          <a:ln/>
        </p:spPr>
        <p:txBody>
          <a:bodyPr wrap="square" lIns="0" tIns="0" rIns="0" bIns="0" rtlCol="0" anchor="ctr"/>
          <a:lstStyle/>
          <a:p>
            <a:pPr indent="0" marL="0">
              <a:buNone/>
            </a:pPr>
            <a:r>
              <a:rPr lang="en-US" sz="2100" b="1" dirty="0">
                <a:solidFill>
                  <a:srgbClr val="0F2A43"/>
                </a:solidFill>
                <a:latin typeface="Cambria" pitchFamily="34" charset="0"/>
                <a:ea typeface="Cambria" pitchFamily="34" charset="-122"/>
                <a:cs typeface="Cambria" pitchFamily="34" charset="-120"/>
              </a:rPr>
              <a:t>Into the ERP</a:t>
            </a:r>
            <a:endParaRPr lang="en-US" sz="2100" dirty="0"/>
          </a:p>
        </p:txBody>
      </p:sp>
      <p:sp>
        <p:nvSpPr>
          <p:cNvPr id="6" name="Text 4"/>
          <p:cNvSpPr txBox="1"/>
          <p:nvPr/>
        </p:nvSpPr>
        <p:spPr>
          <a:xfrm>
            <a:off x="896112" y="2377440"/>
            <a:ext cx="4754880" cy="3108960"/>
          </a:xfrm>
          <a:prstGeom prst="rect">
            <a:avLst/>
          </a:prstGeom>
          <a:noFill/>
          <a:ln/>
        </p:spPr>
        <p:txBody>
          <a:bodyPr wrap="square" lIns="0" tIns="0" rIns="0" bIns="0" rtlCol="0" anchor="t"/>
          <a:lstStyle/>
          <a:p>
            <a:pPr marL="342900" indent="-342900">
              <a:lnSpc>
                <a:spcPct val="115000"/>
              </a:lnSpc>
              <a:spcAft>
                <a:spcPts val="700"/>
              </a:spcAft>
              <a:buSzPct val="100000"/>
              <a:buChar char="•"/>
            </a:pPr>
            <a:r>
              <a:rPr lang="en-US" sz="1250" dirty="0">
                <a:solidFill>
                  <a:srgbClr val="1C2B3A"/>
                </a:solidFill>
                <a:latin typeface="Calibri" pitchFamily="34" charset="0"/>
                <a:ea typeface="Calibri" pitchFamily="34" charset="-122"/>
                <a:cs typeface="Calibri" pitchFamily="34" charset="-120"/>
              </a:rPr>
              <a:t>Sales orders, delivery notes, stock transfers, returns, credit notes and invoices are all posted to the ERP.</a:t>
            </a:r>
            <a:endParaRPr lang="en-US" sz="1250" dirty="0"/>
          </a:p>
          <a:p>
            <a:pPr marL="342900" indent="-342900">
              <a:lnSpc>
                <a:spcPct val="115000"/>
              </a:lnSpc>
              <a:spcAft>
                <a:spcPts val="700"/>
              </a:spcAft>
              <a:buSzPct val="100000"/>
              <a:buChar char="•"/>
            </a:pPr>
            <a:r>
              <a:rPr lang="en-US" sz="1250" dirty="0">
                <a:solidFill>
                  <a:srgbClr val="1C2B3A"/>
                </a:solidFill>
                <a:latin typeface="Calibri" pitchFamily="34" charset="0"/>
                <a:ea typeface="Calibri" pitchFamily="34" charset="-122"/>
                <a:cs typeface="Calibri" pitchFamily="34" charset="-120"/>
              </a:rPr>
              <a:t>ERPNext is connected and working today; the Focus 9 connector is built and waiting on Focus Softnet's API.</a:t>
            </a:r>
            <a:endParaRPr lang="en-US" sz="1250" dirty="0"/>
          </a:p>
          <a:p>
            <a:pPr marL="342900" indent="-342900">
              <a:lnSpc>
                <a:spcPct val="115000"/>
              </a:lnSpc>
              <a:spcAft>
                <a:spcPts val="700"/>
              </a:spcAft>
              <a:buSzPct val="100000"/>
              <a:buChar char="•"/>
            </a:pPr>
            <a:r>
              <a:rPr lang="en-US" sz="1250" dirty="0">
                <a:solidFill>
                  <a:srgbClr val="1C2B3A"/>
                </a:solidFill>
                <a:latin typeface="Calibri" pitchFamily="34" charset="0"/>
                <a:ea typeface="Calibri" pitchFamily="34" charset="-122"/>
                <a:cs typeface="Calibri" pitchFamily="34" charset="-120"/>
              </a:rPr>
              <a:t>If the ERP is unreachable the order still goes through — the call is retried and then flagged for re-sync, never silently lost.</a:t>
            </a:r>
            <a:endParaRPr lang="en-US" sz="1250" dirty="0"/>
          </a:p>
        </p:txBody>
      </p:sp>
      <p:sp>
        <p:nvSpPr>
          <p:cNvPr id="7" name="Shape 5"/>
          <p:cNvSpPr/>
          <p:nvPr/>
        </p:nvSpPr>
        <p:spPr>
          <a:xfrm>
            <a:off x="6263640" y="1627632"/>
            <a:ext cx="5394960" cy="4114800"/>
          </a:xfrm>
          <a:prstGeom prst="roundRect">
            <a:avLst>
              <a:gd name="adj" fmla="val 2000"/>
            </a:avLst>
          </a:prstGeom>
          <a:solidFill>
            <a:srgbClr val="FFFFFF"/>
          </a:solidFill>
          <a:ln w="12700">
            <a:solidFill>
              <a:srgbClr val="FFFFFF"/>
            </a:solidFill>
            <a:prstDash val="solid"/>
          </a:ln>
          <a:effectLst>
            <a:outerShdw sx="100000" sy="100000" kx="0" ky="0" algn="bl" rotWithShape="0" blurRad="177800" dist="38100" dir="5400000">
              <a:srgbClr val="0F2A43">
                <a:alpha val="13000"/>
              </a:srgbClr>
            </a:outerShdw>
          </a:effectLst>
        </p:spPr>
      </p:sp>
      <p:sp>
        <p:nvSpPr>
          <p:cNvPr id="8" name="Text 6"/>
          <p:cNvSpPr txBox="1"/>
          <p:nvPr/>
        </p:nvSpPr>
        <p:spPr>
          <a:xfrm>
            <a:off x="6592824" y="1847088"/>
            <a:ext cx="4754880" cy="365760"/>
          </a:xfrm>
          <a:prstGeom prst="rect">
            <a:avLst/>
          </a:prstGeom>
          <a:noFill/>
          <a:ln/>
        </p:spPr>
        <p:txBody>
          <a:bodyPr wrap="square" lIns="0" tIns="0" rIns="0" bIns="0" rtlCol="0" anchor="ctr"/>
          <a:lstStyle/>
          <a:p>
            <a:pPr indent="0" marL="0">
              <a:buNone/>
            </a:pPr>
            <a:r>
              <a:rPr lang="en-US" sz="2100" b="1" dirty="0">
                <a:solidFill>
                  <a:srgbClr val="0F2A43"/>
                </a:solidFill>
                <a:latin typeface="Cambria" pitchFamily="34" charset="0"/>
                <a:ea typeface="Cambria" pitchFamily="34" charset="-122"/>
                <a:cs typeface="Cambria" pitchFamily="34" charset="-120"/>
              </a:rPr>
              <a:t>Nothing goes unnoticed</a:t>
            </a:r>
            <a:endParaRPr lang="en-US" sz="2100" dirty="0"/>
          </a:p>
        </p:txBody>
      </p:sp>
      <p:sp>
        <p:nvSpPr>
          <p:cNvPr id="9" name="Text 7"/>
          <p:cNvSpPr txBox="1"/>
          <p:nvPr/>
        </p:nvSpPr>
        <p:spPr>
          <a:xfrm>
            <a:off x="6592824" y="2377440"/>
            <a:ext cx="4754880" cy="3108960"/>
          </a:xfrm>
          <a:prstGeom prst="rect">
            <a:avLst/>
          </a:prstGeom>
          <a:noFill/>
          <a:ln/>
        </p:spPr>
        <p:txBody>
          <a:bodyPr wrap="square" lIns="0" tIns="0" rIns="0" bIns="0" rtlCol="0" anchor="t"/>
          <a:lstStyle/>
          <a:p>
            <a:pPr marL="342900" indent="-342900">
              <a:lnSpc>
                <a:spcPct val="115000"/>
              </a:lnSpc>
              <a:spcAft>
                <a:spcPts val="700"/>
              </a:spcAft>
              <a:buSzPct val="100000"/>
              <a:buChar char="•"/>
            </a:pPr>
            <a:r>
              <a:rPr lang="en-US" sz="1250" dirty="0">
                <a:solidFill>
                  <a:srgbClr val="1C2B3A"/>
                </a:solidFill>
                <a:latin typeface="Calibri" pitchFamily="34" charset="0"/>
                <a:ea typeface="Calibri" pitchFamily="34" charset="-122"/>
                <a:cs typeface="Calibri" pitchFamily="34" charset="-120"/>
              </a:rPr>
              <a:t>Employees are notified when an order is approved, a delivery note is raised, a DOD line is filled or a cart expires.</a:t>
            </a:r>
            <a:endParaRPr lang="en-US" sz="1250" dirty="0"/>
          </a:p>
          <a:p>
            <a:pPr marL="342900" indent="-342900">
              <a:lnSpc>
                <a:spcPct val="115000"/>
              </a:lnSpc>
              <a:spcAft>
                <a:spcPts val="700"/>
              </a:spcAft>
              <a:buSzPct val="100000"/>
              <a:buChar char="•"/>
            </a:pPr>
            <a:r>
              <a:rPr lang="en-US" sz="1250" dirty="0">
                <a:solidFill>
                  <a:srgbClr val="1C2B3A"/>
                </a:solidFill>
                <a:latin typeface="Calibri" pitchFamily="34" charset="0"/>
                <a:ea typeface="Calibri" pitchFamily="34" charset="-122"/>
                <a:cs typeface="Calibri" pitchFamily="34" charset="-120"/>
              </a:rPr>
              <a:t>Every order carries its own history — who did what, and when.</a:t>
            </a:r>
            <a:endParaRPr lang="en-US" sz="1250" dirty="0"/>
          </a:p>
          <a:p>
            <a:pPr marL="342900" indent="-342900">
              <a:lnSpc>
                <a:spcPct val="115000"/>
              </a:lnSpc>
              <a:spcAft>
                <a:spcPts val="700"/>
              </a:spcAft>
              <a:buSzPct val="100000"/>
              <a:buChar char="•"/>
            </a:pPr>
            <a:r>
              <a:rPr lang="en-US" sz="1250" dirty="0">
                <a:solidFill>
                  <a:srgbClr val="1C2B3A"/>
                </a:solidFill>
                <a:latin typeface="Calibri" pitchFamily="34" charset="0"/>
                <a:ea typeface="Calibri" pitchFamily="34" charset="-122"/>
                <a:cs typeface="Calibri" pitchFamily="34" charset="-120"/>
              </a:rPr>
              <a:t>The store can read the full event log, including any ERP call that needs attention.</a:t>
            </a:r>
            <a:endParaRPr lang="en-US" sz="1250" dirty="0"/>
          </a:p>
          <a:p>
            <a:pPr marL="342900" indent="-342900">
              <a:lnSpc>
                <a:spcPct val="115000"/>
              </a:lnSpc>
              <a:spcAft>
                <a:spcPts val="700"/>
              </a:spcAft>
              <a:buSzPct val="100000"/>
              <a:buChar char="•"/>
            </a:pPr>
            <a:r>
              <a:rPr lang="en-US" sz="1250" dirty="0">
                <a:solidFill>
                  <a:srgbClr val="1C2B3A"/>
                </a:solidFill>
                <a:latin typeface="Calibri" pitchFamily="34" charset="0"/>
                <a:ea typeface="Calibri" pitchFamily="34" charset="-122"/>
                <a:cs typeface="Calibri" pitchFamily="34" charset="-120"/>
              </a:rPr>
              <a:t>Employees can delete their own account and data at any time.</a:t>
            </a:r>
            <a:endParaRPr lang="en-US" sz="12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2F5F9"/>
        </a:solidFill>
      </p:bgPr>
    </p:bg>
    <p:spTree>
      <p:nvGrpSpPr>
        <p:cNvPr id="1" name=""/>
        <p:cNvGrpSpPr/>
        <p:nvPr/>
      </p:nvGrpSpPr>
      <p:grpSpPr>
        <a:xfrm>
          <a:off x="0" y="0"/>
          <a:ext cx="0" cy="0"/>
          <a:chOff x="0" y="0"/>
          <a:chExt cx="0" cy="0"/>
        </a:xfrm>
      </p:grpSpPr>
      <p:sp>
        <p:nvSpPr>
          <p:cNvPr id="2" name="Text 0"/>
          <p:cNvSpPr txBox="1"/>
          <p:nvPr/>
        </p:nvSpPr>
        <p:spPr>
          <a:xfrm>
            <a:off x="566928" y="420624"/>
            <a:ext cx="10058400" cy="237744"/>
          </a:xfrm>
          <a:prstGeom prst="rect">
            <a:avLst/>
          </a:prstGeom>
          <a:noFill/>
          <a:ln/>
        </p:spPr>
        <p:txBody>
          <a:bodyPr wrap="square" lIns="0" tIns="0" rIns="0" bIns="0" rtlCol="0" anchor="ctr"/>
          <a:lstStyle/>
          <a:p>
            <a:pPr indent="0" marL="0">
              <a:buNone/>
            </a:pPr>
            <a:r>
              <a:rPr lang="en-US" sz="1100" b="1" spc="160" kern="0" dirty="0">
                <a:solidFill>
                  <a:srgbClr val="F4791F"/>
                </a:solidFill>
                <a:latin typeface="Calibri" pitchFamily="34" charset="0"/>
                <a:ea typeface="Calibri" pitchFamily="34" charset="-122"/>
                <a:cs typeface="Calibri" pitchFamily="34" charset="-120"/>
              </a:rPr>
              <a:t>STATUS</a:t>
            </a:r>
            <a:endParaRPr lang="en-US" sz="1100" dirty="0"/>
          </a:p>
        </p:txBody>
      </p:sp>
      <p:sp>
        <p:nvSpPr>
          <p:cNvPr id="3" name="Text 1"/>
          <p:cNvSpPr txBox="1"/>
          <p:nvPr/>
        </p:nvSpPr>
        <p:spPr>
          <a:xfrm>
            <a:off x="566928" y="676656"/>
            <a:ext cx="11064240" cy="566928"/>
          </a:xfrm>
          <a:prstGeom prst="rect">
            <a:avLst/>
          </a:prstGeom>
          <a:noFill/>
          <a:ln/>
        </p:spPr>
        <p:txBody>
          <a:bodyPr wrap="square" lIns="0" tIns="0" rIns="0" bIns="0" rtlCol="0" anchor="ctr"/>
          <a:lstStyle/>
          <a:p>
            <a:pPr indent="0" marL="0">
              <a:buNone/>
            </a:pPr>
            <a:r>
              <a:rPr lang="en-US" sz="3200" b="1" dirty="0">
                <a:solidFill>
                  <a:srgbClr val="0F2A43"/>
                </a:solidFill>
                <a:latin typeface="Cambria" pitchFamily="34" charset="0"/>
                <a:ea typeface="Cambria" pitchFamily="34" charset="-122"/>
                <a:cs typeface="Cambria" pitchFamily="34" charset="-120"/>
              </a:rPr>
              <a:t>Where it stands, and what comes next</a:t>
            </a:r>
            <a:endParaRPr lang="en-US" sz="3200" dirty="0"/>
          </a:p>
        </p:txBody>
      </p:sp>
      <p:sp>
        <p:nvSpPr>
          <p:cNvPr id="4" name="Shape 2"/>
          <p:cNvSpPr/>
          <p:nvPr/>
        </p:nvSpPr>
        <p:spPr>
          <a:xfrm>
            <a:off x="566928" y="1645920"/>
            <a:ext cx="5394960" cy="2286000"/>
          </a:xfrm>
          <a:prstGeom prst="roundRect">
            <a:avLst>
              <a:gd name="adj" fmla="val 3600"/>
            </a:avLst>
          </a:prstGeom>
          <a:solidFill>
            <a:srgbClr val="FFFFFF"/>
          </a:solidFill>
          <a:ln w="12700">
            <a:solidFill>
              <a:srgbClr val="FFFFFF"/>
            </a:solidFill>
            <a:prstDash val="solid"/>
          </a:ln>
          <a:effectLst>
            <a:outerShdw sx="100000" sy="100000" kx="0" ky="0" algn="bl" rotWithShape="0" blurRad="177800" dist="38100" dir="5400000">
              <a:srgbClr val="0F2A43">
                <a:alpha val="13000"/>
              </a:srgbClr>
            </a:outerShdw>
          </a:effectLst>
        </p:spPr>
      </p:sp>
      <p:sp>
        <p:nvSpPr>
          <p:cNvPr id="5" name="Text 3"/>
          <p:cNvSpPr txBox="1"/>
          <p:nvPr/>
        </p:nvSpPr>
        <p:spPr>
          <a:xfrm>
            <a:off x="896112" y="1865376"/>
            <a:ext cx="4114800" cy="347472"/>
          </a:xfrm>
          <a:prstGeom prst="rect">
            <a:avLst/>
          </a:prstGeom>
          <a:noFill/>
          <a:ln/>
        </p:spPr>
        <p:txBody>
          <a:bodyPr wrap="square" lIns="0" tIns="0" rIns="0" bIns="0" rtlCol="0" anchor="ctr"/>
          <a:lstStyle/>
          <a:p>
            <a:pPr indent="0" marL="0">
              <a:buNone/>
            </a:pPr>
            <a:r>
              <a:rPr lang="en-US" sz="2000" b="1" dirty="0">
                <a:solidFill>
                  <a:srgbClr val="1E9E6A"/>
                </a:solidFill>
                <a:latin typeface="Cambria" pitchFamily="34" charset="0"/>
                <a:ea typeface="Cambria" pitchFamily="34" charset="-122"/>
                <a:cs typeface="Cambria" pitchFamily="34" charset="-120"/>
              </a:rPr>
              <a:t>Live today</a:t>
            </a:r>
            <a:endParaRPr lang="en-US" sz="2000" dirty="0"/>
          </a:p>
        </p:txBody>
      </p:sp>
      <p:sp>
        <p:nvSpPr>
          <p:cNvPr id="6" name="Text 4"/>
          <p:cNvSpPr txBox="1"/>
          <p:nvPr/>
        </p:nvSpPr>
        <p:spPr>
          <a:xfrm>
            <a:off x="896112" y="2331720"/>
            <a:ext cx="4754880" cy="1463040"/>
          </a:xfrm>
          <a:prstGeom prst="rect">
            <a:avLst/>
          </a:prstGeom>
          <a:noFill/>
          <a:ln/>
        </p:spPr>
        <p:txBody>
          <a:bodyPr wrap="square" lIns="0" tIns="0" rIns="0" bIns="0" rtlCol="0" anchor="t"/>
          <a:lstStyle/>
          <a:p>
            <a:pPr marL="342900" indent="-342900">
              <a:lnSpc>
                <a:spcPct val="115000"/>
              </a:lnSpc>
              <a:spcAft>
                <a:spcPts val="700"/>
              </a:spcAft>
              <a:buSzPct val="100000"/>
              <a:buChar char="•"/>
            </a:pPr>
            <a:r>
              <a:rPr lang="en-US" sz="1300" dirty="0">
                <a:solidFill>
                  <a:srgbClr val="1C2B3A"/>
                </a:solidFill>
                <a:latin typeface="Calibri" pitchFamily="34" charset="0"/>
                <a:ea typeface="Calibri" pitchFamily="34" charset="-122"/>
                <a:cs typeface="Calibri" pitchFamily="34" charset="-120"/>
              </a:rPr>
              <a:t>Website deployed and in use</a:t>
            </a:r>
            <a:endParaRPr lang="en-US" sz="1300" dirty="0"/>
          </a:p>
          <a:p>
            <a:pPr marL="342900" indent="-342900">
              <a:lnSpc>
                <a:spcPct val="115000"/>
              </a:lnSpc>
              <a:spcAft>
                <a:spcPts val="700"/>
              </a:spcAft>
              <a:buSzPct val="100000"/>
              <a:buChar char="•"/>
            </a:pPr>
            <a:r>
              <a:rPr lang="en-US" sz="1300" dirty="0">
                <a:solidFill>
                  <a:srgbClr val="1C2B3A"/>
                </a:solidFill>
                <a:latin typeface="Calibri" pitchFamily="34" charset="0"/>
                <a:ea typeface="Calibri" pitchFamily="34" charset="-122"/>
                <a:cs typeface="Calibri" pitchFamily="34" charset="-120"/>
              </a:rPr>
              <a:t>Database loaded with the EGA data</a:t>
            </a:r>
            <a:endParaRPr lang="en-US" sz="1300" dirty="0"/>
          </a:p>
          <a:p>
            <a:pPr marL="342900" indent="-342900">
              <a:lnSpc>
                <a:spcPct val="115000"/>
              </a:lnSpc>
              <a:spcAft>
                <a:spcPts val="700"/>
              </a:spcAft>
              <a:buSzPct val="100000"/>
              <a:buChar char="•"/>
            </a:pPr>
            <a:r>
              <a:rPr lang="en-US" sz="1300" dirty="0">
                <a:solidFill>
                  <a:srgbClr val="1C2B3A"/>
                </a:solidFill>
                <a:latin typeface="Calibri" pitchFamily="34" charset="0"/>
                <a:ea typeface="Calibri" pitchFamily="34" charset="-122"/>
                <a:cs typeface="Calibri" pitchFamily="34" charset="-120"/>
              </a:rPr>
              <a:t>All four modules complete</a:t>
            </a:r>
            <a:endParaRPr lang="en-US" sz="1300" dirty="0"/>
          </a:p>
          <a:p>
            <a:pPr marL="342900" indent="-342900">
              <a:lnSpc>
                <a:spcPct val="115000"/>
              </a:lnSpc>
              <a:spcAft>
                <a:spcPts val="700"/>
              </a:spcAft>
              <a:buSzPct val="100000"/>
              <a:buChar char="•"/>
            </a:pPr>
            <a:r>
              <a:rPr lang="en-US" sz="1300" dirty="0">
                <a:solidFill>
                  <a:srgbClr val="1C2B3A"/>
                </a:solidFill>
                <a:latin typeface="Calibri" pitchFamily="34" charset="0"/>
                <a:ea typeface="Calibri" pitchFamily="34" charset="-122"/>
                <a:cs typeface="Calibri" pitchFamily="34" charset="-120"/>
              </a:rPr>
              <a:t>ERPNext integration working</a:t>
            </a:r>
            <a:endParaRPr lang="en-US" sz="1300" dirty="0"/>
          </a:p>
        </p:txBody>
      </p:sp>
      <p:sp>
        <p:nvSpPr>
          <p:cNvPr id="7" name="Shape 5"/>
          <p:cNvSpPr/>
          <p:nvPr/>
        </p:nvSpPr>
        <p:spPr>
          <a:xfrm>
            <a:off x="6263640" y="1645920"/>
            <a:ext cx="5394960" cy="2286000"/>
          </a:xfrm>
          <a:prstGeom prst="roundRect">
            <a:avLst>
              <a:gd name="adj" fmla="val 3600"/>
            </a:avLst>
          </a:prstGeom>
          <a:solidFill>
            <a:srgbClr val="FFFFFF"/>
          </a:solidFill>
          <a:ln w="12700">
            <a:solidFill>
              <a:srgbClr val="FFFFFF"/>
            </a:solidFill>
            <a:prstDash val="solid"/>
          </a:ln>
          <a:effectLst>
            <a:outerShdw sx="100000" sy="100000" kx="0" ky="0" algn="bl" rotWithShape="0" blurRad="177800" dist="38100" dir="5400000">
              <a:srgbClr val="0F2A43">
                <a:alpha val="13000"/>
              </a:srgbClr>
            </a:outerShdw>
          </a:effectLst>
        </p:spPr>
      </p:sp>
      <p:sp>
        <p:nvSpPr>
          <p:cNvPr id="8" name="Text 6"/>
          <p:cNvSpPr txBox="1"/>
          <p:nvPr/>
        </p:nvSpPr>
        <p:spPr>
          <a:xfrm>
            <a:off x="6592824" y="1865376"/>
            <a:ext cx="4114800" cy="347472"/>
          </a:xfrm>
          <a:prstGeom prst="rect">
            <a:avLst/>
          </a:prstGeom>
          <a:noFill/>
          <a:ln/>
        </p:spPr>
        <p:txBody>
          <a:bodyPr wrap="square" lIns="0" tIns="0" rIns="0" bIns="0" rtlCol="0" anchor="ctr"/>
          <a:lstStyle/>
          <a:p>
            <a:pPr indent="0" marL="0">
              <a:buNone/>
            </a:pPr>
            <a:r>
              <a:rPr lang="en-US" sz="2000" b="1" dirty="0">
                <a:solidFill>
                  <a:srgbClr val="F4791F"/>
                </a:solidFill>
                <a:latin typeface="Cambria" pitchFamily="34" charset="0"/>
                <a:ea typeface="Cambria" pitchFamily="34" charset="-122"/>
                <a:cs typeface="Cambria" pitchFamily="34" charset="-120"/>
              </a:rPr>
              <a:t>Next</a:t>
            </a:r>
            <a:endParaRPr lang="en-US" sz="2000" dirty="0"/>
          </a:p>
        </p:txBody>
      </p:sp>
      <p:sp>
        <p:nvSpPr>
          <p:cNvPr id="9" name="Text 7"/>
          <p:cNvSpPr txBox="1"/>
          <p:nvPr/>
        </p:nvSpPr>
        <p:spPr>
          <a:xfrm>
            <a:off x="6592824" y="2331720"/>
            <a:ext cx="4754880" cy="1463040"/>
          </a:xfrm>
          <a:prstGeom prst="rect">
            <a:avLst/>
          </a:prstGeom>
          <a:noFill/>
          <a:ln/>
        </p:spPr>
        <p:txBody>
          <a:bodyPr wrap="square" lIns="0" tIns="0" rIns="0" bIns="0" rtlCol="0" anchor="t"/>
          <a:lstStyle/>
          <a:p>
            <a:pPr marL="342900" indent="-342900">
              <a:lnSpc>
                <a:spcPct val="115000"/>
              </a:lnSpc>
              <a:spcAft>
                <a:spcPts val="700"/>
              </a:spcAft>
              <a:buSzPct val="100000"/>
              <a:buChar char="•"/>
            </a:pPr>
            <a:r>
              <a:rPr lang="en-US" sz="1300" dirty="0">
                <a:solidFill>
                  <a:srgbClr val="1C2B3A"/>
                </a:solidFill>
                <a:latin typeface="Calibri" pitchFamily="34" charset="0"/>
                <a:ea typeface="Calibri" pitchFamily="34" charset="-122"/>
                <a:cs typeface="Calibri" pitchFamily="34" charset="-120"/>
              </a:rPr>
              <a:t>Publish the Android app to Google Play</a:t>
            </a:r>
            <a:endParaRPr lang="en-US" sz="1300" dirty="0"/>
          </a:p>
          <a:p>
            <a:pPr marL="342900" indent="-342900">
              <a:lnSpc>
                <a:spcPct val="115000"/>
              </a:lnSpc>
              <a:spcAft>
                <a:spcPts val="700"/>
              </a:spcAft>
              <a:buSzPct val="100000"/>
              <a:buChar char="•"/>
            </a:pPr>
            <a:r>
              <a:rPr lang="en-US" sz="1300" dirty="0">
                <a:solidFill>
                  <a:srgbClr val="1C2B3A"/>
                </a:solidFill>
                <a:latin typeface="Calibri" pitchFamily="34" charset="0"/>
                <a:ea typeface="Calibri" pitchFamily="34" charset="-122"/>
                <a:cs typeface="Calibri" pitchFamily="34" charset="-120"/>
              </a:rPr>
              <a:t>Connect Focus 9 when its API is released</a:t>
            </a:r>
            <a:endParaRPr lang="en-US" sz="1300" dirty="0"/>
          </a:p>
          <a:p>
            <a:pPr marL="342900" indent="-342900">
              <a:lnSpc>
                <a:spcPct val="115000"/>
              </a:lnSpc>
              <a:spcAft>
                <a:spcPts val="700"/>
              </a:spcAft>
              <a:buSzPct val="100000"/>
              <a:buChar char="•"/>
            </a:pPr>
            <a:r>
              <a:rPr lang="en-US" sz="1300" dirty="0">
                <a:solidFill>
                  <a:srgbClr val="1C2B3A"/>
                </a:solidFill>
                <a:latin typeface="Calibri" pitchFamily="34" charset="0"/>
                <a:ea typeface="Calibri" pitchFamily="34" charset="-122"/>
                <a:cs typeface="Calibri" pitchFamily="34" charset="-120"/>
              </a:rPr>
              <a:t>Push notifications to the phone</a:t>
            </a:r>
            <a:endParaRPr lang="en-US" sz="1300" dirty="0"/>
          </a:p>
          <a:p>
            <a:pPr marL="342900" indent="-342900">
              <a:lnSpc>
                <a:spcPct val="115000"/>
              </a:lnSpc>
              <a:spcAft>
                <a:spcPts val="700"/>
              </a:spcAft>
              <a:buSzPct val="100000"/>
              <a:buChar char="•"/>
            </a:pPr>
            <a:r>
              <a:rPr lang="en-US" sz="1300" dirty="0">
                <a:solidFill>
                  <a:srgbClr val="1C2B3A"/>
                </a:solidFill>
                <a:latin typeface="Calibri" pitchFamily="34" charset="0"/>
                <a:ea typeface="Calibri" pitchFamily="34" charset="-122"/>
                <a:cs typeface="Calibri" pitchFamily="34" charset="-120"/>
              </a:rPr>
              <a:t>Pilot with a first EGA department</a:t>
            </a:r>
            <a:endParaRPr lang="en-US" sz="1300" dirty="0"/>
          </a:p>
        </p:txBody>
      </p:sp>
      <p:sp>
        <p:nvSpPr>
          <p:cNvPr id="10" name="Shape 8"/>
          <p:cNvSpPr/>
          <p:nvPr/>
        </p:nvSpPr>
        <p:spPr>
          <a:xfrm>
            <a:off x="566928" y="4206240"/>
            <a:ext cx="11064240" cy="1737360"/>
          </a:xfrm>
          <a:prstGeom prst="roundRect">
            <a:avLst>
              <a:gd name="adj" fmla="val 4737"/>
            </a:avLst>
          </a:prstGeom>
          <a:solidFill>
            <a:srgbClr val="0F2A43"/>
          </a:solidFill>
          <a:ln w="12700">
            <a:solidFill>
              <a:srgbClr val="0F2A43"/>
            </a:solidFill>
            <a:prstDash val="solid"/>
          </a:ln>
          <a:effectLst>
            <a:outerShdw sx="100000" sy="100000" kx="0" ky="0" algn="bl" rotWithShape="0" blurRad="177800" dist="38100" dir="5400000">
              <a:srgbClr val="0F2A43">
                <a:alpha val="13000"/>
              </a:srgbClr>
            </a:outerShdw>
          </a:effectLst>
        </p:spPr>
      </p:sp>
      <p:sp>
        <p:nvSpPr>
          <p:cNvPr id="11" name="Text 9"/>
          <p:cNvSpPr txBox="1"/>
          <p:nvPr/>
        </p:nvSpPr>
        <p:spPr>
          <a:xfrm>
            <a:off x="932688" y="4407408"/>
            <a:ext cx="5486400" cy="310896"/>
          </a:xfrm>
          <a:prstGeom prst="rect">
            <a:avLst/>
          </a:prstGeom>
          <a:noFill/>
          <a:ln/>
        </p:spPr>
        <p:txBody>
          <a:bodyPr wrap="square" lIns="0" tIns="0" rIns="0" bIns="0" rtlCol="0" anchor="ctr"/>
          <a:lstStyle/>
          <a:p>
            <a:pPr indent="0" marL="0">
              <a:buNone/>
            </a:pPr>
            <a:r>
              <a:rPr lang="en-US" sz="1100" b="1" spc="120" kern="0" dirty="0">
                <a:solidFill>
                  <a:srgbClr val="F4791F"/>
                </a:solidFill>
                <a:latin typeface="Calibri" pitchFamily="34" charset="0"/>
                <a:ea typeface="Calibri" pitchFamily="34" charset="-122"/>
                <a:cs typeface="Calibri" pitchFamily="34" charset="-120"/>
              </a:rPr>
              <a:t>What changes for EGA</a:t>
            </a:r>
            <a:endParaRPr lang="en-US" sz="1100" dirty="0"/>
          </a:p>
        </p:txBody>
      </p:sp>
      <p:sp>
        <p:nvSpPr>
          <p:cNvPr id="12" name="Text 10"/>
          <p:cNvSpPr txBox="1"/>
          <p:nvPr/>
        </p:nvSpPr>
        <p:spPr>
          <a:xfrm>
            <a:off x="932688" y="4754880"/>
            <a:ext cx="10332720" cy="1005840"/>
          </a:xfrm>
          <a:prstGeom prst="rect">
            <a:avLst/>
          </a:prstGeom>
          <a:noFill/>
          <a:ln/>
        </p:spPr>
        <p:txBody>
          <a:bodyPr wrap="square" lIns="0" tIns="0" rIns="0" bIns="0" rtlCol="0" anchor="ctr"/>
          <a:lstStyle/>
          <a:p>
            <a:pPr indent="0" marL="0">
              <a:lnSpc>
                <a:spcPct val="120000"/>
              </a:lnSpc>
              <a:buNone/>
            </a:pPr>
            <a:r>
              <a:rPr lang="en-US" sz="1350" dirty="0">
                <a:solidFill>
                  <a:srgbClr val="CFE0EF"/>
                </a:solidFill>
                <a:latin typeface="Calibri" pitchFamily="34" charset="0"/>
                <a:ea typeface="Calibri" pitchFamily="34" charset="-122"/>
                <a:cs typeface="Calibri" pitchFamily="34" charset="-120"/>
              </a:rPr>
              <a:t>Every employee knows their entitlement and their balance without asking. Every order carries a delivery date the store can actually meet. Every approval, delivery, return and invoice is recorded once, in one place, and posted to the ERP — with no paper in between.</a:t>
            </a:r>
            <a:endParaRPr lang="en-US" sz="13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F2A43"/>
        </a:solidFill>
      </p:bgPr>
    </p:bg>
    <p:spTree>
      <p:nvGrpSpPr>
        <p:cNvPr id="1" name=""/>
        <p:cNvGrpSpPr/>
        <p:nvPr/>
      </p:nvGrpSpPr>
      <p:grpSpPr>
        <a:xfrm>
          <a:off x="0" y="0"/>
          <a:ext cx="0" cy="0"/>
          <a:chOff x="0" y="0"/>
          <a:chExt cx="0" cy="0"/>
        </a:xfrm>
      </p:grpSpPr>
      <p:sp>
        <p:nvSpPr>
          <p:cNvPr id="2" name="Shape 0"/>
          <p:cNvSpPr/>
          <p:nvPr/>
        </p:nvSpPr>
        <p:spPr>
          <a:xfrm>
            <a:off x="9052560" y="-1828800"/>
            <a:ext cx="5669280" cy="5669280"/>
          </a:xfrm>
          <a:prstGeom prst="ellipse">
            <a:avLst/>
          </a:prstGeom>
          <a:solidFill>
            <a:srgbClr val="16385A"/>
          </a:solidFill>
          <a:ln w="12700">
            <a:solidFill>
              <a:srgbClr val="16385A"/>
            </a:solidFill>
            <a:prstDash val="solid"/>
          </a:ln>
        </p:spPr>
      </p:sp>
      <p:sp>
        <p:nvSpPr>
          <p:cNvPr id="3" name="Shape 1"/>
          <p:cNvSpPr/>
          <p:nvPr/>
        </p:nvSpPr>
        <p:spPr>
          <a:xfrm>
            <a:off x="566928" y="1371600"/>
            <a:ext cx="2286000" cy="1691640"/>
          </a:xfrm>
          <a:prstGeom prst="roundRect">
            <a:avLst>
              <a:gd name="adj" fmla="val 5405"/>
            </a:avLst>
          </a:prstGeom>
          <a:solidFill>
            <a:srgbClr val="FFFFFF"/>
          </a:solidFill>
          <a:ln w="12700">
            <a:solidFill>
              <a:srgbClr val="FFFFFF"/>
            </a:solidFill>
            <a:prstDash val="solid"/>
          </a:ln>
        </p:spPr>
      </p:sp>
      <p:pic>
        <p:nvPicPr>
          <p:cNvPr id="4" name="Image 0" descr="/home/claude/prosafe-app/assets/brand/prosafe-logo.png">    </p:cNvPr>
          <p:cNvPicPr>
            <a:picLocks noChangeAspect="1"/>
          </p:cNvPicPr>
          <p:nvPr/>
        </p:nvPicPr>
        <p:blipFill>
          <a:blip r:embed="rId1"/>
          <a:stretch>
            <a:fillRect/>
          </a:stretch>
        </p:blipFill>
        <p:spPr>
          <a:xfrm>
            <a:off x="713232" y="1508760"/>
            <a:ext cx="1993392" cy="1417320"/>
          </a:xfrm>
          <a:prstGeom prst="rect">
            <a:avLst/>
          </a:prstGeom>
        </p:spPr>
      </p:pic>
      <p:sp>
        <p:nvSpPr>
          <p:cNvPr id="5" name="Text 2"/>
          <p:cNvSpPr txBox="1"/>
          <p:nvPr/>
        </p:nvSpPr>
        <p:spPr>
          <a:xfrm>
            <a:off x="566928" y="3520440"/>
            <a:ext cx="8229600" cy="82296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Thank you</a:t>
            </a:r>
            <a:endParaRPr lang="en-US" sz="4200" dirty="0"/>
          </a:p>
        </p:txBody>
      </p:sp>
      <p:sp>
        <p:nvSpPr>
          <p:cNvPr id="6" name="Text 3"/>
          <p:cNvSpPr txBox="1"/>
          <p:nvPr/>
        </p:nvSpPr>
        <p:spPr>
          <a:xfrm>
            <a:off x="566928" y="4389120"/>
            <a:ext cx="8229600" cy="411480"/>
          </a:xfrm>
          <a:prstGeom prst="rect">
            <a:avLst/>
          </a:prstGeom>
          <a:noFill/>
          <a:ln/>
        </p:spPr>
        <p:txBody>
          <a:bodyPr wrap="square" lIns="0" tIns="0" rIns="0" bIns="0" rtlCol="0" anchor="ctr"/>
          <a:lstStyle/>
          <a:p>
            <a:pPr indent="0" marL="0">
              <a:buNone/>
            </a:pPr>
            <a:r>
              <a:rPr lang="en-US" sz="1700" dirty="0">
                <a:solidFill>
                  <a:srgbClr val="A9C3DA"/>
                </a:solidFill>
                <a:latin typeface="Calibri" pitchFamily="34" charset="0"/>
                <a:ea typeface="Calibri" pitchFamily="34" charset="-122"/>
                <a:cs typeface="Calibri" pitchFamily="34" charset="-120"/>
              </a:rPr>
              <a:t>PROSAFE × EGA — PPE Ordering Platform</a:t>
            </a:r>
            <a:endParaRPr lang="en-US" sz="1700" dirty="0"/>
          </a:p>
        </p:txBody>
      </p:sp>
      <p:sp>
        <p:nvSpPr>
          <p:cNvPr id="7" name="Shape 4"/>
          <p:cNvSpPr/>
          <p:nvPr/>
        </p:nvSpPr>
        <p:spPr>
          <a:xfrm>
            <a:off x="566928" y="5029200"/>
            <a:ext cx="1371600" cy="32004"/>
          </a:xfrm>
          <a:prstGeom prst="rect">
            <a:avLst/>
          </a:prstGeom>
          <a:solidFill>
            <a:srgbClr val="F4791F"/>
          </a:solidFill>
          <a:ln w="12700">
            <a:solidFill>
              <a:srgbClr val="F4791F"/>
            </a:solidFill>
            <a:prstDash val="solid"/>
          </a:ln>
        </p:spPr>
      </p:sp>
      <p:sp>
        <p:nvSpPr>
          <p:cNvPr id="8" name="Text 5"/>
          <p:cNvSpPr txBox="1"/>
          <p:nvPr/>
        </p:nvSpPr>
        <p:spPr>
          <a:xfrm>
            <a:off x="566928" y="5303520"/>
            <a:ext cx="8229600" cy="365760"/>
          </a:xfrm>
          <a:prstGeom prst="rect">
            <a:avLst/>
          </a:prstGeom>
          <a:noFill/>
          <a:ln/>
        </p:spPr>
        <p:txBody>
          <a:bodyPr wrap="square" lIns="0" tIns="0" rIns="0" bIns="0" rtlCol="0" anchor="ctr"/>
          <a:lstStyle/>
          <a:p>
            <a:pPr indent="0" marL="0">
              <a:buNone/>
            </a:pPr>
            <a:r>
              <a:rPr lang="en-US" sz="1300" dirty="0">
                <a:solidFill>
                  <a:srgbClr val="7D99B5"/>
                </a:solidFill>
                <a:latin typeface="Calibri" pitchFamily="34" charset="0"/>
                <a:ea typeface="Calibri" pitchFamily="34" charset="-122"/>
                <a:cs typeface="Calibri" pitchFamily="34" charset="-120"/>
              </a:rPr>
              <a:t>Questions and a live walkthrough on request.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38</Slides>
  <Notes>38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38</vt:i4>
      </vt:variant>
    </vt:vector>
  </HeadingPairs>
  <TitlesOfParts>
    <vt:vector size="4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vector>
  </TitlesOfParts>
  <Company>Prosafe Systems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PROSAFE × EGA — PPE Ordering Platform</dc:title>
  <dc:subject>PptxGenJS Presentation</dc:subject>
  <dc:creator>Prosafe Systems</dc:creator>
  <cp:lastModifiedBy>Prosafe Systems</cp:lastModifiedBy>
  <cp:revision>1</cp:revision>
  <dcterms:created xsi:type="dcterms:W3CDTF">2026-09-09T17:37:13Z</dcterms:created>
  <dcterms:modified xsi:type="dcterms:W3CDTF">2026-09-09T17:37:13Z</dcterms:modified>
</cp:coreProperties>
</file>